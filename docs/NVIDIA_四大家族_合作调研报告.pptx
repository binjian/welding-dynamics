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286000"/>
            <a:ext cx="6217920" cy="621792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383280"/>
            <a:ext cx="3200400" cy="3200400"/>
          </a:xfrm>
          <a:prstGeom prst="ellipse">
            <a:avLst/>
          </a:prstGeom>
          <a:solidFill>
            <a:srgbClr val="F4F7FC"/>
          </a:solidFill>
          <a:ln w="9525">
            <a:solidFill>
              <a:srgbClr val="19B7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640080"/>
            <a:ext cx="96012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481328"/>
            <a:ext cx="502920" cy="82296"/>
          </a:xfrm>
          <a:prstGeom prst="rect">
            <a:avLst/>
          </a:prstGeom>
          <a:solidFill>
            <a:srgbClr val="026BF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NVIDIA × GLOBAL ROBOTICS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" y="20848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英伟达 × 机器人四大家族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04672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26B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合作项目调研报告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物理 AI 时代的工业机器人生态  ·  发那科 · ABB · 库卡 · 安川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6812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926D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4558284"/>
            <a:ext cx="137160" cy="137160"/>
          </a:xfrm>
          <a:prstGeom prst="ellipse">
            <a:avLst/>
          </a:prstGeom>
          <a:solidFill>
            <a:srgbClr val="926DE5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434840"/>
            <a:ext cx="352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ABB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32788" y="4434840"/>
            <a:ext cx="142189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7BE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60804" y="4558284"/>
            <a:ext cx="137160" cy="137160"/>
          </a:xfrm>
          <a:prstGeom prst="ellipse">
            <a:avLst/>
          </a:prstGeom>
          <a:solidFill>
            <a:srgbClr val="E7BE5D"/>
          </a:solidFill>
          <a:ln/>
        </p:spPr>
      </p:sp>
      <p:sp>
        <p:nvSpPr>
          <p:cNvPr id="15" name="Text 12"/>
          <p:cNvSpPr/>
          <p:nvPr/>
        </p:nvSpPr>
        <p:spPr>
          <a:xfrm>
            <a:off x="2025396" y="4434840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FANUC 发那科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83280" y="4434840"/>
            <a:ext cx="11750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6894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11296" y="4558284"/>
            <a:ext cx="137160" cy="137160"/>
          </a:xfrm>
          <a:prstGeom prst="ellipse">
            <a:avLst/>
          </a:prstGeom>
          <a:solidFill>
            <a:srgbClr val="F68941"/>
          </a:solidFill>
          <a:ln/>
        </p:spPr>
      </p:sp>
      <p:sp>
        <p:nvSpPr>
          <p:cNvPr id="18" name="Text 15"/>
          <p:cNvSpPr/>
          <p:nvPr/>
        </p:nvSpPr>
        <p:spPr>
          <a:xfrm>
            <a:off x="3675888" y="443484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KUKA 库卡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86884" y="4434840"/>
            <a:ext cx="154533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9B7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14900" y="4558284"/>
            <a:ext cx="137160" cy="137160"/>
          </a:xfrm>
          <a:prstGeom prst="ellipse">
            <a:avLst/>
          </a:prstGeom>
          <a:solidFill>
            <a:srgbClr val="19B7FF"/>
          </a:solidFill>
          <a:ln/>
        </p:spPr>
      </p:sp>
      <p:sp>
        <p:nvSpPr>
          <p:cNvPr id="21" name="Text 18"/>
          <p:cNvSpPr/>
          <p:nvPr/>
        </p:nvSpPr>
        <p:spPr>
          <a:xfrm>
            <a:off x="5079492" y="443484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YASKAWA 安川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" y="6053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基于 NVIDIA GTC 2026（2026年3月16日）及各家公开信息整理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目录  </a:t>
            </a:r>
            <a:pPr indent="0" marL="0">
              <a:buNone/>
            </a:pPr>
            <a:r>
              <a:rPr lang="en-US" sz="3000" dirty="0">
                <a:solidFill>
                  <a:srgbClr val="026B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1248" y="1298448"/>
            <a:ext cx="548640" cy="73152"/>
          </a:xfrm>
          <a:prstGeom prst="rect">
            <a:avLst/>
          </a:prstGeom>
          <a:solidFill>
            <a:srgbClr val="026BF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74520"/>
            <a:ext cx="1097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26B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331720" y="2093976"/>
            <a:ext cx="27432" cy="493776"/>
          </a:xfrm>
          <a:prstGeom prst="rect">
            <a:avLst/>
          </a:prstGeom>
          <a:solidFill>
            <a:srgbClr val="026BFF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202082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整体背景与合作框架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0" y="238658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四家 200 万台装机量 · 统一物理 AI 路线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16936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16936"/>
            <a:ext cx="1097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4C58D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2331720" y="3136392"/>
            <a:ext cx="27432" cy="493776"/>
          </a:xfrm>
          <a:prstGeom prst="rect">
            <a:avLst/>
          </a:prstGeom>
          <a:solidFill>
            <a:srgbClr val="24C58D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3063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统一技术架构与深度分层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342900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三层技术栈 · 合作深度梯度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959352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F4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959352"/>
            <a:ext cx="1097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7BE5D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2331720" y="4178808"/>
            <a:ext cx="27432" cy="493776"/>
          </a:xfrm>
          <a:prstGeom prst="rect">
            <a:avLst/>
          </a:prstGeom>
          <a:solidFill>
            <a:srgbClr val="E7BE5D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410565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四家合作详解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60320" y="447141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ABB · 发那科 · 库卡 · 安川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001768"/>
            <a:ext cx="10515600" cy="932688"/>
          </a:xfrm>
          <a:prstGeom prst="roundRect">
            <a:avLst>
              <a:gd name="adj" fmla="val 7843"/>
            </a:avLst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001768"/>
            <a:ext cx="1097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68941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04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2331720" y="5221224"/>
            <a:ext cx="27432" cy="493776"/>
          </a:xfrm>
          <a:prstGeom prst="rect">
            <a:avLst/>
          </a:prstGeom>
          <a:solidFill>
            <a:srgbClr val="F68941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51480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对比总览与小结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60320" y="551383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载体 / 成果 / 深度 · 展望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OVERVIEW  </a:t>
            </a:r>
            <a:pPr indent="0" marL="0">
              <a:buNone/>
            </a:pPr>
            <a:r>
              <a:rPr lang="en-US" sz="1150" spc="100" kern="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/ 整体背景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四大家族被纳入 NVIDIA 物理 AI 生态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246120" cy="4343400"/>
          </a:xfrm>
          <a:prstGeom prst="roundRect">
            <a:avLst>
              <a:gd name="adj" fmla="val 2817"/>
            </a:avLst>
          </a:prstGeom>
          <a:solidFill>
            <a:srgbClr val="0A235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200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B7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万台 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FE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四家全球机器人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CFE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装机量合计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4754880"/>
            <a:ext cx="2148840" cy="0"/>
          </a:xfrm>
          <a:prstGeom prst="line">
            <a:avLst/>
          </a:prstGeom>
          <a:noFill/>
          <a:ln w="12700">
            <a:solidFill>
              <a:srgbClr val="2A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8920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核心目标：跨越工业机器人长期存在的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“仿真到现实（sim-to-real）”鸿沟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69951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084832"/>
            <a:ext cx="566928" cy="566928"/>
          </a:xfrm>
          <a:prstGeom prst="ellipse">
            <a:avLst/>
          </a:prstGeom>
          <a:solidFill>
            <a:srgbClr val="24C58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5736" y="2212848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40680" y="1874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统一仿真训练路线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40680" y="2258568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四家均将 NVIDIA Omniverse 库 + Isaac 仿真框架集成进虚拟调试方案，用物理精度数字孪生开发、验证复杂应用乃至整条产线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43400" y="3172968"/>
            <a:ext cx="69951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3566160"/>
            <a:ext cx="566928" cy="566928"/>
          </a:xfrm>
          <a:prstGeom prst="ellipse">
            <a:avLst/>
          </a:prstGeom>
          <a:solidFill>
            <a:srgbClr val="026B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3694176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33558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边缘实时 AI 推理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440680" y="3739896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四家将 NVIDIA Jetson 模块集成进各自机器人控制器，在产线端实现实时 AI 推理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343400" y="4654296"/>
            <a:ext cx="69951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17720" y="5047488"/>
            <a:ext cx="566928" cy="566928"/>
          </a:xfrm>
          <a:prstGeom prst="ellipse">
            <a:avLst/>
          </a:prstGeom>
          <a:solidFill>
            <a:srgbClr val="F6894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5175504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440680" y="48371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配套发布的关键技术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440680" y="5221224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Cosmos 3 世界模型 · Isaac GR00T N1.7 通用机器人基础模型 · Isaac Lab 3.0 · Newton 物理引擎 1.0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ARCHITECTURE  </a:t>
            </a:r>
            <a:pPr indent="0" marL="0">
              <a:buNone/>
            </a:pPr>
            <a:r>
              <a:rPr lang="en-US" sz="1150" spc="100" kern="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/ 统一技术架构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三层技术栈 + 合作深度分层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26BF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2075688"/>
            <a:ext cx="566928" cy="566928"/>
          </a:xfrm>
          <a:prstGeom prst="ellipse">
            <a:avLst/>
          </a:prstGeom>
          <a:solidFill>
            <a:srgbClr val="026B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037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883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模型层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7452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Cosmos 世界模型 + GR00T 基础模型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87452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合成数据生成 · 通用机器人技能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520440" y="2935224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315468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24C58D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78992" y="3493008"/>
            <a:ext cx="566928" cy="566928"/>
          </a:xfrm>
          <a:prstGeom prst="ellipse">
            <a:avLst/>
          </a:prstGeom>
          <a:solidFill>
            <a:srgbClr val="24C58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62102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3009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仿真训练层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874520" y="3657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C58D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Omniverse 库 + Isaac Sim 仿真框架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874520" y="39593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物理精度数字孪生 · 虚拟调试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20440" y="4352544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2960" y="457200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19B7F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78992" y="4910328"/>
            <a:ext cx="566928" cy="566928"/>
          </a:xfrm>
          <a:prstGeom prst="ellipse">
            <a:avLst/>
          </a:prstGeom>
          <a:solidFill>
            <a:srgbClr val="19B7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5038344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47183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边缘推理层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1874520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B7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Jetson 模块集成进机器人控制器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874520" y="5376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产线端实时 AI 推理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812280" y="1737360"/>
            <a:ext cx="452628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/>
        </p:spPr>
      </p:sp>
      <p:sp>
        <p:nvSpPr>
          <p:cNvPr id="27" name="Text 20"/>
          <p:cNvSpPr/>
          <p:nvPr/>
        </p:nvSpPr>
        <p:spPr>
          <a:xfrm>
            <a:off x="708660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6B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合作深度分层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086600" y="2432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深度合作（有命名产品 / 独立方案）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086600" y="2761488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269480" y="3008376"/>
            <a:ext cx="164592" cy="164592"/>
          </a:xfrm>
          <a:prstGeom prst="ellipse">
            <a:avLst/>
          </a:prstGeom>
          <a:solidFill>
            <a:srgbClr val="926DE5"/>
          </a:solidFill>
          <a:ln/>
        </p:spPr>
      </p:sp>
      <p:sp>
        <p:nvSpPr>
          <p:cNvPr id="31" name="Text 24"/>
          <p:cNvSpPr/>
          <p:nvPr/>
        </p:nvSpPr>
        <p:spPr>
          <a:xfrm>
            <a:off x="754380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ABB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543800" y="3108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RobotStudio HyperReality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7086600" y="3538728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269480" y="3785616"/>
            <a:ext cx="164592" cy="164592"/>
          </a:xfrm>
          <a:prstGeom prst="ellipse">
            <a:avLst/>
          </a:prstGeom>
          <a:solidFill>
            <a:srgbClr val="E7BE5D"/>
          </a:solidFill>
          <a:ln/>
        </p:spPr>
      </p:sp>
      <p:sp>
        <p:nvSpPr>
          <p:cNvPr id="35" name="Text 28"/>
          <p:cNvSpPr/>
          <p:nvPr/>
        </p:nvSpPr>
        <p:spPr>
          <a:xfrm>
            <a:off x="754380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FANUC 发那科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543800" y="3886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ROBOGUIDE 深度打通 + Jetson Thor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7086600" y="4498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生态成员（共用框架，暂无独立旗舰）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086600" y="482803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269480" y="4974336"/>
            <a:ext cx="164592" cy="164592"/>
          </a:xfrm>
          <a:prstGeom prst="ellipse">
            <a:avLst/>
          </a:prstGeom>
          <a:solidFill>
            <a:srgbClr val="F68941"/>
          </a:solidFill>
          <a:ln/>
        </p:spPr>
      </p:sp>
      <p:sp>
        <p:nvSpPr>
          <p:cNvPr id="40" name="Text 33"/>
          <p:cNvSpPr/>
          <p:nvPr/>
        </p:nvSpPr>
        <p:spPr>
          <a:xfrm>
            <a:off x="7543800" y="4828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KUKA 库卡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7086600" y="537667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7269480" y="5522976"/>
            <a:ext cx="164592" cy="164592"/>
          </a:xfrm>
          <a:prstGeom prst="ellipse">
            <a:avLst/>
          </a:prstGeom>
          <a:solidFill>
            <a:srgbClr val="19B7FF"/>
          </a:solidFill>
          <a:ln/>
        </p:spPr>
      </p:sp>
      <p:sp>
        <p:nvSpPr>
          <p:cNvPr id="43" name="Text 36"/>
          <p:cNvSpPr/>
          <p:nvPr/>
        </p:nvSpPr>
        <p:spPr>
          <a:xfrm>
            <a:off x="7543800" y="5376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YASKAWA 安川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CASE 1 · 深度合作  </a:t>
            </a:r>
            <a:pPr indent="0" marL="0">
              <a:buNone/>
            </a:pPr>
            <a:r>
              <a:rPr lang="en-US" sz="1150" spc="100" kern="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/ 案例一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ABB · RobotStudio HyperReality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517904" y="1417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26DE5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将 NVIDIA Omniverse 库集成进 ABB 广泛使用的 RobotStudio 仿真软件 — 合作最深、信息最完整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EBF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926DE5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99%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仿真-现实一致性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30175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唯一虚拟控制器运行相同固件的厂商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8745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EBF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926DE5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0.5mm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566160" y="2706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定位误差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4448" y="30175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Absolute Accuracy：由 8–15mm 降至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EBF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926DE5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6万+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217920" y="2706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RobotStudio 客户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30175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2026 下半年发布 · 订阅模式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18745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1EBFB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926DE5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↓80%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8869680" y="2706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设置调试时间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87968" y="301752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成本 ↓40% · 上市时间加速 50%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8404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4069080"/>
            <a:ext cx="457200" cy="457200"/>
          </a:xfrm>
          <a:prstGeom prst="ellipse">
            <a:avLst/>
          </a:prstGeom>
          <a:solidFill>
            <a:srgbClr val="926DE5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4178808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27632" y="4059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落地试点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051560" y="46177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富士康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 — 消费电子装配首个联合试点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WORKR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 — 加州机器人劳动力公司，用 Omniverse 合成数据训练，无需编程即可部署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Skild AI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 — 与 ABB + 优傲合作部署通用机器人智能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84048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</p:spPr>
      </p:sp>
      <p:sp>
        <p:nvSpPr>
          <p:cNvPr id="29" name="Shape 26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026BF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4178808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976872" y="4059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技术要点与历史延续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6446520" y="46177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虚拟控制器运行与硬件相同固件，实现仿真与真实行为近乎完美对应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此前已将 Jetson 集成进 VSLAM 自主移动机器人（AMR）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正评估将 Jetson 集成进 Omnicore 控制器，并涉及吉瓦级 AI 数据中心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CASE 2 · 深度合作  </a:t>
            </a:r>
            <a:pPr indent="0" marL="0">
              <a:buNone/>
            </a:pPr>
            <a:r>
              <a:rPr lang="en-US" sz="1150" spc="100" kern="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/ 案例二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FANUC 发那科 · ROBOGUIDE × Isaac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517904" y="1417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901A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自有仿真软件 ROBOGUIDE 与 Isaac Sim / Omniverse 深度打通 + Jetson Thor 硬件升级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6B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ROBOGUIDE 与 Isaac 的两种集成模式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FBF4DF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39572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E7BE5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3957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模式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Isaac Sim 为前端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9077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5A2A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在 Isaac Sim 中运行的机器人，通过与 ROBOGUIDE 集成保持与真机相同的轨迹和节拍，支持强化学习与模仿学习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FBF4D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39572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E7BE5D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3957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模式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ROBOGUIDE 为前端 + PhysX 后台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9077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5A2A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用 NVIDIA PhysX 物理引擎在后台仿真，可精确模拟此前难以处理的散乱抓取（bin picking）等复杂任务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950208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4096512"/>
            <a:ext cx="365760" cy="365760"/>
          </a:xfrm>
          <a:prstGeom prst="ellipse">
            <a:avLst/>
          </a:prstGeom>
          <a:solidFill>
            <a:srgbClr val="E7BE5D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4178808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72768" y="39502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Jetson Thor 硬件升级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0" y="39502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“AI 避人机器人”用 Jetson T5000 替换 AGX Orin，AI 算力提升超 7.5 倍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22960" y="4700016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4128" y="4846320"/>
            <a:ext cx="365760" cy="365760"/>
          </a:xfrm>
          <a:prstGeom prst="ellipse">
            <a:avLst/>
          </a:prstGeom>
          <a:solidFill>
            <a:srgbClr val="E7BE5D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4928616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572768" y="470001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GR00T N 模仿学习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572000" y="4700016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双臂 CRX 协作机器人基于 NVIDIA Isaac GR00T N 开放模型，通过模仿学习完成叠 T 恤等柔性物体操作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22960" y="5449824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24128" y="5596128"/>
            <a:ext cx="365760" cy="365760"/>
          </a:xfrm>
          <a:prstGeom prst="ellipse">
            <a:avLst/>
          </a:prstGeom>
          <a:solidFill>
            <a:srgbClr val="E7BE5D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5678424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572768" y="544982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OpenUSD 资产 + PTC 桥接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572000" y="5449824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系列发那科机器人作为 OpenUSD SimReady 资产提供；PTC 的 CAD-to-OpenUSD 桥接服务 FANUC America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CASE 3 · 生态成员  </a:t>
            </a:r>
            <a:pPr indent="0" marL="0">
              <a:buNone/>
            </a:pPr>
            <a:r>
              <a:rPr lang="en-US" sz="1150" spc="100" kern="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/ 库卡 &amp; 安川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KUKA 库卡 与 YASKAWA 安川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517904" y="1417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同属四家整体框架成员，共用 Omniverse + Isaac + Jetson 技术路线；独立披露相对较少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F68941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2194560"/>
            <a:ext cx="640080" cy="640080"/>
          </a:xfrm>
          <a:prstGeom prst="ellipse">
            <a:avLst/>
          </a:prstGeom>
          <a:solidFill>
            <a:srgbClr val="F6894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34086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KUKA 库卡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96596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894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德国 · 工业机器人巨头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31089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整体框架成员：正将 Omniverse 库、Isaac 仿真框架集成进虚拟调试方案，Jetson 模块集成进控制器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黄仁勋在 GTC 2026 主题演讲中特别点名，与英伟达展开深度合作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此前在 Automate 2025 展示由 NVIDIA 加速、可投入生产的工业自动化方案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0AC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目前尚未公布独立命名产品级方案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9B7F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9C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19B7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34086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YASKAWA 安川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731520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B7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日本 · 伺服与机器人龙头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31089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整体框架成员：同样采用 Omniverse + Isaac 仿真、Jetson 边缘推理的统一路线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560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更早已是 NVIDIA Isaac Manipulator 模型合作伙伴，覆盖工业制造、仓储物流、协作机器人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AA0AC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本轮独立披露最少，尚无单独的重磅方案对外公布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COMPARISON  </a:t>
            </a:r>
            <a:pPr indent="0" marL="0">
              <a:buNone/>
            </a:pPr>
            <a:r>
              <a:rPr lang="en-US" sz="1150" spc="100" kern="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/ 对比总览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四家合作一览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515600" cy="502920"/>
          </a:xfrm>
          <a:prstGeom prst="roundRect">
            <a:avLst>
              <a:gd name="adj" fmla="val 9091"/>
            </a:avLst>
          </a:prstGeom>
          <a:solidFill>
            <a:srgbClr val="026B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公司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核心合作载体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独立产品 / 成果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875520" y="16916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合作深度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651760"/>
            <a:ext cx="182880" cy="182880"/>
          </a:xfrm>
          <a:prstGeom prst="ellipse">
            <a:avLst/>
          </a:prstGeom>
          <a:solidFill>
            <a:srgbClr val="926DE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2860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ABB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RobotStudio HyperReality（Omniverse 集成）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命名产品 + 时间表 + 量化指标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6DE5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★★★★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273552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3639312"/>
            <a:ext cx="182880" cy="182880"/>
          </a:xfrm>
          <a:prstGeom prst="ellipse">
            <a:avLst/>
          </a:prstGeom>
          <a:solidFill>
            <a:srgbClr val="E7BE5D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27355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FANUC 发那科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2735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ROBOGUIDE 深度打通 + Jetson Thor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27355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深度打通 + 硬件升级 + GR00T 演示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0" y="32735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BE5D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★★★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4261104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4626864"/>
            <a:ext cx="182880" cy="182880"/>
          </a:xfrm>
          <a:prstGeom prst="ellipse">
            <a:avLst/>
          </a:prstGeom>
          <a:solidFill>
            <a:srgbClr val="F68941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4261104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KUKA 库卡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42611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虚拟调试 + 控制器集成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42611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生态参与，暂无独立旗舰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0" y="4261104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8941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★★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" y="5248656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120" y="5614416"/>
            <a:ext cx="182880" cy="182880"/>
          </a:xfrm>
          <a:prstGeom prst="ellipse">
            <a:avLst/>
          </a:prstGeom>
          <a:solidFill>
            <a:srgbClr val="19B7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34440" y="524865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YASKAWA 安川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0" y="524865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虚拟调试 + 控制器集成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52486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早期 Isaac Manipulator 合作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84080" y="524865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B7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★★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6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6BFF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SUMMARY  </a:t>
            </a:r>
            <a:pPr indent="0" marL="0">
              <a:buNone/>
            </a:pPr>
            <a:r>
              <a:rPr lang="en-US" sz="1150" spc="100" kern="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/ 小结与展望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统一基本盘，梯度分明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15600" cy="1207008"/>
          </a:xfrm>
          <a:prstGeom prst="roundRect">
            <a:avLst>
              <a:gd name="adj" fmla="val 6061"/>
            </a:avLst>
          </a:prstGeom>
          <a:solidFill>
            <a:srgbClr val="E7F8F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12264"/>
            <a:ext cx="548640" cy="548640"/>
          </a:xfrm>
          <a:prstGeom prst="ellipse">
            <a:avLst/>
          </a:prstGeom>
          <a:solidFill>
            <a:srgbClr val="24C58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311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统一“基本盘”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74520" y="235000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四家共同构成英伟达工业机器人生态的基本盘，均走“Omniverse/Isaac 仿真训练 + Jetson 边缘推理”这条统一路线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118104"/>
            <a:ext cx="10515600" cy="1207008"/>
          </a:xfrm>
          <a:prstGeom prst="roundRect">
            <a:avLst>
              <a:gd name="adj" fmla="val 6061"/>
            </a:avLst>
          </a:prstGeom>
          <a:solidFill>
            <a:srgbClr val="EAF2FF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80" y="3447288"/>
            <a:ext cx="548640" cy="548640"/>
          </a:xfrm>
          <a:prstGeom prst="ellipse">
            <a:avLst/>
          </a:prstGeom>
          <a:solidFill>
            <a:srgbClr val="026B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356616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33009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梯度分明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874520" y="368503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ABB 走得最远（命名产品 + 商用时间表 + 量化指标），发那科次之；库卡与安川目前更多是生态参与者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453128"/>
            <a:ext cx="10515600" cy="1207008"/>
          </a:xfrm>
          <a:prstGeom prst="roundRect">
            <a:avLst>
              <a:gd name="adj" fmla="val 6061"/>
            </a:avLst>
          </a:prstGeom>
          <a:solidFill>
            <a:srgbClr val="FDEEE0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4782312"/>
            <a:ext cx="548640" cy="548640"/>
          </a:xfrm>
          <a:prstGeom prst="ellipse">
            <a:avLst/>
          </a:prstGeom>
          <a:solidFill>
            <a:srgbClr val="F6894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490118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636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持续演进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874520" y="5020056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RobotStudio HyperReality 计划 2026 下半年才正式发布，库卡与安川后续也可能有独立公告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22960" y="5815584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0A235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95274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581558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8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提醒：四家与英伟达的合作进展很快，本报告基于 2026 年 3–5 月公开信息，建议持续关注各家官方公告。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91840"/>
            <a:ext cx="4114800" cy="411480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262626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谢谢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59536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600" kern="0" dirty="0">
                <a:solidFill>
                  <a:srgbClr val="026BFF"/>
                </a:solidFill>
                <a:latin typeface="阿里巴巴普惠体 2.0 105 Heavy" pitchFamily="34" charset="0"/>
                <a:ea typeface="阿里巴巴普惠体 2.0 105 Heavy" pitchFamily="34" charset="-122"/>
                <a:cs typeface="阿里巴巴普惠体 2.0 105 Heavy" pitchFamily="34" charset="-120"/>
              </a:rPr>
              <a:t>THANKS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548640" cy="73152"/>
          </a:xfrm>
          <a:prstGeom prst="rect">
            <a:avLst/>
          </a:prstGeom>
          <a:solidFill>
            <a:srgbClr val="026B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7171"/>
                </a:solidFill>
                <a:latin typeface="阿里巴巴普惠体 2.0 55 Regular" pitchFamily="34" charset="0"/>
                <a:ea typeface="阿里巴巴普惠体 2.0 55 Regular" pitchFamily="34" charset="-122"/>
                <a:cs typeface="阿里巴巴普惠体 2.0 55 Regular" pitchFamily="34" charset="-120"/>
              </a:rPr>
              <a:t>英伟达 × 机器人四大家族 合作调研报告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英伟达 × 机器人四大家族 合作调研报告</dc:title>
  <dc:subject>PptxGenJS Presentation</dc:subject>
  <dc:creator>PptxGenJS</dc:creator>
  <cp:lastModifiedBy>PptxGenJS</cp:lastModifiedBy>
  <cp:revision>1</cp:revision>
  <dcterms:created xsi:type="dcterms:W3CDTF">2026-07-09T05:57:41Z</dcterms:created>
  <dcterms:modified xsi:type="dcterms:W3CDTF">2026-07-09T05:57:41Z</dcterms:modified>
</cp:coreProperties>
</file>