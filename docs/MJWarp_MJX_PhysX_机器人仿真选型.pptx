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2286000"/>
            <a:ext cx="6217920" cy="621792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3383280"/>
            <a:ext cx="3200400" cy="3200400"/>
          </a:xfrm>
          <a:prstGeom prst="ellipse">
            <a:avLst/>
          </a:prstGeom>
          <a:solidFill>
            <a:srgbClr val="F4F7FC"/>
          </a:solidFill>
          <a:ln w="8890">
            <a:solidFill>
              <a:srgbClr val="19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25328" y="676656"/>
            <a:ext cx="914400" cy="914400"/>
          </a:xfrm>
          <a:prstGeom prst="ellipse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90504" y="8961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83112" y="8961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36808" y="1179576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954512" y="960120"/>
            <a:ext cx="256032" cy="0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1005840"/>
            <a:ext cx="109728" cy="192024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1109960" y="1005840"/>
            <a:ext cx="118872" cy="192024"/>
          </a:xfrm>
          <a:prstGeom prst="line">
            <a:avLst/>
          </a:prstGeom>
          <a:ln w="1651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22960" y="1481328"/>
            <a:ext cx="502920" cy="82296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27632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26BFF"/>
                </a:solidFill>
                <a:latin typeface="Noto Sans CJK SC"/>
              </a:rPr>
              <a:t>NVIDIA PHYSICS STACK · ROBOTICS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05740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62626"/>
                </a:solidFill>
                <a:latin typeface="Noto Sans CJK SC"/>
              </a:rPr>
              <a:t>MJWarp · MJX · PhysX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2608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26BFF"/>
                </a:solidFill>
                <a:latin typeface="Noto Sans CJK SC"/>
              </a:rPr>
              <a:t>机器人仿真后端对比、平台应用与 MjLab 选型建议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67328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27171"/>
                </a:solidFill>
                <a:latin typeface="Noto Sans CJK SC"/>
              </a:rPr>
              <a:t>从计算架构、接触保真度到训练—验证工作流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536192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4503420"/>
            <a:ext cx="137160" cy="137160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4407408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Noto Sans CJK SC"/>
              </a:rPr>
              <a:t>MJX · JAX/XLA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8608" y="4407408"/>
            <a:ext cx="1664208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97479" y="4503420"/>
            <a:ext cx="137160" cy="137160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1" y="4407408"/>
            <a:ext cx="12710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Noto Sans CJK SC"/>
              </a:rPr>
              <a:t>MJWarp · CUDA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4407408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81144" y="4503420"/>
            <a:ext cx="137160" cy="137160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4407408"/>
            <a:ext cx="1161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Noto Sans CJK SC"/>
              </a:rPr>
              <a:t>PhysX · Isaac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407408"/>
            <a:ext cx="96012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55080" y="4503420"/>
            <a:ext cx="137160" cy="137160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407408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Noto Sans CJK SC"/>
              </a:rPr>
              <a:t>MjLab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6247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27171"/>
                </a:solidFill>
                <a:latin typeface="Noto Sans CJK SC"/>
              </a:rPr>
              <a:t>基于《MJ Warp, MJX, Physx.md》与指定模板整理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62626"/>
                </a:solidFill>
                <a:latin typeface="Noto Sans CJK SC"/>
              </a:rPr>
              <a:t>目录 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298448"/>
            <a:ext cx="548640" cy="73152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0515600" cy="786384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64208"/>
            <a:ext cx="1097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26BFF"/>
                </a:solidFill>
                <a:latin typeface="Noto Sans CJK S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828800"/>
            <a:ext cx="27432" cy="457200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719072"/>
            <a:ext cx="8138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  <a:latin typeface="Noto Sans CJK SC"/>
              </a:rPr>
              <a:t>核心结论与技术架构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48256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27171"/>
                </a:solidFill>
                <a:latin typeface="Noto Sans CJK SC"/>
              </a:rPr>
              <a:t>三种后端不是互斥替代，而是面向不同任务的组合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60320"/>
            <a:ext cx="10515600" cy="786384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1097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4C58D"/>
                </a:solidFill>
                <a:latin typeface="Noto Sans CJK S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724912"/>
            <a:ext cx="27432" cy="457200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615184"/>
            <a:ext cx="8138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  <a:latin typeface="Noto Sans CJK SC"/>
              </a:rPr>
              <a:t>接触物理与性能差异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44368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27171"/>
                </a:solidFill>
                <a:latin typeface="Noto Sans CJK SC"/>
              </a:rPr>
              <a:t>动态分支、接触求解、摩擦模型与几何复杂度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56432"/>
            <a:ext cx="10515600" cy="786384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56432"/>
            <a:ext cx="1097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7BE5D"/>
                </a:solidFill>
                <a:latin typeface="Noto Sans CJK S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621024"/>
            <a:ext cx="27432" cy="457200"/>
          </a:xfrm>
          <a:prstGeom prst="rect">
            <a:avLst/>
          </a:prstGeom>
          <a:solidFill>
            <a:srgbClr val="E7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511296"/>
            <a:ext cx="8138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  <a:latin typeface="Noto Sans CJK SC"/>
              </a:rPr>
              <a:t>人形机器人训练工作流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840480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27171"/>
                </a:solidFill>
                <a:latin typeface="Noto Sans CJK SC"/>
              </a:rPr>
              <a:t>MJX 训练 → MJWarp 验证 → 真实机器人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52544"/>
            <a:ext cx="10515600" cy="786384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52544"/>
            <a:ext cx="1097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68941"/>
                </a:solidFill>
                <a:latin typeface="Noto Sans CJK SC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517136"/>
            <a:ext cx="27432" cy="457200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407407"/>
            <a:ext cx="8138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  <a:latin typeface="Noto Sans CJK SC"/>
              </a:rPr>
              <a:t>PhysX 对比与引擎选型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36592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27171"/>
                </a:solidFill>
                <a:latin typeface="Noto Sans CJK SC"/>
              </a:rPr>
              <a:t>任务形态 · 硬件平台 · 工程生态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48656"/>
            <a:ext cx="10515600" cy="786384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48656"/>
            <a:ext cx="10972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9B7FF"/>
                </a:solidFill>
                <a:latin typeface="Noto Sans CJK SC"/>
              </a:rP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5413248"/>
            <a:ext cx="27432" cy="457200"/>
          </a:xfrm>
          <a:prstGeom prst="rect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5303520"/>
            <a:ext cx="8138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  <a:latin typeface="Noto Sans CJK SC"/>
              </a:rPr>
              <a:t>MjLab 路线与应用附录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632704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27171"/>
                </a:solidFill>
                <a:latin typeface="Noto Sans CJK SC"/>
              </a:rPr>
              <a:t>能力建设 · 新型机器人 · 焊接机器人 · 多物理场仿真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DECISION  / 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最佳答案不是单选，而是一条分层工作流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154680" cy="4434840"/>
          </a:xfrm>
          <a:prstGeom prst="roundRect">
            <a:avLst>
              <a:gd name="adj" fmla="val 8000"/>
            </a:avLst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B7FF"/>
                </a:solidFill>
                <a:latin typeface="Noto Sans CJK SC"/>
              </a:rPr>
              <a:t>套组合策略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493008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训练吞吐量
×
物理保真度
×
工程生态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5257800"/>
            <a:ext cx="2057400" cy="0"/>
          </a:xfrm>
          <a:prstGeom prst="line">
            <a:avLst/>
          </a:prstGeom>
          <a:ln w="12700">
            <a:solidFill>
              <a:srgbClr val="2A4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540410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4CFE6"/>
                </a:solidFill>
                <a:latin typeface="Noto Sans CJK SC"/>
              </a:rPr>
              <a:t>按任务阶段切换后端，
比押注单一引擎更稳妥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7040880" cy="1252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011680"/>
            <a:ext cx="585216" cy="585216"/>
          </a:xfrm>
          <a:prstGeom prst="rect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86537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Noto Sans CJK SC"/>
              </a:rPr>
              <a:t>MJX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883664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1883664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26DE5"/>
                </a:solidFill>
                <a:latin typeface="Noto Sans CJK SC"/>
              </a:rPr>
              <a:t>训练引擎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276856"/>
            <a:ext cx="5532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大规模并行 · JAX 生态
运动策略 / 简单接触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108960"/>
            <a:ext cx="7040880" cy="1252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53712" y="3429000"/>
            <a:ext cx="585216" cy="585216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4290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28269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Noto Sans CJK SC"/>
              </a:rPr>
              <a:t>MJWarp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3300984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5" y="3300984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C58D"/>
                </a:solidFill>
                <a:latin typeface="Noto Sans CJK SC"/>
              </a:rPr>
              <a:t>验证与复杂交互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694176"/>
            <a:ext cx="5532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动态接触 · 复杂几何
灵巧操作 / 高保真验证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526280"/>
            <a:ext cx="7040880" cy="1252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53712" y="4846320"/>
            <a:ext cx="585216" cy="585216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84632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470001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Noto Sans CJK SC"/>
              </a:rPr>
              <a:t>PhysX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4718304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1775" y="4718304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68941"/>
                </a:solidFill>
                <a:latin typeface="Noto Sans CJK SC"/>
              </a:rPr>
              <a:t>工程与大场景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5111496"/>
            <a:ext cx="5532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Isaac / Omniverse 生态
传感器 · 资产 · 通用仿真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943600"/>
            <a:ext cx="7040880" cy="182880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ARCHITECTURE  / 底层计算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计算范式决定了各自擅长的物理问题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00784"/>
            <a:ext cx="3346704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38528"/>
            <a:ext cx="566928" cy="566928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8470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62626"/>
                </a:solidFill>
                <a:latin typeface="Noto Sans CJK SC"/>
              </a:rPr>
              <a:t>MJX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26DE5"/>
                </a:solidFill>
                <a:latin typeface="Noto Sans CJK SC"/>
              </a:rPr>
              <a:t>JAX / XLA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761488"/>
            <a:ext cx="2889504" cy="658368"/>
          </a:xfrm>
          <a:prstGeom prst="roundRect">
            <a:avLst>
              <a:gd name="adj" fmla="val 8000"/>
            </a:avLst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61488"/>
            <a:ext cx="2889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26DE5"/>
                </a:solidFill>
                <a:latin typeface="Noto Sans CJK SC"/>
              </a:rPr>
              <a:t>静态计算图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776654"/>
            <a:ext cx="100584" cy="10058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大批量同构环境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288718"/>
            <a:ext cx="100584" cy="10058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123944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固定大小数据结构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" y="4800782"/>
            <a:ext cx="100584" cy="10058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636008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TPU / GPU / Mac 可用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1560" y="5285232"/>
            <a:ext cx="2889504" cy="0"/>
          </a:xfrm>
          <a:prstGeom prst="line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5394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Noto Sans CJK SC"/>
              </a:rPr>
              <a:t>优势：向量化吞吐与 JAX 工作流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1700784"/>
            <a:ext cx="3346704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36008" y="1938528"/>
            <a:ext cx="566928" cy="566928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19385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18470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62626"/>
                </a:solidFill>
                <a:latin typeface="Noto Sans CJK SC"/>
              </a:rPr>
              <a:t>MJWarp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C58D"/>
                </a:solidFill>
                <a:latin typeface="Noto Sans CJK SC"/>
              </a:rPr>
              <a:t>NVIDIA Warp / CUDA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8" y="2761488"/>
            <a:ext cx="2889504" cy="658368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2761488"/>
            <a:ext cx="2889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C58D"/>
                </a:solidFill>
                <a:latin typeface="Noto Sans CJK SC"/>
              </a:rPr>
              <a:t>SIMT 动态内核</a:t>
            </a:r>
          </a:p>
        </p:txBody>
      </p:sp>
      <p:sp>
        <p:nvSpPr>
          <p:cNvPr id="28" name="Oval 27"/>
          <p:cNvSpPr/>
          <p:nvPr/>
        </p:nvSpPr>
        <p:spPr>
          <a:xfrm>
            <a:off x="4727448" y="3776654"/>
            <a:ext cx="100584" cy="10058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6048" y="361188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线程可独立分支</a:t>
            </a:r>
          </a:p>
        </p:txBody>
      </p:sp>
      <p:sp>
        <p:nvSpPr>
          <p:cNvPr id="30" name="Oval 29"/>
          <p:cNvSpPr/>
          <p:nvPr/>
        </p:nvSpPr>
        <p:spPr>
          <a:xfrm>
            <a:off x="4727448" y="4288718"/>
            <a:ext cx="100584" cy="10058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4123944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仅计算活跃接触</a:t>
            </a:r>
          </a:p>
        </p:txBody>
      </p:sp>
      <p:sp>
        <p:nvSpPr>
          <p:cNvPr id="32" name="Oval 31"/>
          <p:cNvSpPr/>
          <p:nvPr/>
        </p:nvSpPr>
        <p:spPr>
          <a:xfrm>
            <a:off x="4727448" y="4800782"/>
            <a:ext cx="100584" cy="10058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4636008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面向 NVIDIA GPU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36008" y="5285232"/>
            <a:ext cx="2889504" cy="0"/>
          </a:xfrm>
          <a:prstGeom prst="line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63440" y="5394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Noto Sans CJK SC"/>
              </a:rPr>
              <a:t>优势：接触丰富场景与复杂几何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1700784"/>
            <a:ext cx="3346704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0456" y="1938528"/>
            <a:ext cx="566928" cy="566928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19385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18470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62626"/>
                </a:solidFill>
                <a:latin typeface="Noto Sans CJK SC"/>
              </a:rPr>
              <a:t>PhysX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68941"/>
                </a:solidFill>
                <a:latin typeface="Noto Sans CJK SC"/>
              </a:rPr>
              <a:t>Isaac Sim / Lab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0456" y="2761488"/>
            <a:ext cx="2889504" cy="658368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0456" y="2761488"/>
            <a:ext cx="2889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68941"/>
                </a:solidFill>
                <a:latin typeface="Noto Sans CJK SC"/>
              </a:rPr>
              <a:t>通用实时引擎</a:t>
            </a:r>
          </a:p>
        </p:txBody>
      </p:sp>
      <p:sp>
        <p:nvSpPr>
          <p:cNvPr id="43" name="Oval 42"/>
          <p:cNvSpPr/>
          <p:nvPr/>
        </p:nvSpPr>
        <p:spPr>
          <a:xfrm>
            <a:off x="8311896" y="3776654"/>
            <a:ext cx="100584" cy="10058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361188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TGS 约束求解</a:t>
            </a:r>
          </a:p>
        </p:txBody>
      </p:sp>
      <p:sp>
        <p:nvSpPr>
          <p:cNvPr id="45" name="Oval 44"/>
          <p:cNvSpPr/>
          <p:nvPr/>
        </p:nvSpPr>
        <p:spPr>
          <a:xfrm>
            <a:off x="8311896" y="4288718"/>
            <a:ext cx="100584" cy="10058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0496" y="4123944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大型场景与传感器</a:t>
            </a:r>
          </a:p>
        </p:txBody>
      </p:sp>
      <p:sp>
        <p:nvSpPr>
          <p:cNvPr id="47" name="Oval 46"/>
          <p:cNvSpPr/>
          <p:nvPr/>
        </p:nvSpPr>
        <p:spPr>
          <a:xfrm>
            <a:off x="8311896" y="4800782"/>
            <a:ext cx="100584" cy="10058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0496" y="4636008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27171"/>
                </a:solidFill>
                <a:latin typeface="Noto Sans CJK SC"/>
              </a:rPr>
              <a:t>Omniverse 资产生态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0456" y="5285232"/>
            <a:ext cx="2889504" cy="0"/>
          </a:xfrm>
          <a:prstGeom prst="line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247888" y="5394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Noto Sans CJK SC"/>
              </a:rPr>
              <a:t>优势：成熟工具链与工程集成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PERFORMANCE  / MJX vs MJWarp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接触越复杂，动态计算的价值越明显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64208"/>
            <a:ext cx="2880360" cy="1874519"/>
          </a:xfrm>
          <a:prstGeom prst="roundRect">
            <a:avLst>
              <a:gd name="adj" fmla="val 8000"/>
            </a:avLst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Noto Sans CJK SC"/>
              </a:rPr>
              <a:t>50–100×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B7FF"/>
                </a:solidFill>
                <a:latin typeface="Noto Sans CJK SC"/>
              </a:rPr>
              <a:t>复杂操作任务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0779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C4CFE6"/>
                </a:solidFill>
                <a:latin typeface="Noto Sans CJK SC"/>
              </a:rPr>
              <a:t>原文给出的 MJWarp 相对 MJX
性能量级（取决于场景）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03320"/>
            <a:ext cx="2880360" cy="22402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926DE5"/>
                </a:solidFill>
                <a:latin typeface="Noto Sans CJK SC"/>
              </a:rPr>
              <a:t>4000+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9028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Noto Sans CJK SC"/>
              </a:rPr>
              <a:t>并行人形环境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047488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原文用于说明 MJX 在
运动策略训练中的吞吐优势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1664208"/>
            <a:ext cx="1874519" cy="502920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166420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维度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59" y="1664208"/>
            <a:ext cx="2697480" cy="502920"/>
          </a:xfrm>
          <a:prstGeom prst="rect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59" y="166420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MJX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664208"/>
            <a:ext cx="2697480" cy="502920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MJWarp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267712"/>
            <a:ext cx="1874519" cy="621792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0791" y="2267712"/>
            <a:ext cx="1728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Noto Sans CJK SC"/>
              </a:rPr>
              <a:t>接触规模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9" y="2267712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2267712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少且可预测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267712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2267712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多且动态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2980944"/>
            <a:ext cx="1874519" cy="621792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50791" y="2980944"/>
            <a:ext cx="1728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Noto Sans CJK SC"/>
              </a:rPr>
              <a:t>数据结构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59" y="2980944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5312" y="2980944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固定 / 填充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980944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980944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按活跃接触计算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3694176"/>
            <a:ext cx="1874519" cy="621792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0791" y="3694176"/>
            <a:ext cx="1728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Noto Sans CJK SC"/>
              </a:rPr>
              <a:t>复杂网格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59" y="3694176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3694176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扩展性较弱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694176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792" y="3694176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更适合复杂几何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39" y="4407408"/>
            <a:ext cx="1874519" cy="621792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0791" y="4407408"/>
            <a:ext cx="1728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Noto Sans CJK SC"/>
              </a:rPr>
              <a:t>主要任务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59" y="4407408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25312" y="4407408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移动 / 步态训练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4407408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2792" y="4407408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操作 / 装配 / 抓取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39" y="5120640"/>
            <a:ext cx="1874519" cy="621792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50791" y="5120640"/>
            <a:ext cx="1728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Noto Sans CJK SC"/>
              </a:rPr>
              <a:t>关键平台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59" y="5120640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25312" y="5120640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JAX · TPU · GPU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5120640"/>
            <a:ext cx="26974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5120640"/>
            <a:ext cx="25511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CUDA · NVIDIA GPU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5888736"/>
            <a:ext cx="7315200" cy="219456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CONTACT PHYSICS  / 接触保真度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“蹦床效应”来自软接触，“硬着陆”来自约束求解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64208"/>
            <a:ext cx="5056632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1920240"/>
            <a:ext cx="566928" cy="566928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865376"/>
            <a:ext cx="3867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Noto Sans CJK SC"/>
              </a:rPr>
              <a:t>MJX · 软接触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2267712"/>
            <a:ext cx="3867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26DE5"/>
                </a:solidFill>
                <a:latin typeface="Noto Sans CJK SC"/>
              </a:rPr>
              <a:t>平滑、静态、训练友好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3218688"/>
            <a:ext cx="2825496" cy="5669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651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3218688"/>
            <a:ext cx="28254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Noto Sans CJK SC"/>
              </a:rPr>
              <a:t>机器人脚 / 刚体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03804" y="3749039"/>
            <a:ext cx="146304" cy="73152"/>
          </a:xfrm>
          <a:prstGeom prst="line">
            <a:avLst/>
          </a:prstGeom>
          <a:ln w="22860">
            <a:solidFill>
              <a:srgbClr val="926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150108" y="3749039"/>
            <a:ext cx="146304" cy="73152"/>
          </a:xfrm>
          <a:prstGeom prst="line">
            <a:avLst/>
          </a:prstGeom>
          <a:ln w="22860">
            <a:solidFill>
              <a:srgbClr val="926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6412" y="3749039"/>
            <a:ext cx="146304" cy="73152"/>
          </a:xfrm>
          <a:prstGeom prst="line">
            <a:avLst/>
          </a:prstGeom>
          <a:ln w="22860">
            <a:solidFill>
              <a:srgbClr val="926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42716" y="3749039"/>
            <a:ext cx="146304" cy="73152"/>
          </a:xfrm>
          <a:prstGeom prst="line">
            <a:avLst/>
          </a:prstGeom>
          <a:ln w="22860">
            <a:solidFill>
              <a:srgbClr val="926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89020" y="3749039"/>
            <a:ext cx="146304" cy="73152"/>
          </a:xfrm>
          <a:prstGeom prst="line">
            <a:avLst/>
          </a:prstGeom>
          <a:ln w="22860">
            <a:solidFill>
              <a:srgbClr val="926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26464" y="3931920"/>
            <a:ext cx="3849624" cy="164592"/>
          </a:xfrm>
          <a:prstGeom prst="rect">
            <a:avLst/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197096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26DE5"/>
                </a:solidFill>
                <a:latin typeface="Noto Sans CJK SC"/>
              </a:rPr>
              <a:t>d &lt; 0  →  F ≈ k·d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72000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允许微小穿透 · 罚函数
地面像微观弹簧，训练更平滑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664208"/>
            <a:ext cx="5056632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1920240"/>
            <a:ext cx="566928" cy="566928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2904" y="1865376"/>
            <a:ext cx="3867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Noto Sans CJK SC"/>
              </a:rPr>
              <a:t>MJWarp · 硬接触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2267712"/>
            <a:ext cx="3867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C58D"/>
                </a:solidFill>
                <a:latin typeface="Noto Sans CJK SC"/>
              </a:rPr>
              <a:t>动态、严格、验证友好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97496" y="3081528"/>
            <a:ext cx="2825496" cy="5669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651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7496" y="3081528"/>
            <a:ext cx="282549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Noto Sans CJK SC"/>
              </a:rPr>
              <a:t>机器人脚 / 刚体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85432" y="3803904"/>
            <a:ext cx="3849624" cy="164592"/>
          </a:xfrm>
          <a:prstGeom prst="rect">
            <a:avLst/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8609076" y="3520439"/>
            <a:ext cx="402336" cy="512064"/>
          </a:xfrm>
          <a:prstGeom prst="upArrow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4059936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C58D"/>
                </a:solidFill>
                <a:latin typeface="Noto Sans CJK SC"/>
              </a:rPr>
              <a:t>d = 0  →  瞬时冲量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572000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严格非穿透 · 约束求解
冲击与振动更接近真实硬地面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559552"/>
            <a:ext cx="10515600" cy="56692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559552"/>
            <a:ext cx="1143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26BFF"/>
                </a:solidFill>
                <a:latin typeface="Noto Sans CJK SC"/>
              </a:rPr>
              <a:t>摩擦模型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559552"/>
            <a:ext cx="4160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MJX：金字塔近似 → 可能出现方向性伪影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5955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MJWarp：椭圆摩擦锥 → 粘滞—滑动过渡更连续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ROOT CAUSE  / 根本原因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动态分支与静态图，决定了接触处理方式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047488" cy="4407408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74519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C58D"/>
                </a:solidFill>
                <a:latin typeface="Noto Sans CJK SC"/>
              </a:rPr>
              <a:t>MJWarp · 每个线程可独立决策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5296" y="2633472"/>
            <a:ext cx="1234440" cy="621792"/>
          </a:xfrm>
          <a:prstGeom prst="roundRect">
            <a:avLst>
              <a:gd name="adj" fmla="val 8000"/>
            </a:avLst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33472"/>
            <a:ext cx="112471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检测接触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2578608"/>
            <a:ext cx="1005840" cy="749808"/>
          </a:xfrm>
          <a:prstGeom prst="roundRect">
            <a:avLst>
              <a:gd name="adj" fmla="val 8000"/>
            </a:avLst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1" y="2578608"/>
            <a:ext cx="8961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SC"/>
              </a:rPr>
              <a:t>运行约束求解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4" y="4224528"/>
            <a:ext cx="122529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4224528"/>
            <a:ext cx="111556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27171"/>
                </a:solidFill>
                <a:latin typeface="Noto Sans CJK SC"/>
              </a:rPr>
              <a:t>跳过</a:t>
            </a:r>
          </a:p>
        </p:txBody>
      </p:sp>
      <p:sp>
        <p:nvSpPr>
          <p:cNvPr id="14" name="Diamond 13"/>
          <p:cNvSpPr/>
          <p:nvPr/>
        </p:nvSpPr>
        <p:spPr>
          <a:xfrm>
            <a:off x="2971800" y="2441448"/>
            <a:ext cx="1371600" cy="100584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2578608"/>
            <a:ext cx="87782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4C58D"/>
                </a:solidFill>
                <a:latin typeface="Noto Sans CJK SC"/>
              </a:rPr>
              <a:t>接触
活跃？</a:t>
            </a:r>
          </a:p>
        </p:txBody>
      </p:sp>
      <p:sp>
        <p:nvSpPr>
          <p:cNvPr id="16" name="Chevron 15"/>
          <p:cNvSpPr/>
          <p:nvPr/>
        </p:nvSpPr>
        <p:spPr>
          <a:xfrm>
            <a:off x="2542032" y="2779776"/>
            <a:ext cx="292608" cy="310896"/>
          </a:xfrm>
          <a:prstGeom prst="chevron">
            <a:avLst>
              <a:gd name="adj" fmla="val 22000"/>
            </a:avLst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352544" y="2779776"/>
            <a:ext cx="201168" cy="310896"/>
          </a:xfrm>
          <a:prstGeom prst="chevron">
            <a:avLst>
              <a:gd name="adj" fmla="val 22000"/>
            </a:avLst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C58D"/>
                </a:solidFill>
                <a:latin typeface="Noto Sans CJK SC"/>
              </a:rPr>
              <a:t>是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456432" y="3465576"/>
            <a:ext cx="402336" cy="585216"/>
          </a:xfrm>
          <a:prstGeom prst="downArrow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602736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27171"/>
                </a:solidFill>
                <a:latin typeface="Noto Sans CJK SC"/>
              </a:rPr>
              <a:t>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5257800"/>
            <a:ext cx="4251960" cy="530352"/>
          </a:xfrm>
          <a:prstGeom prst="roundRect">
            <a:avLst>
              <a:gd name="adj" fmla="val 8000"/>
            </a:avLst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5257800"/>
            <a:ext cx="4251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LCP / 迭代求解 → 严格非穿透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1691640"/>
            <a:ext cx="5065776" cy="4407408"/>
          </a:xfrm>
          <a:prstGeom prst="roundRect">
            <a:avLst>
              <a:gd name="adj" fmla="val 8000"/>
            </a:avLst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1874519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926DE5"/>
                </a:solidFill>
                <a:latin typeface="Noto Sans CJK SC"/>
              </a:rPr>
              <a:t>MJX · 所有环境共享静态计算图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578608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578608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固定接触槽位</a:t>
            </a:r>
          </a:p>
        </p:txBody>
      </p:sp>
      <p:sp>
        <p:nvSpPr>
          <p:cNvPr id="27" name="Chevron 26"/>
          <p:cNvSpPr/>
          <p:nvPr/>
        </p:nvSpPr>
        <p:spPr>
          <a:xfrm>
            <a:off x="8165592" y="2743200"/>
            <a:ext cx="228600" cy="310896"/>
          </a:xfrm>
          <a:prstGeom prst="chevron">
            <a:avLst>
              <a:gd name="adj" fmla="val 22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2578608"/>
            <a:ext cx="15544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578608"/>
            <a:ext cx="1463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26DE5"/>
                </a:solidFill>
                <a:latin typeface="Noto Sans CJK SC"/>
              </a:rPr>
              <a:t>填充到最坏情况</a:t>
            </a:r>
          </a:p>
        </p:txBody>
      </p:sp>
      <p:sp>
        <p:nvSpPr>
          <p:cNvPr id="30" name="Chevron 29"/>
          <p:cNvSpPr/>
          <p:nvPr/>
        </p:nvSpPr>
        <p:spPr>
          <a:xfrm>
            <a:off x="9857232" y="2743200"/>
            <a:ext cx="228600" cy="310896"/>
          </a:xfrm>
          <a:prstGeom prst="chevron">
            <a:avLst>
              <a:gd name="adj" fmla="val 22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578608"/>
            <a:ext cx="1051560" cy="640080"/>
          </a:xfrm>
          <a:prstGeom prst="roundRect">
            <a:avLst>
              <a:gd name="adj" fmla="val 8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578608"/>
            <a:ext cx="9601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连续罚函数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502152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Noto Sans CJK SC"/>
              </a:rPr>
              <a:t>所有批次执行同一序列</a:t>
            </a:r>
          </a:p>
        </p:txBody>
      </p:sp>
      <p:sp>
        <p:nvSpPr>
          <p:cNvPr id="34" name="Oval 33"/>
          <p:cNvSpPr/>
          <p:nvPr/>
        </p:nvSpPr>
        <p:spPr>
          <a:xfrm>
            <a:off x="6995160" y="4084259"/>
            <a:ext cx="100584" cy="10058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950208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接触为 0 也保留槽位</a:t>
            </a:r>
          </a:p>
        </p:txBody>
      </p:sp>
      <p:sp>
        <p:nvSpPr>
          <p:cNvPr id="36" name="Oval 35"/>
          <p:cNvSpPr/>
          <p:nvPr/>
        </p:nvSpPr>
        <p:spPr>
          <a:xfrm>
            <a:off x="6995160" y="4523171"/>
            <a:ext cx="100584" cy="10058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389120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连续梯度更适合优化</a:t>
            </a:r>
          </a:p>
        </p:txBody>
      </p:sp>
      <p:sp>
        <p:nvSpPr>
          <p:cNvPr id="38" name="Oval 37"/>
          <p:cNvSpPr/>
          <p:nvPr/>
        </p:nvSpPr>
        <p:spPr>
          <a:xfrm>
            <a:off x="6995160" y="4962083"/>
            <a:ext cx="100584" cy="10058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828032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复杂接触会引入填充开销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5257800"/>
            <a:ext cx="4297680" cy="530352"/>
          </a:xfrm>
          <a:prstGeom prst="roundRect">
            <a:avLst>
              <a:gd name="adj" fmla="val 8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5257800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平滑力—位移关系 → 软接触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HUMANOID  / 人形机器人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用 MJX 训练，用 MJWarp 揭示真实世界会放大的问题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9077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66543"/>
            <a:ext cx="786384" cy="310896"/>
          </a:xfrm>
          <a:prstGeom prst="roundRect">
            <a:avLst>
              <a:gd name="adj" fmla="val 8000"/>
            </a:avLst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66543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26DE5"/>
                </a:solidFill>
                <a:latin typeface="Noto Sans CJK SC"/>
              </a:rPr>
              <a:t>阶段 1</a:t>
            </a:r>
          </a:p>
        </p:txBody>
      </p:sp>
      <p:sp>
        <p:nvSpPr>
          <p:cNvPr id="9" name="Oval 8"/>
          <p:cNvSpPr/>
          <p:nvPr/>
        </p:nvSpPr>
        <p:spPr>
          <a:xfrm>
            <a:off x="1965960" y="2542032"/>
            <a:ext cx="621792" cy="621792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54203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55848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2626"/>
                </a:solidFill>
                <a:latin typeface="Noto Sans CJK SC"/>
              </a:rPr>
              <a:t>MJX 批量训练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31920"/>
            <a:ext cx="22677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数千并行环境
领域随机化
快速策略迭代</a:t>
            </a:r>
          </a:p>
        </p:txBody>
      </p:sp>
      <p:sp>
        <p:nvSpPr>
          <p:cNvPr id="13" name="Chevron 12"/>
          <p:cNvSpPr/>
          <p:nvPr/>
        </p:nvSpPr>
        <p:spPr>
          <a:xfrm>
            <a:off x="3867912" y="3063240"/>
            <a:ext cx="713232" cy="530352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672" y="1828800"/>
            <a:ext cx="29077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2272" y="2066543"/>
            <a:ext cx="786384" cy="310896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2066543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C58D"/>
                </a:solidFill>
                <a:latin typeface="Noto Sans CJK SC"/>
              </a:rPr>
              <a:t>阶段 2</a:t>
            </a:r>
          </a:p>
        </p:txBody>
      </p:sp>
      <p:sp>
        <p:nvSpPr>
          <p:cNvPr id="17" name="Oval 16"/>
          <p:cNvSpPr/>
          <p:nvPr/>
        </p:nvSpPr>
        <p:spPr>
          <a:xfrm>
            <a:off x="5376672" y="2542032"/>
            <a:ext cx="621792" cy="621792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54203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355848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2626"/>
                </a:solidFill>
                <a:latin typeface="Noto Sans CJK SC"/>
              </a:rPr>
              <a:t>MJWarp 高保真验证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931920"/>
            <a:ext cx="22677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硬接触冲击
摩擦与滑移
不平坦地形</a:t>
            </a:r>
          </a:p>
        </p:txBody>
      </p:sp>
      <p:sp>
        <p:nvSpPr>
          <p:cNvPr id="21" name="Chevron 20"/>
          <p:cNvSpPr/>
          <p:nvPr/>
        </p:nvSpPr>
        <p:spPr>
          <a:xfrm>
            <a:off x="7278624" y="3063240"/>
            <a:ext cx="713232" cy="530352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44383" y="1828800"/>
            <a:ext cx="29077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72983" y="2066543"/>
            <a:ext cx="786384" cy="310896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2983" y="2066543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68941"/>
                </a:solidFill>
                <a:latin typeface="Noto Sans CJK SC"/>
              </a:rPr>
              <a:t>阶段 3</a:t>
            </a:r>
          </a:p>
        </p:txBody>
      </p:sp>
      <p:sp>
        <p:nvSpPr>
          <p:cNvPr id="25" name="Oval 24"/>
          <p:cNvSpPr/>
          <p:nvPr/>
        </p:nvSpPr>
        <p:spPr>
          <a:xfrm>
            <a:off x="8787384" y="2542032"/>
            <a:ext cx="621792" cy="621792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87384" y="254203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3355848"/>
            <a:ext cx="235915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62626"/>
                </a:solidFill>
                <a:latin typeface="Noto Sans CJK SC"/>
              </a:rPr>
              <a:t>真实机器人部署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4423" y="3931920"/>
            <a:ext cx="22677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27171"/>
                </a:solidFill>
                <a:latin typeface="Noto Sans CJK SC"/>
              </a:rPr>
              <a:t>低速安全验证
传感器闭环
逐步放开边界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394960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39496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B7FF"/>
                </a:solidFill>
                <a:latin typeface="Noto Sans CJK SC"/>
              </a:rPr>
              <a:t>放行门槛</a:t>
            </a:r>
          </a:p>
        </p:txBody>
      </p:sp>
      <p:sp>
        <p:nvSpPr>
          <p:cNvPr id="31" name="Oval 30"/>
          <p:cNvSpPr/>
          <p:nvPr/>
        </p:nvSpPr>
        <p:spPr>
          <a:xfrm>
            <a:off x="2359152" y="5650992"/>
            <a:ext cx="128016" cy="12801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87752" y="539496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FFFFF"/>
                </a:solidFill>
                <a:latin typeface="Noto Sans CJK SC"/>
              </a:rPr>
              <a:t>落脚冲击峰值</a:t>
            </a:r>
          </a:p>
        </p:txBody>
      </p:sp>
      <p:sp>
        <p:nvSpPr>
          <p:cNvPr id="33" name="Oval 32"/>
          <p:cNvSpPr/>
          <p:nvPr/>
        </p:nvSpPr>
        <p:spPr>
          <a:xfrm>
            <a:off x="4663440" y="5650992"/>
            <a:ext cx="128016" cy="12801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539496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FFFFF"/>
                </a:solidFill>
                <a:latin typeface="Noto Sans CJK SC"/>
              </a:rPr>
              <a:t>足端滑移距离</a:t>
            </a:r>
          </a:p>
        </p:txBody>
      </p:sp>
      <p:sp>
        <p:nvSpPr>
          <p:cNvPr id="35" name="Oval 34"/>
          <p:cNvSpPr/>
          <p:nvPr/>
        </p:nvSpPr>
        <p:spPr>
          <a:xfrm>
            <a:off x="6903720" y="5650992"/>
            <a:ext cx="128016" cy="12801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39496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FFFFF"/>
                </a:solidFill>
                <a:latin typeface="Noto Sans CJK SC"/>
              </a:rPr>
              <a:t>关节振荡 / 抖动</a:t>
            </a:r>
          </a:p>
        </p:txBody>
      </p:sp>
      <p:sp>
        <p:nvSpPr>
          <p:cNvPr id="37" name="Oval 36"/>
          <p:cNvSpPr/>
          <p:nvPr/>
        </p:nvSpPr>
        <p:spPr>
          <a:xfrm>
            <a:off x="9144000" y="5650992"/>
            <a:ext cx="128016" cy="12801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39496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FFFFF"/>
                </a:solidFill>
                <a:latin typeface="Noto Sans CJK SC"/>
              </a:rPr>
              <a:t>不同地面成功率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COMPARISON  / MJWarp vs PhysX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机器人原生的约束表达，对比通用引擎的工程成熟度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82496"/>
            <a:ext cx="2743200" cy="1069848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C58D"/>
                </a:solidFill>
                <a:latin typeface="Noto Sans CJK SC"/>
              </a:rPr>
              <a:t>MJWarp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85416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62626"/>
                </a:solidFill>
                <a:latin typeface="Noto Sans CJK SC"/>
              </a:rPr>
              <a:t>广义坐标 · 运动学树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727171"/>
                </a:solidFill>
                <a:latin typeface="Noto Sans CJK SC"/>
              </a:rPr>
              <a:t>关节按定义不可分离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682496"/>
            <a:ext cx="2743200" cy="1069848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8105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8941"/>
                </a:solidFill>
                <a:latin typeface="Noto Sans CJK SC"/>
              </a:rPr>
              <a:t>PhysX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85416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62626"/>
                </a:solidFill>
                <a:latin typeface="Noto Sans CJK SC"/>
              </a:rPr>
              <a:t>最大坐标 · 约束连接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46888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727171"/>
                </a:solidFill>
                <a:latin typeface="Noto Sans CJK SC"/>
              </a:rPr>
              <a:t>TGS 降低高应力下的漂移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3054096"/>
            <a:ext cx="2057400" cy="457200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05409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维度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3054096"/>
            <a:ext cx="3657600" cy="457200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305409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MJWarp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3054096"/>
            <a:ext cx="3886200" cy="457200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3054096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PhysX 5 / Isaac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3593591"/>
            <a:ext cx="2057400" cy="502920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593591"/>
            <a:ext cx="191109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关节约束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5848" y="3593591"/>
            <a:ext cx="3657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593591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运动学树严格保持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3448" y="3593591"/>
            <a:ext cx="3886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593591"/>
            <a:ext cx="3739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TGS 约束近似保持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4169663"/>
            <a:ext cx="2057400" cy="502920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169663"/>
            <a:ext cx="191109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接触 / 摩擦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5848" y="4169663"/>
            <a:ext cx="3657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4169663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硬接触 · 椭圆锥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13448" y="4169663"/>
            <a:ext cx="3886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169663"/>
            <a:ext cx="3739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稳定接触 · 棱锥近似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8448" y="4745736"/>
            <a:ext cx="2057400" cy="502920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745736"/>
            <a:ext cx="191109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时间步长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5848" y="4745736"/>
            <a:ext cx="3657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4745736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较大步长仍稳定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13448" y="4745736"/>
            <a:ext cx="3886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4745736"/>
            <a:ext cx="3739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常需更小子步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5321808"/>
            <a:ext cx="2057400" cy="502920"/>
          </a:xfrm>
          <a:prstGeom prst="rect">
            <a:avLst/>
          </a:prstGeom>
          <a:solidFill>
            <a:srgbClr val="F4F7FC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321808"/>
            <a:ext cx="191109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复杂场景生态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5321808"/>
            <a:ext cx="3657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321808"/>
            <a:ext cx="35112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机器人学习优先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13448" y="5321808"/>
            <a:ext cx="3886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5321808"/>
            <a:ext cx="37398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传感器 / USD / Omniverse 完整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8448" y="5961888"/>
            <a:ext cx="9601200" cy="164592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SELECTION  / 引擎选型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先看任务形态，再看硬件与生态约束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3977639" cy="502920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任务 / 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664208"/>
            <a:ext cx="2148840" cy="502920"/>
          </a:xfrm>
          <a:prstGeom prst="rect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64208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MJX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664208"/>
            <a:ext cx="2148840" cy="502920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664208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MJWarp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664208"/>
            <a:ext cx="2240280" cy="502920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6420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PhysX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58568"/>
            <a:ext cx="3977639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258568"/>
            <a:ext cx="3657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62626"/>
                </a:solidFill>
                <a:latin typeface="Noto Sans CJK SC"/>
              </a:rPr>
              <a:t>大规模人形 / 四足运动训练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258568"/>
            <a:ext cx="214884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3268" y="2459736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1868" y="2459736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0468" y="2459736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258568"/>
            <a:ext cx="214884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36408" y="2459736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5008" y="2459736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258568"/>
            <a:ext cx="224028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5267" y="2459736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2889504"/>
            <a:ext cx="3977639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2889504"/>
            <a:ext cx="3657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62626"/>
                </a:solidFill>
                <a:latin typeface="Noto Sans CJK SC"/>
              </a:rPr>
              <a:t>灵巧手、抓取、复杂网格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2889504"/>
            <a:ext cx="2148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01868" y="3090672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2889504"/>
            <a:ext cx="2148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2108" y="3090672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0708" y="3090672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79308" y="3090672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2889504"/>
            <a:ext cx="22402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30967" y="3090672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59567" y="3090672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520440"/>
            <a:ext cx="3977639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3520440"/>
            <a:ext cx="3657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62626"/>
                </a:solidFill>
                <a:latin typeface="Noto Sans CJK SC"/>
              </a:rPr>
              <a:t>精密装配 / 不平坦地形验证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3520440"/>
            <a:ext cx="214884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01868" y="3721608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3520440"/>
            <a:ext cx="214884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22108" y="3721608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50708" y="3721608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79308" y="3721608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3520440"/>
            <a:ext cx="224028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30967" y="3721608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59567" y="3721608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4151376"/>
            <a:ext cx="3977639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4151376"/>
            <a:ext cx="3657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62626"/>
                </a:solidFill>
                <a:latin typeface="Noto Sans CJK SC"/>
              </a:rPr>
              <a:t>Omniverse 大场景与传感器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600" y="4151376"/>
            <a:ext cx="2148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01868" y="4352544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0" y="4151376"/>
            <a:ext cx="2148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836408" y="4352544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65008" y="4352544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8280" y="4151376"/>
            <a:ext cx="22402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16667" y="4352544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45267" y="4352544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373867" y="4352544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" y="4782312"/>
            <a:ext cx="3977639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" y="4782312"/>
            <a:ext cx="3657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62626"/>
                </a:solidFill>
                <a:latin typeface="Noto Sans CJK SC"/>
              </a:rPr>
              <a:t>端到端可微 / JAX 优化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4782312"/>
            <a:ext cx="214884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573268" y="4983480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01868" y="4983480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30468" y="4983480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49440" y="4782312"/>
            <a:ext cx="214884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50708" y="4983480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4782312"/>
            <a:ext cx="2240280" cy="548640"/>
          </a:xfrm>
          <a:prstGeom prst="rect">
            <a:avLst/>
          </a:prstGeom>
          <a:solidFill>
            <a:srgbClr val="F4F7FC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145267" y="4983480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960" y="5413248"/>
            <a:ext cx="3977639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" y="5413248"/>
            <a:ext cx="365759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262626"/>
                </a:solidFill>
                <a:latin typeface="Noto Sans CJK SC"/>
              </a:rPr>
              <a:t>TPU / Mac / 跨平台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00600" y="5413248"/>
            <a:ext cx="2148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573268" y="5614416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801868" y="5614416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30468" y="5614416"/>
            <a:ext cx="146304" cy="146304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49440" y="5413248"/>
            <a:ext cx="2148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50708" y="5614416"/>
            <a:ext cx="146304" cy="146304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98280" y="5413248"/>
            <a:ext cx="22402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45267" y="5614416"/>
            <a:ext cx="146304" cy="146304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34272" y="60807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7171"/>
                </a:solidFill>
                <a:latin typeface="Noto Sans CJK SC"/>
              </a:rPr>
              <a:t>● 首选倾向越强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MJLAB  / 能力路线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平台落地需要补齐八项工程能力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27632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1792224"/>
            <a:ext cx="585216" cy="585216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92224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71907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快速 CUDA 仿真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084832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构建更强的 Isaac Lab 训练底座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27632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4224" y="1792224"/>
            <a:ext cx="585216" cy="585216"/>
          </a:xfrm>
          <a:prstGeom prst="rect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792224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1907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执行器模型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84832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电机、减速器与控制延迟更贴近实机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06624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2871216"/>
            <a:ext cx="585216" cy="585216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871216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798064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脚部碰撞模型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163824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聚焦落脚冲击、摩擦与滑移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706624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2871216"/>
            <a:ext cx="585216" cy="585216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871216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798064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Warp → Newton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163824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为 Isaac Lab 的新物理后端预留接口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85615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" y="3950207"/>
            <a:ext cx="585216" cy="585216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950207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877055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物理保真度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4242816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建立 MJX / MJWarp / 实机一致性指标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785615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64224" y="3950207"/>
            <a:ext cx="585216" cy="585216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3950207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877055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训练检查点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242816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可恢复、可回放、可跨后端复现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864608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" y="5029200"/>
            <a:ext cx="585216" cy="585216"/>
          </a:xfrm>
          <a:prstGeom prst="rect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0292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4956048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MuJoCo 内训练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5648" y="5321808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缩短模型、策略与验证之间的距离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4864608"/>
            <a:ext cx="51389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64224" y="5029200"/>
            <a:ext cx="585216" cy="585216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50292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56048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IRL 与重定向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321808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727171"/>
                </a:solidFill>
                <a:latin typeface="Noto Sans CJK SC"/>
              </a:rPr>
              <a:t>人形奖励学习 → 双足动作迁移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971032"/>
            <a:ext cx="10515600" cy="182880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98280" y="3383280"/>
            <a:ext cx="4114800" cy="411480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04672"/>
            <a:ext cx="502920" cy="82296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6BFF"/>
                </a:solidFill>
                <a:latin typeface="Noto Sans CJK SC"/>
              </a:rPr>
              <a:t>RECOMMENDATION  / 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62626"/>
                </a:solidFill>
                <a:latin typeface="Noto Sans CJK SC"/>
              </a:rPr>
              <a:t>平台、物理、应用分层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26BFF"/>
                </a:solidFill>
                <a:latin typeface="Noto Sans CJK SC"/>
              </a:rPr>
              <a:t>用双试点验证 NVIDIA 仿真闭环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90088"/>
            <a:ext cx="475488" cy="475488"/>
          </a:xfrm>
          <a:prstGeom prst="ellipse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52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Noto Sans CJK SC"/>
              </a:rPr>
              <a:t>OpenUSD 统一场景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852928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让资产、传感器与仿真数据跨阶段复用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3547872"/>
            <a:ext cx="7360920" cy="0"/>
          </a:xfrm>
          <a:prstGeom prst="line">
            <a:avLst/>
          </a:prstGeom>
          <a:ln w="1016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14400" y="3931920"/>
            <a:ext cx="475488" cy="475488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Noto Sans CJK SC"/>
              </a:rPr>
              <a:t>双物理后端分工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9476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PhysX 承接通用工程，MJWarp 承接高保真与并发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4489704"/>
            <a:ext cx="7360920" cy="0"/>
          </a:xfrm>
          <a:prstGeom prst="line">
            <a:avLst/>
          </a:prstGeom>
          <a:ln w="1016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14400" y="4873752"/>
            <a:ext cx="475488" cy="475488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737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365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Noto Sans CJK SC"/>
              </a:rPr>
              <a:t>双应用试点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736592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27171"/>
                </a:solidFill>
                <a:latin typeface="Noto Sans CJK SC"/>
              </a:rPr>
              <a:t>新型机器人零迁移训练 + 焊接机器人多物理场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961888"/>
            <a:ext cx="548640" cy="73152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099048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27171"/>
                </a:solidFill>
                <a:latin typeface="Noto Sans CJK SC"/>
              </a:rPr>
              <a:t>下一步：以同一 OpenUSD 场景建立 Isaac Sim → MJWarp / MjLab → 实机回归基线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APPENDIX  / NVIDIA 仿真平台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从 OpenUSD 场景描述到零迁移训练，形成一体化闭环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847088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2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1938528"/>
            <a:ext cx="502920" cy="28346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26BFF"/>
                </a:solidFill>
                <a:latin typeface="Noto Sans CJK SC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453895" y="2487168"/>
            <a:ext cx="585216" cy="585216"/>
          </a:xfrm>
          <a:prstGeom prst="ellipse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5" y="248716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461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OpenUSD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79476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727171"/>
                </a:solidFill>
                <a:latin typeface="Noto Sans CJK SC"/>
              </a:rPr>
              <a:t>统一场景描述
资产 · 材质 · 机器人</a:t>
            </a:r>
          </a:p>
        </p:txBody>
      </p:sp>
      <p:sp>
        <p:nvSpPr>
          <p:cNvPr id="13" name="Chevron 12"/>
          <p:cNvSpPr/>
          <p:nvPr/>
        </p:nvSpPr>
        <p:spPr>
          <a:xfrm>
            <a:off x="2715768" y="2944368"/>
            <a:ext cx="329184" cy="420624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80944" y="1737360"/>
            <a:ext cx="1847088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9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45536" y="1938528"/>
            <a:ext cx="502920" cy="28346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1938528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B7FF"/>
                </a:solidFill>
                <a:latin typeface="Noto Sans CJK SC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3611879" y="2487168"/>
            <a:ext cx="585216" cy="58521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248716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2461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Isaac 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379476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727171"/>
                </a:solidFill>
                <a:latin typeface="Noto Sans CJK SC"/>
              </a:rPr>
              <a:t>可视化与传感器
数字场景搭建</a:t>
            </a:r>
          </a:p>
        </p:txBody>
      </p:sp>
      <p:sp>
        <p:nvSpPr>
          <p:cNvPr id="21" name="Chevron 20"/>
          <p:cNvSpPr/>
          <p:nvPr/>
        </p:nvSpPr>
        <p:spPr>
          <a:xfrm>
            <a:off x="4873752" y="2944368"/>
            <a:ext cx="329184" cy="420624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38928" y="1737360"/>
            <a:ext cx="1847088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03520" y="1938528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938528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68941"/>
                </a:solidFill>
                <a:latin typeface="Noto Sans CJK SC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5769864" y="2487168"/>
            <a:ext cx="585216" cy="585216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9864" y="248716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2461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双物理后端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79476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727171"/>
                </a:solidFill>
                <a:latin typeface="Noto Sans CJK SC"/>
              </a:rPr>
              <a:t>PhysX 通用仿真
→ MJWarp 高保真</a:t>
            </a:r>
          </a:p>
        </p:txBody>
      </p:sp>
      <p:sp>
        <p:nvSpPr>
          <p:cNvPr id="29" name="Chevron 28"/>
          <p:cNvSpPr/>
          <p:nvPr/>
        </p:nvSpPr>
        <p:spPr>
          <a:xfrm>
            <a:off x="7031736" y="2944368"/>
            <a:ext cx="329184" cy="420624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96912" y="1737360"/>
            <a:ext cx="1847088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61504" y="1938528"/>
            <a:ext cx="502920" cy="283464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1938528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C58D"/>
                </a:solidFill>
                <a:latin typeface="Noto Sans CJK SC"/>
              </a:rPr>
              <a:t>04</a:t>
            </a:r>
          </a:p>
        </p:txBody>
      </p:sp>
      <p:sp>
        <p:nvSpPr>
          <p:cNvPr id="33" name="Oval 32"/>
          <p:cNvSpPr/>
          <p:nvPr/>
        </p:nvSpPr>
        <p:spPr>
          <a:xfrm>
            <a:off x="7927848" y="2487168"/>
            <a:ext cx="585216" cy="585216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27848" y="248716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2461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262626"/>
                </a:solidFill>
                <a:latin typeface="Noto Sans CJK SC"/>
              </a:rPr>
              <a:t>Isaac Lab / MjLab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379476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727171"/>
                </a:solidFill>
                <a:latin typeface="Noto Sans CJK SC"/>
              </a:rPr>
              <a:t>GPU 高并发
强化学习训练</a:t>
            </a:r>
          </a:p>
        </p:txBody>
      </p:sp>
      <p:sp>
        <p:nvSpPr>
          <p:cNvPr id="37" name="Chevron 36"/>
          <p:cNvSpPr/>
          <p:nvPr/>
        </p:nvSpPr>
        <p:spPr>
          <a:xfrm>
            <a:off x="9189720" y="2944368"/>
            <a:ext cx="329184" cy="420624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54896" y="1737360"/>
            <a:ext cx="1847088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19488" y="1938528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1938528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26DE5"/>
                </a:solidFill>
                <a:latin typeface="Noto Sans CJK SC"/>
              </a:rPr>
              <a:t>05</a:t>
            </a:r>
          </a:p>
        </p:txBody>
      </p:sp>
      <p:sp>
        <p:nvSpPr>
          <p:cNvPr id="41" name="Oval 40"/>
          <p:cNvSpPr/>
          <p:nvPr/>
        </p:nvSpPr>
        <p:spPr>
          <a:xfrm>
            <a:off x="10085832" y="2487168"/>
            <a:ext cx="585216" cy="585216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5832" y="248716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2461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零迁移训练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794760"/>
            <a:ext cx="1554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727171"/>
                </a:solidFill>
                <a:latin typeface="Noto Sans CJK SC"/>
              </a:rPr>
              <a:t>复用场景与策略链路
面向真实机器人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047488"/>
            <a:ext cx="3346704" cy="102412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2416" y="5285232"/>
            <a:ext cx="502920" cy="502920"/>
          </a:xfrm>
          <a:prstGeom prst="ellipse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52852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19072" y="512064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Noto Sans CJK SC"/>
              </a:rPr>
              <a:t>统一场景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19072" y="5449824"/>
            <a:ext cx="221284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727171"/>
                </a:solidFill>
                <a:latin typeface="Noto Sans CJK SC"/>
              </a:rPr>
              <a:t>OpenUSD 作为资产与数据骨架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07408" y="5047488"/>
            <a:ext cx="3346704" cy="1024128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626864" y="5285232"/>
            <a:ext cx="502920" cy="502920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26864" y="52852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512064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Noto Sans CJK SC"/>
              </a:rPr>
              <a:t>物理升级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5449824"/>
            <a:ext cx="221284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727171"/>
                </a:solidFill>
                <a:latin typeface="Noto Sans CJK SC"/>
              </a:rPr>
              <a:t>保留 PhysX 工程能力，引入 MJWarp 接触保真度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1856" y="5047488"/>
            <a:ext cx="3346704" cy="1024128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11312" y="5285232"/>
            <a:ext cx="502920" cy="502920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52852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7968" y="512064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Noto Sans CJK SC"/>
              </a:rPr>
              <a:t>训练闭环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7968" y="5449824"/>
            <a:ext cx="221284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727171"/>
                </a:solidFill>
                <a:latin typeface="Noto Sans CJK SC"/>
              </a:rPr>
              <a:t>Isaac Lab / MjLab 承接批量训练与策略复用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APPENDIX  / 焊接与传动系统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焊接机器人、减速机与伺服电机：三类 GPU 仿真能力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9072"/>
            <a:ext cx="3346704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84248"/>
            <a:ext cx="585216" cy="585216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8424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19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  <a:latin typeface="Noto Sans CJK SC"/>
              </a:rPr>
              <a:t>NV Warp 多体动力学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0048"/>
            <a:ext cx="27980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机器人—减速机—伺服电机
传动链的高并发仿真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3355848"/>
            <a:ext cx="2761488" cy="301752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55848"/>
            <a:ext cx="2651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4C58D"/>
                </a:solidFill>
                <a:latin typeface="Noto Sans CJK SC"/>
              </a:rPr>
              <a:t>动力学 / 接触 / 摩擦 / 载荷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719072"/>
            <a:ext cx="3346704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9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6008" y="1984248"/>
            <a:ext cx="585216" cy="58521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98424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874519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  <a:latin typeface="Noto Sans CJK SC"/>
              </a:rPr>
              <a:t>GPU 加速 3D 视觉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670048"/>
            <a:ext cx="27980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在 Isaac Sim 中批量生成
相机、深度与点云观测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3355848"/>
            <a:ext cx="2761488" cy="301752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355848"/>
            <a:ext cx="2651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9B7FF"/>
                </a:solidFill>
                <a:latin typeface="Noto Sans CJK SC"/>
              </a:rPr>
              <a:t>工件定位 / 焊缝感知 / 视觉闭环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719072"/>
            <a:ext cx="3346704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1984248"/>
            <a:ext cx="585216" cy="585216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98424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1874519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  <a:latin typeface="Noto Sans CJK SC"/>
              </a:rPr>
              <a:t>多体 + 热力学耦合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670048"/>
            <a:ext cx="27980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727171"/>
                </a:solidFill>
                <a:latin typeface="Noto Sans CJK SC"/>
              </a:rPr>
              <a:t>将机器人运动与焊接热场
放入统一 GPU 仿真流程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3355848"/>
            <a:ext cx="2761488" cy="301752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355848"/>
            <a:ext cx="2651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68941"/>
                </a:solidFill>
                <a:latin typeface="Noto Sans CJK SC"/>
              </a:rPr>
              <a:t>轨迹 / 动力学 / 热输入 / 温度场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187952"/>
            <a:ext cx="10515600" cy="157276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35254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6BFF"/>
                </a:solidFill>
                <a:latin typeface="Noto Sans CJK SC"/>
              </a:rPr>
              <a:t>统一数字样机闭环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" y="4818888"/>
            <a:ext cx="1627632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2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85546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26BFF"/>
                </a:solidFill>
                <a:latin typeface="Noto Sans CJK SC"/>
              </a:rPr>
              <a:t>OpenUSD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11149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171"/>
                </a:solidFill>
                <a:latin typeface="Noto Sans CJK SC"/>
              </a:rPr>
              <a:t>工件 / 机器人 / 场景</a:t>
            </a:r>
          </a:p>
        </p:txBody>
      </p:sp>
      <p:sp>
        <p:nvSpPr>
          <p:cNvPr id="32" name="Chevron 31"/>
          <p:cNvSpPr/>
          <p:nvPr/>
        </p:nvSpPr>
        <p:spPr>
          <a:xfrm>
            <a:off x="2770632" y="5001768"/>
            <a:ext cx="246888" cy="31089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63239" y="4818888"/>
            <a:ext cx="1627632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9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3" y="485546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9B7FF"/>
                </a:solidFill>
                <a:latin typeface="Noto Sans CJK SC"/>
              </a:rPr>
              <a:t>Isaac Sim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18103" y="511149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171"/>
                </a:solidFill>
                <a:latin typeface="Noto Sans CJK SC"/>
              </a:rPr>
              <a:t>可视化 / 3D 视觉</a:t>
            </a:r>
          </a:p>
        </p:txBody>
      </p:sp>
      <p:sp>
        <p:nvSpPr>
          <p:cNvPr id="36" name="Chevron 35"/>
          <p:cNvSpPr/>
          <p:nvPr/>
        </p:nvSpPr>
        <p:spPr>
          <a:xfrm>
            <a:off x="4773168" y="5001768"/>
            <a:ext cx="246888" cy="31089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65776" y="4818888"/>
            <a:ext cx="1627632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485546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4C58D"/>
                </a:solidFill>
                <a:latin typeface="Noto Sans CJK SC"/>
              </a:rPr>
              <a:t>NV Warp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11149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171"/>
                </a:solidFill>
                <a:latin typeface="Noto Sans CJK SC"/>
              </a:rPr>
              <a:t>机器人与传动链</a:t>
            </a:r>
          </a:p>
        </p:txBody>
      </p:sp>
      <p:sp>
        <p:nvSpPr>
          <p:cNvPr id="40" name="Chevron 39"/>
          <p:cNvSpPr/>
          <p:nvPr/>
        </p:nvSpPr>
        <p:spPr>
          <a:xfrm>
            <a:off x="6775704" y="5001768"/>
            <a:ext cx="246888" cy="31089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68312" y="4818888"/>
            <a:ext cx="1627632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23176" y="485546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68941"/>
                </a:solidFill>
                <a:latin typeface="Noto Sans CJK SC"/>
              </a:rPr>
              <a:t>GPU 热力学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3176" y="511149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171"/>
                </a:solidFill>
                <a:latin typeface="Noto Sans CJK SC"/>
              </a:rPr>
              <a:t>焊接热场</a:t>
            </a:r>
          </a:p>
        </p:txBody>
      </p:sp>
      <p:sp>
        <p:nvSpPr>
          <p:cNvPr id="44" name="Chevron 43"/>
          <p:cNvSpPr/>
          <p:nvPr/>
        </p:nvSpPr>
        <p:spPr>
          <a:xfrm>
            <a:off x="8778240" y="5001768"/>
            <a:ext cx="246888" cy="31089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70848" y="4818888"/>
            <a:ext cx="1627632" cy="704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855464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926DE5"/>
                </a:solidFill>
                <a:latin typeface="Noto Sans CJK SC"/>
              </a:rPr>
              <a:t>MjLab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11149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171"/>
                </a:solidFill>
                <a:latin typeface="Noto Sans CJK SC"/>
              </a:rPr>
              <a:t>控制 / RL / 验证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5943600"/>
            <a:ext cx="10515600" cy="173736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APPENDIX  / THERMAL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热仿真：从移动热源到温度场反演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82496"/>
            <a:ext cx="3154680" cy="4297680"/>
          </a:xfrm>
          <a:prstGeom prst="roundRect">
            <a:avLst>
              <a:gd name="adj" fmla="val 8000"/>
            </a:avLst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029968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Noto Sans Mono CJK SC"/>
              </a:rPr>
              <a:t>∂T/∂t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2880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B7FF"/>
                </a:solidFill>
                <a:latin typeface="Noto Sans Mono CJK SC"/>
              </a:rPr>
              <a:t>= α∇²T + Q/(ρc)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1872" y="3429000"/>
            <a:ext cx="2276856" cy="0"/>
          </a:xfrm>
          <a:prstGeom prst="line">
            <a:avLst/>
          </a:prstGeom>
          <a:ln w="12700">
            <a:solidFill>
              <a:srgbClr val="2A4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568" y="3621024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Warp 的角色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4187769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06908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C4CFE6"/>
                </a:solidFill>
                <a:latin typeface="Noto Sans CJK SC"/>
              </a:rPr>
              <a:t>GPU 并行温度更新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4590105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471416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C4CFE6"/>
                </a:solidFill>
                <a:latin typeface="Noto Sans CJK SC"/>
              </a:rPr>
              <a:t>网格 / 网格单元积分</a:t>
            </a:r>
          </a:p>
        </p:txBody>
      </p:sp>
      <p:sp>
        <p:nvSpPr>
          <p:cNvPr id="15" name="Oval 14"/>
          <p:cNvSpPr/>
          <p:nvPr/>
        </p:nvSpPr>
        <p:spPr>
          <a:xfrm>
            <a:off x="1280160" y="4992441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87375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C4CFE6"/>
                </a:solidFill>
                <a:latin typeface="Noto Sans CJK SC"/>
              </a:rPr>
              <a:t>批量参数扫描</a:t>
            </a:r>
          </a:p>
        </p:txBody>
      </p:sp>
      <p:sp>
        <p:nvSpPr>
          <p:cNvPr id="17" name="Oval 16"/>
          <p:cNvSpPr/>
          <p:nvPr/>
        </p:nvSpPr>
        <p:spPr>
          <a:xfrm>
            <a:off x="1280160" y="5394777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27608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C4CFE6"/>
                </a:solidFill>
                <a:latin typeface="Noto Sans CJK SC"/>
              </a:rPr>
              <a:t>自动微分与反演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682496"/>
            <a:ext cx="3236976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1901952"/>
            <a:ext cx="530352" cy="530352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90195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181965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离散域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212848"/>
            <a:ext cx="20848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727171"/>
                </a:solidFill>
                <a:latin typeface="Noto Sans CJK SC"/>
              </a:rPr>
              <a:t>Grid / Mesh / NanoVDB
材料参数 k · ρ · 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93792" y="2770632"/>
            <a:ext cx="2057400" cy="109728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27264" y="1682496"/>
            <a:ext cx="3236976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1901952"/>
            <a:ext cx="530352" cy="530352"/>
          </a:xfrm>
          <a:prstGeom prst="rect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190195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181965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热源与边界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2212848"/>
            <a:ext cx="20848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727171"/>
                </a:solidFill>
                <a:latin typeface="Noto Sans CJK SC"/>
              </a:rPr>
              <a:t>移动热源 Q(x,t)
对流 · 辐射 · 定温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23376" y="2770632"/>
            <a:ext cx="2057400" cy="109728"/>
          </a:xfrm>
          <a:prstGeom prst="rect">
            <a:avLst/>
          </a:prstGeom>
          <a:solidFill>
            <a:srgbClr val="FD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97680" y="3255264"/>
            <a:ext cx="3236976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60" y="3474720"/>
            <a:ext cx="530352" cy="530352"/>
          </a:xfrm>
          <a:prstGeom prst="rect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47472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339242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GPU 求解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3785615"/>
            <a:ext cx="20848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727171"/>
                </a:solidFill>
                <a:latin typeface="Noto Sans CJK SC"/>
              </a:rPr>
              <a:t>Warp kernel / warp.fem
显式步进或线性求解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93792" y="4343400"/>
            <a:ext cx="2057400" cy="109728"/>
          </a:xfrm>
          <a:prstGeom prst="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27264" y="3255264"/>
            <a:ext cx="3236976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474720"/>
            <a:ext cx="530352" cy="530352"/>
          </a:xfrm>
          <a:prstGeom prst="rect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144" y="347472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339242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2626"/>
                </a:solidFill>
                <a:latin typeface="Noto Sans CJK SC"/>
              </a:rPr>
              <a:t>批量与反演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3785615"/>
            <a:ext cx="20848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727171"/>
                </a:solidFill>
                <a:latin typeface="Noto Sans CJK SC"/>
              </a:rPr>
              <a:t>工艺参数扫描
梯度校准 / 优化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23376" y="4343400"/>
            <a:ext cx="2057400" cy="109728"/>
          </a:xfrm>
          <a:prstGeom prst="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97680" y="4956048"/>
            <a:ext cx="6903720" cy="10241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53712" y="5230368"/>
            <a:ext cx="429768" cy="429768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5230368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047488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焊接热场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358384"/>
            <a:ext cx="1444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727171"/>
                </a:solidFill>
                <a:latin typeface="Noto Sans CJK SC"/>
              </a:rPr>
              <a:t>Goldak / 移动热源</a:t>
            </a:r>
          </a:p>
        </p:txBody>
      </p:sp>
      <p:sp>
        <p:nvSpPr>
          <p:cNvPr id="48" name="Oval 47"/>
          <p:cNvSpPr/>
          <p:nvPr/>
        </p:nvSpPr>
        <p:spPr>
          <a:xfrm>
            <a:off x="6748272" y="5230368"/>
            <a:ext cx="429768" cy="429768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5230368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047488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伺服与减速机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5358384"/>
            <a:ext cx="1444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727171"/>
                </a:solidFill>
                <a:latin typeface="Noto Sans CJK SC"/>
              </a:rPr>
              <a:t>损耗—温升—热漂移</a:t>
            </a:r>
          </a:p>
        </p:txBody>
      </p:sp>
      <p:sp>
        <p:nvSpPr>
          <p:cNvPr id="52" name="Oval 51"/>
          <p:cNvSpPr/>
          <p:nvPr/>
        </p:nvSpPr>
        <p:spPr>
          <a:xfrm>
            <a:off x="8942832" y="5230368"/>
            <a:ext cx="429768" cy="429768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42832" y="5230368"/>
            <a:ext cx="42976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5047488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逆问题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5358384"/>
            <a:ext cx="1444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727171"/>
                </a:solidFill>
                <a:latin typeface="Noto Sans CJK SC"/>
              </a:rPr>
              <a:t>热参数辨识与工艺优化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619963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B95A5"/>
                </a:solidFill>
                <a:latin typeface="Noto Sans CJK SC"/>
              </a:rPr>
              <a:t>能力边界：Warp 提供 GPU kernel、FEM 与自动微分；材料模型、热源模型和耦合策略仍需按场景实现。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APPENDIX  / ELECTROMAGNETICS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电磁仿真：从 Maxwell 离散到磁场与力矩优化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82496"/>
            <a:ext cx="5047488" cy="340156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74519"/>
            <a:ext cx="4462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26BFF"/>
                </a:solidFill>
                <a:latin typeface="Noto Sans CJK SC"/>
              </a:rPr>
              <a:t>路径 1 · FDTD / 自定义 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14016"/>
            <a:ext cx="4434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26BFF"/>
                </a:solidFill>
                <a:latin typeface="Noto Sans Mono CJK SC"/>
              </a:rPr>
              <a:t>∂E/∂t</a:t>
            </a:r>
            <a:r>
              <a:rPr sz="1700" b="1">
                <a:solidFill>
                  <a:srgbClr val="727171"/>
                </a:solidFill>
                <a:latin typeface="Noto Sans CJK SC"/>
              </a:rPr>
              <a:t>  ↔  </a:t>
            </a:r>
            <a:r>
              <a:rPr sz="1900" b="1">
                <a:solidFill>
                  <a:srgbClr val="026BFF"/>
                </a:solidFill>
                <a:latin typeface="Noto Sans Mono CJK SC"/>
              </a:rPr>
              <a:t>∇×H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36392"/>
            <a:ext cx="12252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2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63824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交错网格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93008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E / H 场</a:t>
            </a:r>
          </a:p>
        </p:txBody>
      </p:sp>
      <p:sp>
        <p:nvSpPr>
          <p:cNvPr id="12" name="Chevron 11"/>
          <p:cNvSpPr/>
          <p:nvPr/>
        </p:nvSpPr>
        <p:spPr>
          <a:xfrm>
            <a:off x="2377439" y="3364992"/>
            <a:ext cx="182880" cy="274320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78608" y="3136392"/>
            <a:ext cx="12252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2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3163824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时间步进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3493008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curl 更新</a:t>
            </a:r>
          </a:p>
        </p:txBody>
      </p:sp>
      <p:sp>
        <p:nvSpPr>
          <p:cNvPr id="16" name="Chevron 15"/>
          <p:cNvSpPr/>
          <p:nvPr/>
        </p:nvSpPr>
        <p:spPr>
          <a:xfrm>
            <a:off x="3858768" y="3364992"/>
            <a:ext cx="182880" cy="274320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59936" y="3136392"/>
            <a:ext cx="12252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2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5656" y="3163824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边界处理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6" y="3493008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PML / 激励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1596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Noto Sans CJK SC"/>
              </a:rPr>
              <a:t>适合：瞬态电磁波、规则网格、大批量设计点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1682496"/>
            <a:ext cx="5065776" cy="3401568"/>
          </a:xfrm>
          <a:prstGeom prst="roundRect">
            <a:avLst>
              <a:gd name="adj" fmla="val 8000"/>
            </a:avLst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874519"/>
            <a:ext cx="4462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926DE5"/>
                </a:solidFill>
                <a:latin typeface="Noto Sans CJK SC"/>
              </a:rPr>
              <a:t>路径 2 · warp.fem / Curl-Curl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414016"/>
            <a:ext cx="444398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26DE5"/>
                </a:solidFill>
                <a:latin typeface="Noto Sans Mono CJK SC"/>
              </a:rPr>
              <a:t>∇×(μ⁻¹∇×A)</a:t>
            </a:r>
            <a:r>
              <a:rPr sz="1800" b="1">
                <a:solidFill>
                  <a:srgbClr val="727171"/>
                </a:solidFill>
                <a:latin typeface="Noto Sans Mono CJK SC"/>
              </a:rPr>
              <a:t> =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47104" y="3136392"/>
            <a:ext cx="12252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3163824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926DE5"/>
                </a:solidFill>
                <a:latin typeface="Noto Sans CJK SC"/>
              </a:rPr>
              <a:t>非结构网格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493008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复杂几何</a:t>
            </a:r>
          </a:p>
        </p:txBody>
      </p:sp>
      <p:sp>
        <p:nvSpPr>
          <p:cNvPr id="27" name="Chevron 26"/>
          <p:cNvSpPr/>
          <p:nvPr/>
        </p:nvSpPr>
        <p:spPr>
          <a:xfrm>
            <a:off x="7827264" y="3364992"/>
            <a:ext cx="182880" cy="274320"/>
          </a:xfrm>
          <a:prstGeom prst="chevron">
            <a:avLst>
              <a:gd name="adj" fmla="val 22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28432" y="3136392"/>
            <a:ext cx="12252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3163824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926DE5"/>
                </a:solidFill>
                <a:latin typeface="Noto Sans CJK SC"/>
              </a:rPr>
              <a:t>Nédélec 空间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3493008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curl 相容</a:t>
            </a:r>
          </a:p>
        </p:txBody>
      </p:sp>
      <p:sp>
        <p:nvSpPr>
          <p:cNvPr id="31" name="Chevron 30"/>
          <p:cNvSpPr/>
          <p:nvPr/>
        </p:nvSpPr>
        <p:spPr>
          <a:xfrm>
            <a:off x="9308592" y="3364992"/>
            <a:ext cx="182880" cy="274320"/>
          </a:xfrm>
          <a:prstGeom prst="chevron">
            <a:avLst>
              <a:gd name="adj" fmla="val 22000"/>
            </a:avLst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09760" y="3136392"/>
            <a:ext cx="1225296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3163824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926DE5"/>
                </a:solidFill>
                <a:latin typeface="Noto Sans CJK SC"/>
              </a:rPr>
              <a:t>稀疏求解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493008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磁场 / 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315968"/>
            <a:ext cx="4443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2626"/>
                </a:solidFill>
                <a:latin typeface="Noto Sans CJK SC"/>
              </a:rPr>
              <a:t>官方示例：2D magnetostatics · curl-curl formulation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321808"/>
            <a:ext cx="33467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5468112"/>
            <a:ext cx="402336" cy="402336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4681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2180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62626"/>
                </a:solidFill>
                <a:latin typeface="Noto Sans CJK SC"/>
              </a:rPr>
              <a:t>伺服电机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9191" y="532180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727171"/>
                </a:solidFill>
                <a:latin typeface="Noto Sans CJK SC"/>
              </a:rPr>
              <a:t>磁场 / 力矩 / 参数优化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07408" y="5321808"/>
            <a:ext cx="33467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90288" y="5468112"/>
            <a:ext cx="402336" cy="402336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0288" y="54681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32180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62626"/>
                </a:solidFill>
                <a:latin typeface="Noto Sans CJK SC"/>
              </a:rPr>
              <a:t>感应加热与焊接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32180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727171"/>
                </a:solidFill>
                <a:latin typeface="Noto Sans CJK SC"/>
              </a:rPr>
              <a:t>电磁—热源耦合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91856" y="5321808"/>
            <a:ext cx="334670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74736" y="5468112"/>
            <a:ext cx="402336" cy="402336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4736" y="54681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532180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262626"/>
                </a:solidFill>
                <a:latin typeface="Noto Sans CJK SC"/>
              </a:rPr>
              <a:t>传感器与执行器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48088" y="532180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727171"/>
                </a:solidFill>
                <a:latin typeface="Noto Sans CJK SC"/>
              </a:rPr>
              <a:t>场分布 / 灵敏度设计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619963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B95A5"/>
                </a:solidFill>
                <a:latin typeface="Noto Sans CJK SC"/>
              </a:rPr>
              <a:t>能力边界：Warp 官方提供磁静力 FEM 示例；全波、频域、多材料与 PML 等能力需自行构建和验证。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192" y="54864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26BFF"/>
                </a:solidFill>
                <a:latin typeface="Noto Sans CJK SC"/>
              </a:rPr>
              <a:t>APPENDIX  / FINITE ELEMENT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32104"/>
            <a:ext cx="9829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62626"/>
                </a:solidFill>
                <a:latin typeface="Noto Sans CJK SC"/>
              </a:rPr>
              <a:t>有限元分析：GPU 加速装配、求解与可微设计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00784"/>
            <a:ext cx="184708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2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1911095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11095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026BFF"/>
                </a:solidFill>
                <a:latin typeface="Noto Sans CJK SC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2359152"/>
            <a:ext cx="566928" cy="566928"/>
          </a:xfrm>
          <a:prstGeom prst="ellipse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Noto Sans CJK SC"/>
              </a:rPr>
              <a:t>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5643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Grid / Mesh
NanoVDB</a:t>
            </a:r>
          </a:p>
        </p:txBody>
      </p:sp>
      <p:sp>
        <p:nvSpPr>
          <p:cNvPr id="13" name="Chevron 12"/>
          <p:cNvSpPr/>
          <p:nvPr/>
        </p:nvSpPr>
        <p:spPr>
          <a:xfrm>
            <a:off x="2715768" y="2615184"/>
            <a:ext cx="329184" cy="40233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80944" y="1700784"/>
            <a:ext cx="184708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9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45536" y="1911095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1911095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9B7FF"/>
                </a:solidFill>
                <a:latin typeface="Noto Sans CJK SC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3621024" y="2359152"/>
            <a:ext cx="566928" cy="566928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3" y="309067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62626"/>
                </a:solidFill>
                <a:latin typeface="Noto Sans CJK SC"/>
              </a:rPr>
              <a:t>Function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345643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P / Q / S
标量与向量场</a:t>
            </a:r>
          </a:p>
        </p:txBody>
      </p:sp>
      <p:sp>
        <p:nvSpPr>
          <p:cNvPr id="21" name="Chevron 20"/>
          <p:cNvSpPr/>
          <p:nvPr/>
        </p:nvSpPr>
        <p:spPr>
          <a:xfrm>
            <a:off x="4873752" y="2615184"/>
            <a:ext cx="329184" cy="40233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38928" y="1700784"/>
            <a:ext cx="184708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68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03520" y="1911095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911095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F68941"/>
                </a:solidFill>
                <a:latin typeface="Noto Sans CJK SC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5779008" y="2359152"/>
            <a:ext cx="566928" cy="566928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309067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Noto Sans CJK SC"/>
              </a:rPr>
              <a:t>Integrate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45643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线性 / 双线性形式
数值积分</a:t>
            </a:r>
          </a:p>
        </p:txBody>
      </p:sp>
      <p:sp>
        <p:nvSpPr>
          <p:cNvPr id="29" name="Chevron 28"/>
          <p:cNvSpPr/>
          <p:nvPr/>
        </p:nvSpPr>
        <p:spPr>
          <a:xfrm>
            <a:off x="7031736" y="2615184"/>
            <a:ext cx="329184" cy="40233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96912" y="1700784"/>
            <a:ext cx="184708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4C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61504" y="1911095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1911095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4C58D"/>
                </a:solidFill>
                <a:latin typeface="Noto Sans CJK SC"/>
              </a:rPr>
              <a:t>04</a:t>
            </a:r>
          </a:p>
        </p:txBody>
      </p:sp>
      <p:sp>
        <p:nvSpPr>
          <p:cNvPr id="33" name="Oval 32"/>
          <p:cNvSpPr/>
          <p:nvPr/>
        </p:nvSpPr>
        <p:spPr>
          <a:xfrm>
            <a:off x="7936992" y="2359152"/>
            <a:ext cx="566928" cy="566928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6992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4072" y="309067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Noto Sans CJK SC"/>
              </a:rPr>
              <a:t>Sparse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345643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BSR 矩阵
边界条件</a:t>
            </a:r>
          </a:p>
        </p:txBody>
      </p:sp>
      <p:sp>
        <p:nvSpPr>
          <p:cNvPr id="37" name="Chevron 36"/>
          <p:cNvSpPr/>
          <p:nvPr/>
        </p:nvSpPr>
        <p:spPr>
          <a:xfrm>
            <a:off x="9189720" y="2615184"/>
            <a:ext cx="329184" cy="402336"/>
          </a:xfrm>
          <a:prstGeom prst="chevron">
            <a:avLst>
              <a:gd name="adj" fmla="val 22000"/>
            </a:avLst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54896" y="1700784"/>
            <a:ext cx="184708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92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19488" y="1911095"/>
            <a:ext cx="502920" cy="28346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1911095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926DE5"/>
                </a:solidFill>
                <a:latin typeface="Noto Sans CJK SC"/>
              </a:rPr>
              <a:t>05</a:t>
            </a:r>
          </a:p>
        </p:txBody>
      </p:sp>
      <p:sp>
        <p:nvSpPr>
          <p:cNvPr id="41" name="Oval 40"/>
          <p:cNvSpPr/>
          <p:nvPr/>
        </p:nvSpPr>
        <p:spPr>
          <a:xfrm>
            <a:off x="10094976" y="2359152"/>
            <a:ext cx="566928" cy="566928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9497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309067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Noto Sans CJK SC"/>
              </a:rPr>
              <a:t>Solve + Grad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45643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727171"/>
                </a:solidFill>
                <a:latin typeface="Noto Sans CJK SC"/>
              </a:rPr>
              <a:t>CG / 迭代求解
自动微分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187952"/>
            <a:ext cx="6876288" cy="17922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" y="4361688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6BFF"/>
                </a:solidFill>
                <a:latin typeface="Noto Sans CJK SC"/>
              </a:rPr>
              <a:t>warp.fem 可直接覆盖的典型问题</a:t>
            </a:r>
          </a:p>
        </p:txBody>
      </p:sp>
      <p:sp>
        <p:nvSpPr>
          <p:cNvPr id="47" name="Oval 46"/>
          <p:cNvSpPr/>
          <p:nvPr/>
        </p:nvSpPr>
        <p:spPr>
          <a:xfrm>
            <a:off x="1078992" y="4937759"/>
            <a:ext cx="164592" cy="164592"/>
          </a:xfrm>
          <a:prstGeom prst="ellipse">
            <a:avLst/>
          </a:prstGeom>
          <a:solidFill>
            <a:srgbClr val="02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484632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Noto Sans CJK SC"/>
              </a:rPr>
              <a:t>扩散 / 对流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484632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7171"/>
                </a:solidFill>
                <a:latin typeface="Noto Sans CJK SC"/>
              </a:rPr>
              <a:t>热传导与输运</a:t>
            </a:r>
          </a:p>
        </p:txBody>
      </p:sp>
      <p:sp>
        <p:nvSpPr>
          <p:cNvPr id="50" name="Oval 49"/>
          <p:cNvSpPr/>
          <p:nvPr/>
        </p:nvSpPr>
        <p:spPr>
          <a:xfrm>
            <a:off x="4206240" y="4937759"/>
            <a:ext cx="164592" cy="164592"/>
          </a:xfrm>
          <a:prstGeom prst="ellipse">
            <a:avLst/>
          </a:prstGeom>
          <a:solidFill>
            <a:srgbClr val="24C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484632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Noto Sans CJK SC"/>
              </a:rPr>
              <a:t>弹性力学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6127" y="484632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7171"/>
                </a:solidFill>
                <a:latin typeface="Noto Sans CJK SC"/>
              </a:rPr>
              <a:t>应力、应变、变形</a:t>
            </a:r>
          </a:p>
        </p:txBody>
      </p:sp>
      <p:sp>
        <p:nvSpPr>
          <p:cNvPr id="53" name="Oval 52"/>
          <p:cNvSpPr/>
          <p:nvPr/>
        </p:nvSpPr>
        <p:spPr>
          <a:xfrm>
            <a:off x="1078992" y="5413248"/>
            <a:ext cx="164592" cy="164592"/>
          </a:xfrm>
          <a:prstGeom prst="ellipse">
            <a:avLst/>
          </a:prstGeom>
          <a:solidFill>
            <a:srgbClr val="F68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5321808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Noto Sans CJK SC"/>
              </a:rPr>
              <a:t>接触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532180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7171"/>
                </a:solidFill>
                <a:latin typeface="Noto Sans CJK SC"/>
              </a:rPr>
              <a:t>非匹配网格接触</a:t>
            </a:r>
          </a:p>
        </p:txBody>
      </p:sp>
      <p:sp>
        <p:nvSpPr>
          <p:cNvPr id="56" name="Oval 55"/>
          <p:cNvSpPr/>
          <p:nvPr/>
        </p:nvSpPr>
        <p:spPr>
          <a:xfrm>
            <a:off x="4206240" y="5413248"/>
            <a:ext cx="164592" cy="164592"/>
          </a:xfrm>
          <a:prstGeom prst="ellipse">
            <a:avLst/>
          </a:prstGeom>
          <a:solidFill>
            <a:srgbClr val="926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98848" y="5321808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262626"/>
                </a:solidFill>
                <a:latin typeface="Noto Sans CJK SC"/>
              </a:rPr>
              <a:t>优化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96127" y="532180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7171"/>
                </a:solidFill>
                <a:latin typeface="Noto Sans CJK SC"/>
              </a:rPr>
              <a:t>弹性体形状优化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73568" y="4187952"/>
            <a:ext cx="3364992" cy="1792224"/>
          </a:xfrm>
          <a:prstGeom prst="roundRect">
            <a:avLst>
              <a:gd name="adj" fmla="val 8000"/>
            </a:avLst>
          </a:prstGeom>
          <a:solidFill>
            <a:srgbClr val="0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4379976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B7FF"/>
                </a:solidFill>
                <a:latin typeface="Noto Sans CJK SC"/>
              </a:rPr>
              <a:t>机器人结构应用</a:t>
            </a:r>
          </a:p>
        </p:txBody>
      </p:sp>
      <p:sp>
        <p:nvSpPr>
          <p:cNvPr id="61" name="Oval 60"/>
          <p:cNvSpPr/>
          <p:nvPr/>
        </p:nvSpPr>
        <p:spPr>
          <a:xfrm>
            <a:off x="8302752" y="4834249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31352" y="4773168"/>
            <a:ext cx="23500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Noto Sans CJK SC"/>
              </a:rPr>
              <a:t>连杆与末端刚度</a:t>
            </a:r>
          </a:p>
        </p:txBody>
      </p:sp>
      <p:sp>
        <p:nvSpPr>
          <p:cNvPr id="63" name="Oval 62"/>
          <p:cNvSpPr/>
          <p:nvPr/>
        </p:nvSpPr>
        <p:spPr>
          <a:xfrm>
            <a:off x="8302752" y="5099425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31352" y="5038344"/>
            <a:ext cx="23500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Noto Sans CJK SC"/>
              </a:rPr>
              <a:t>减速机壳体应力</a:t>
            </a:r>
          </a:p>
        </p:txBody>
      </p:sp>
      <p:sp>
        <p:nvSpPr>
          <p:cNvPr id="65" name="Oval 64"/>
          <p:cNvSpPr/>
          <p:nvPr/>
        </p:nvSpPr>
        <p:spPr>
          <a:xfrm>
            <a:off x="8302752" y="5364601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31352" y="5303520"/>
            <a:ext cx="23500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Noto Sans CJK SC"/>
              </a:rPr>
              <a:t>热—结构耦合变形</a:t>
            </a:r>
          </a:p>
        </p:txBody>
      </p:sp>
      <p:sp>
        <p:nvSpPr>
          <p:cNvPr id="67" name="Oval 66"/>
          <p:cNvSpPr/>
          <p:nvPr/>
        </p:nvSpPr>
        <p:spPr>
          <a:xfrm>
            <a:off x="8302752" y="5629777"/>
            <a:ext cx="100584" cy="100584"/>
          </a:xfrm>
          <a:prstGeom prst="ellipse">
            <a:avLst/>
          </a:prstGeom>
          <a:solidFill>
            <a:srgbClr val="19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31352" y="5568696"/>
            <a:ext cx="23500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FFFFFF"/>
                </a:solidFill>
                <a:latin typeface="Noto Sans CJK SC"/>
              </a:rPr>
              <a:t>轻量化 / 逆向设计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619963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B95A5"/>
                </a:solidFill>
                <a:latin typeface="Noto Sans CJK SC"/>
              </a:rPr>
              <a:t>依据 NVIDIA Warp 文档：warp.fem 支持 PDE 的 Galerkin 离散、网格/函数空间、形式积分、稀疏系统与迭代求解。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651052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AA4B5"/>
                </a:solidFill>
                <a:latin typeface="Noto Sans CJK SC"/>
              </a:rPr>
              <a:t>MJLAB / PHYSICS BACKEND REVIEW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A4B5"/>
                </a:solidFill>
                <a:latin typeface="Noto Sans CJK S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MJWarp · MJX · PhysX：机器人仿真后端对比、平台应用与 MjLab 选型建议</dc:title>
  <dc:subject>基于 MJ Warp, MJX, Physx.md，使用指定 NVIDIA 模板制作</dc:subject>
  <dc:creator>OpenAI Codex</dc:creator>
  <cp:lastModifiedBy>PptxGenJS</cp:lastModifiedBy>
  <cp:revision>1</cp:revision>
  <dcterms:created xsi:type="dcterms:W3CDTF">2026-07-09T05:57:41Z</dcterms:created>
  <dcterms:modified xsi:type="dcterms:W3CDTF">2026-07-09T05:57:41Z</dcterms:modified>
  <cp:keywords>MJWarp, MJX, PhysX, MuJoCo, robotics, simulation, MjLab</cp:keywords>
  <dc:description>All claims and recommendations are synthesized from the supplied Markdown source.</dc:description>
</cp:coreProperties>
</file>