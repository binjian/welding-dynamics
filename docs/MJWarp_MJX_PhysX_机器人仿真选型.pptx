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6"/>
    <p:sldId id="262" r:id="rId5"/>
    <p:sldId id="263" r:id="rId4"/>
    <p:sldId id="264" r:id="rId3"/>
    <p:sldId id="265" r:id="rId2"/>
    <p:sldId id="266" r:id="rId17"/>
    <p:sldId id="267" r:id="rId18"/>
    <p:sldId id="268" r:id="rId19"/>
    <p:sldId id="269" r:id="rId20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0.xml"/><Relationship Id="rId3" Type="http://schemas.openxmlformats.org/officeDocument/2006/relationships/slide" Target="slides/slide9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052560" y="-2286000"/>
            <a:ext cx="6217920" cy="6217920"/>
          </a:xfrm>
          <a:prstGeom prst="ellipse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3383280"/>
            <a:ext cx="3200400" cy="3200400"/>
          </a:xfrm>
          <a:prstGeom prst="ellipse">
            <a:avLst/>
          </a:prstGeom>
          <a:solidFill>
            <a:srgbClr val="F4F7FC"/>
          </a:solidFill>
          <a:ln w="8890">
            <a:solidFill>
              <a:srgbClr val="19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25328" y="676656"/>
            <a:ext cx="914400" cy="914400"/>
          </a:xfrm>
          <a:prstGeom prst="ellipse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90504" y="89611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83112" y="89611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36808" y="1179576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954512" y="960120"/>
            <a:ext cx="256032" cy="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972800" y="1005840"/>
            <a:ext cx="109728" cy="192024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1109960" y="1005840"/>
            <a:ext cx="118872" cy="192024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22960" y="1481328"/>
            <a:ext cx="502920" cy="8229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627632"/>
            <a:ext cx="8961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26BFF"/>
                </a:solidFill>
                <a:latin typeface="Noto Sans CJK SC"/>
              </a:rPr>
              <a:t>NVIDIA PHYSICS STACK · ROBOTICS SIMULATION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057400"/>
            <a:ext cx="105156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262626"/>
                </a:solidFill>
                <a:latin typeface="Noto Sans CJK SC"/>
              </a:rPr>
              <a:t>MJWarp · MJX · PhysX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926080"/>
            <a:ext cx="10241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26BFF"/>
                </a:solidFill>
                <a:latin typeface="Noto Sans CJK SC"/>
              </a:rPr>
              <a:t>机器人仿真后端对比、平台应用与 MjLab 选型建议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9601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27171"/>
                </a:solidFill>
                <a:latin typeface="Noto Sans CJK SC"/>
              </a:rPr>
              <a:t>从计算架构、接触保真度到训练—验证工作流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536192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4503420"/>
            <a:ext cx="137160" cy="137160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52144" y="4407408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CJK SC"/>
              </a:rPr>
              <a:t>MJX · JAX/XLA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78608" y="4407408"/>
            <a:ext cx="1664208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79" y="4503420"/>
            <a:ext cx="137160" cy="137160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1" y="4407408"/>
            <a:ext cx="127101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CJK SC"/>
              </a:rPr>
              <a:t>MJWarp · CUDA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62272" y="4407408"/>
            <a:ext cx="15544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81144" y="4503420"/>
            <a:ext cx="137160" cy="137160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91456" y="4407408"/>
            <a:ext cx="11612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CJK SC"/>
              </a:rPr>
              <a:t>PhysX · Isaac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407408"/>
            <a:ext cx="96012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55080" y="4503420"/>
            <a:ext cx="137160" cy="137160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4407408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CJK SC"/>
              </a:rPr>
              <a:t>MjLab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06247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27171"/>
                </a:solidFill>
                <a:latin typeface="Noto Sans CJK SC"/>
              </a:rPr>
              <a:t>基于《MJ Warp, MJX, Physx.md》与指定模板整理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62626"/>
                </a:solidFill>
                <a:latin typeface="Noto Sans CJK SC"/>
              </a:rPr>
              <a:t>目录 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298448"/>
            <a:ext cx="548640" cy="73152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64208"/>
            <a:ext cx="10515600" cy="786384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664208"/>
            <a:ext cx="1097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26BFF"/>
                </a:solidFill>
                <a:latin typeface="Noto Sans CJK SC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331720" y="1828800"/>
            <a:ext cx="27432" cy="45720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1719072"/>
            <a:ext cx="81381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262626"/>
                </a:solidFill>
                <a:latin typeface="Noto Sans CJK SC"/>
              </a:rPr>
              <a:t>核心结论与技术架构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048256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27171"/>
                </a:solidFill>
                <a:latin typeface="Noto Sans CJK SC"/>
              </a:rPr>
              <a:t>三种后端不是互斥替代，而是面向不同任务的组合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560320"/>
            <a:ext cx="10515600" cy="786384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560320"/>
            <a:ext cx="1097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4C58D"/>
                </a:solidFill>
                <a:latin typeface="Noto Sans CJK SC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2724912"/>
            <a:ext cx="27432" cy="457200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615184"/>
            <a:ext cx="81381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262626"/>
                </a:solidFill>
                <a:latin typeface="Noto Sans CJK SC"/>
              </a:rPr>
              <a:t>接触物理与性能差异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944368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27171"/>
                </a:solidFill>
                <a:latin typeface="Noto Sans CJK SC"/>
              </a:rPr>
              <a:t>动态分支、接触求解、摩擦模型与几何复杂度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456432"/>
            <a:ext cx="10515600" cy="786384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56432"/>
            <a:ext cx="1097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E7BE5D"/>
                </a:solidFill>
                <a:latin typeface="Noto Sans CJK SC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621024"/>
            <a:ext cx="27432" cy="457200"/>
          </a:xfrm>
          <a:prstGeom prst="rect">
            <a:avLst/>
          </a:prstGeom>
          <a:solidFill>
            <a:srgbClr val="E7B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3511296"/>
            <a:ext cx="81381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262626"/>
                </a:solidFill>
                <a:latin typeface="Noto Sans CJK SC"/>
              </a:rPr>
              <a:t>人形机器人训练工作流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840480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27171"/>
                </a:solidFill>
                <a:latin typeface="Noto Sans CJK SC"/>
              </a:rPr>
              <a:t>MJX 训练 → MJWarp 验证 → 真实机器人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352544"/>
            <a:ext cx="10515600" cy="786384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52544"/>
            <a:ext cx="1097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68941"/>
                </a:solidFill>
                <a:latin typeface="Noto Sans CJK SC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31720" y="4517136"/>
            <a:ext cx="27432" cy="457200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60320" y="4407407"/>
            <a:ext cx="81381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262626"/>
                </a:solidFill>
                <a:latin typeface="Noto Sans CJK SC"/>
              </a:rPr>
              <a:t>PhysX 对比与引擎选型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736592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27171"/>
                </a:solidFill>
                <a:latin typeface="Noto Sans CJK SC"/>
              </a:rPr>
              <a:t>任务形态 · 硬件平台 · 工程生态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248656"/>
            <a:ext cx="10515600" cy="786384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48656"/>
            <a:ext cx="1097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9B7FF"/>
                </a:solidFill>
                <a:latin typeface="Noto Sans CJK SC"/>
              </a:rPr>
              <a:t>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5413248"/>
            <a:ext cx="27432" cy="457200"/>
          </a:xfrm>
          <a:prstGeom prst="rect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5303520"/>
            <a:ext cx="81381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262626"/>
                </a:solidFill>
                <a:latin typeface="Noto Sans CJK SC"/>
              </a:rPr>
              <a:t>NVIDIA 平台应用与 MjLab 路线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5632704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27171"/>
                </a:solidFill>
                <a:latin typeface="Noto Sans CJK SC"/>
              </a:rPr>
              <a:t>新型机器人 · 焊接机器人 · 多物理场仿真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DECISION  / 核心结论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最佳答案不是单选，而是一条分层工作流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3154680" cy="4434840"/>
          </a:xfrm>
          <a:prstGeom prst="roundRect">
            <a:avLst>
              <a:gd name="adj" fmla="val 8000"/>
            </a:avLst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48256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9B7FF"/>
                </a:solidFill>
                <a:latin typeface="Noto Sans CJK SC"/>
              </a:rPr>
              <a:t>套组合策略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493008"/>
            <a:ext cx="265176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训练吞吐量
×
物理保真度
×
工程生态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5257800"/>
            <a:ext cx="2057400" cy="0"/>
          </a:xfrm>
          <a:prstGeom prst="line">
            <a:avLst/>
          </a:prstGeom>
          <a:ln w="12700">
            <a:solidFill>
              <a:srgbClr val="2A4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05840" y="540410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4CFE6"/>
                </a:solidFill>
                <a:latin typeface="Noto Sans CJK SC"/>
              </a:rPr>
              <a:t>按任务阶段切换后端，
比押注单一引擎更稳妥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91640"/>
            <a:ext cx="7040880" cy="1252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2011680"/>
            <a:ext cx="585216" cy="585216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201168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1865376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Noto Sans CJK SC"/>
              </a:rPr>
              <a:t>MJX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1883664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51775" y="1883664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26DE5"/>
                </a:solidFill>
                <a:latin typeface="Noto Sans CJK SC"/>
              </a:rPr>
              <a:t>训练引擎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2276856"/>
            <a:ext cx="55321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大规模并行 · JAX 生态
运动策略 / 简单接触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108960"/>
            <a:ext cx="7040880" cy="1252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53712" y="3429000"/>
            <a:ext cx="585216" cy="585216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342900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6672" y="3282696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Noto Sans CJK SC"/>
              </a:rPr>
              <a:t>MJWarp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9480" y="3300984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5" y="3300984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C58D"/>
                </a:solidFill>
                <a:latin typeface="Noto Sans CJK SC"/>
              </a:rPr>
              <a:t>验证与复杂交互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694176"/>
            <a:ext cx="55321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动态接触 · 复杂几何
灵巧操作 / 高保真验证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526280"/>
            <a:ext cx="7040880" cy="1252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53712" y="4846320"/>
            <a:ext cx="585216" cy="585216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53712" y="484632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76672" y="4700016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Noto Sans CJK SC"/>
              </a:rPr>
              <a:t>PhysX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69480" y="4718304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1775" y="4718304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68941"/>
                </a:solidFill>
                <a:latin typeface="Noto Sans CJK SC"/>
              </a:rPr>
              <a:t>工程与大场景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111496"/>
            <a:ext cx="55321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Isaac / Omniverse 生态
传感器 · 资产 · 通用仿真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5943600"/>
            <a:ext cx="7040880" cy="18288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ARCHITECTURE  / 底层计算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计算范式决定了各自擅长的物理问题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00784"/>
            <a:ext cx="3346704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38528"/>
            <a:ext cx="566928" cy="566928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</a:rPr>
              <a:t>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1847088"/>
            <a:ext cx="2148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62626"/>
                </a:solidFill>
                <a:latin typeface="Noto Sans CJK SC"/>
              </a:rPr>
              <a:t>MJX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2221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26DE5"/>
                </a:solidFill>
                <a:latin typeface="Noto Sans CJK SC"/>
              </a:rPr>
              <a:t>JAX / XLA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761488"/>
            <a:ext cx="2889504" cy="658368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761488"/>
            <a:ext cx="288950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26DE5"/>
                </a:solidFill>
                <a:latin typeface="Noto Sans CJK SC"/>
              </a:rPr>
              <a:t>静态计算图</a:t>
            </a:r>
          </a:p>
        </p:txBody>
      </p:sp>
      <p:sp>
        <p:nvSpPr>
          <p:cNvPr id="13" name="Oval 12"/>
          <p:cNvSpPr/>
          <p:nvPr/>
        </p:nvSpPr>
        <p:spPr>
          <a:xfrm>
            <a:off x="1143000" y="3776654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611880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大批量同构环境</a:t>
            </a:r>
          </a:p>
        </p:txBody>
      </p:sp>
      <p:sp>
        <p:nvSpPr>
          <p:cNvPr id="15" name="Oval 14"/>
          <p:cNvSpPr/>
          <p:nvPr/>
        </p:nvSpPr>
        <p:spPr>
          <a:xfrm>
            <a:off x="1143000" y="4288718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123944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固定大小数据结构</a:t>
            </a:r>
          </a:p>
        </p:txBody>
      </p:sp>
      <p:sp>
        <p:nvSpPr>
          <p:cNvPr id="17" name="Oval 16"/>
          <p:cNvSpPr/>
          <p:nvPr/>
        </p:nvSpPr>
        <p:spPr>
          <a:xfrm>
            <a:off x="1143000" y="4800782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636008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TPU / GPU / Mac 可用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51560" y="5285232"/>
            <a:ext cx="2889504" cy="0"/>
          </a:xfrm>
          <a:prstGeom prst="line">
            <a:avLst/>
          </a:prstGeom>
          <a:ln w="12700">
            <a:solidFill>
              <a:srgbClr val="E4E9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78992" y="53949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Noto Sans CJK SC"/>
              </a:rPr>
              <a:t>优势：向量化吞吐与 JAX 工作流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8" y="1700784"/>
            <a:ext cx="3346704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36008" y="1938528"/>
            <a:ext cx="566928" cy="566928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19385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0096" y="1847088"/>
            <a:ext cx="2148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62626"/>
                </a:solidFill>
                <a:latin typeface="Noto Sans CJK SC"/>
              </a:rPr>
              <a:t>MJWarp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2221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4C58D"/>
                </a:solidFill>
                <a:latin typeface="Noto Sans CJK SC"/>
              </a:rPr>
              <a:t>NVIDIA Warp / CUDA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6008" y="2761488"/>
            <a:ext cx="2889504" cy="658368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2761488"/>
            <a:ext cx="288950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4C58D"/>
                </a:solidFill>
                <a:latin typeface="Noto Sans CJK SC"/>
              </a:rPr>
              <a:t>SIMT 动态内核</a:t>
            </a:r>
          </a:p>
        </p:txBody>
      </p:sp>
      <p:sp>
        <p:nvSpPr>
          <p:cNvPr id="28" name="Oval 27"/>
          <p:cNvSpPr/>
          <p:nvPr/>
        </p:nvSpPr>
        <p:spPr>
          <a:xfrm>
            <a:off x="4727448" y="3776654"/>
            <a:ext cx="100584" cy="10058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56048" y="3611880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线程可独立分支</a:t>
            </a:r>
          </a:p>
        </p:txBody>
      </p:sp>
      <p:sp>
        <p:nvSpPr>
          <p:cNvPr id="30" name="Oval 29"/>
          <p:cNvSpPr/>
          <p:nvPr/>
        </p:nvSpPr>
        <p:spPr>
          <a:xfrm>
            <a:off x="4727448" y="4288718"/>
            <a:ext cx="100584" cy="10058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4123944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仅计算活跃接触</a:t>
            </a:r>
          </a:p>
        </p:txBody>
      </p:sp>
      <p:sp>
        <p:nvSpPr>
          <p:cNvPr id="32" name="Oval 31"/>
          <p:cNvSpPr/>
          <p:nvPr/>
        </p:nvSpPr>
        <p:spPr>
          <a:xfrm>
            <a:off x="4727448" y="4800782"/>
            <a:ext cx="100584" cy="10058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56048" y="4636008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面向 NVIDIA GPU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636008" y="5285232"/>
            <a:ext cx="2889504" cy="0"/>
          </a:xfrm>
          <a:prstGeom prst="line">
            <a:avLst/>
          </a:prstGeom>
          <a:ln w="12700">
            <a:solidFill>
              <a:srgbClr val="E4E9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663440" y="53949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Noto Sans CJK SC"/>
              </a:rPr>
              <a:t>优势：接触丰富场景与复杂几何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1700784"/>
            <a:ext cx="3346704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0456" y="1938528"/>
            <a:ext cx="566928" cy="566928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0456" y="19385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</a:rPr>
              <a:t>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4544" y="1847088"/>
            <a:ext cx="2148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62626"/>
                </a:solidFill>
                <a:latin typeface="Noto Sans CJK SC"/>
              </a:rPr>
              <a:t>PhysX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4544" y="2221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68941"/>
                </a:solidFill>
                <a:latin typeface="Noto Sans CJK SC"/>
              </a:rPr>
              <a:t>Isaac Sim / Lab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0456" y="2761488"/>
            <a:ext cx="2889504" cy="658368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0456" y="2761488"/>
            <a:ext cx="288950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68941"/>
                </a:solidFill>
                <a:latin typeface="Noto Sans CJK SC"/>
              </a:rPr>
              <a:t>通用实时引擎</a:t>
            </a:r>
          </a:p>
        </p:txBody>
      </p:sp>
      <p:sp>
        <p:nvSpPr>
          <p:cNvPr id="43" name="Oval 42"/>
          <p:cNvSpPr/>
          <p:nvPr/>
        </p:nvSpPr>
        <p:spPr>
          <a:xfrm>
            <a:off x="8311896" y="3776654"/>
            <a:ext cx="100584" cy="10058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40496" y="3611880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TGS 约束求解</a:t>
            </a:r>
          </a:p>
        </p:txBody>
      </p:sp>
      <p:sp>
        <p:nvSpPr>
          <p:cNvPr id="45" name="Oval 44"/>
          <p:cNvSpPr/>
          <p:nvPr/>
        </p:nvSpPr>
        <p:spPr>
          <a:xfrm>
            <a:off x="8311896" y="4288718"/>
            <a:ext cx="100584" cy="10058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0496" y="4123944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大型场景与传感器</a:t>
            </a:r>
          </a:p>
        </p:txBody>
      </p:sp>
      <p:sp>
        <p:nvSpPr>
          <p:cNvPr id="47" name="Oval 46"/>
          <p:cNvSpPr/>
          <p:nvPr/>
        </p:nvSpPr>
        <p:spPr>
          <a:xfrm>
            <a:off x="8311896" y="4800782"/>
            <a:ext cx="100584" cy="10058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4636008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Omniverse 资产生态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220456" y="5285232"/>
            <a:ext cx="2889504" cy="0"/>
          </a:xfrm>
          <a:prstGeom prst="line">
            <a:avLst/>
          </a:prstGeom>
          <a:ln w="12700">
            <a:solidFill>
              <a:srgbClr val="E4E9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247888" y="53949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Noto Sans CJK SC"/>
              </a:rPr>
              <a:t>优势：成熟工具链与工程集成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PERFORMANCE  / MJX vs MJWarp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接触越复杂，动态计算的价值越明显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64208"/>
            <a:ext cx="2880360" cy="1874519"/>
          </a:xfrm>
          <a:prstGeom prst="roundRect">
            <a:avLst>
              <a:gd name="adj" fmla="val 8000"/>
            </a:avLst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</a:rPr>
              <a:t>50–100×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B7FF"/>
                </a:solidFill>
                <a:latin typeface="Noto Sans CJK SC"/>
              </a:rPr>
              <a:t>复杂操作任务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07792"/>
            <a:ext cx="2423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C4CFE6"/>
                </a:solidFill>
                <a:latin typeface="Noto Sans CJK SC"/>
              </a:rPr>
              <a:t>原文给出的 MJWarp 相对 MJX
性能量级（取决于场景）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03320"/>
            <a:ext cx="2880360" cy="22402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77639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926DE5"/>
                </a:solidFill>
                <a:latin typeface="Noto Sans CJK SC"/>
              </a:rPr>
              <a:t>4000+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90288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Noto Sans CJK SC"/>
              </a:rPr>
              <a:t>并行人形环境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047488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原文用于说明 MJX 在
运动策略训练中的吞吐优势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1664208"/>
            <a:ext cx="1874519" cy="50292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1664208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维度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59" y="1664208"/>
            <a:ext cx="2697480" cy="502920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59" y="166420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MJX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9640" y="1664208"/>
            <a:ext cx="2697480" cy="502920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66420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MJWarp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2267712"/>
            <a:ext cx="1874519" cy="621792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0791" y="2267712"/>
            <a:ext cx="172821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Noto Sans CJK SC"/>
              </a:rPr>
              <a:t>接触规模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59" y="2267712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25312" y="2267712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少且可预测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49640" y="2267712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22792" y="2267712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多且动态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2980944"/>
            <a:ext cx="1874519" cy="621792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50791" y="2980944"/>
            <a:ext cx="172821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Noto Sans CJK SC"/>
              </a:rPr>
              <a:t>数据结构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59" y="2980944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25312" y="2980944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固定 / 填充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2980944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22792" y="2980944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按活跃接触计算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7639" y="3694176"/>
            <a:ext cx="1874519" cy="621792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0791" y="3694176"/>
            <a:ext cx="172821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Noto Sans CJK SC"/>
              </a:rPr>
              <a:t>复杂网格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59" y="3694176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25312" y="3694176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扩展性较弱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49640" y="3694176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22792" y="3694176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更适合复杂几何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77639" y="4407408"/>
            <a:ext cx="1874519" cy="621792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50791" y="4407408"/>
            <a:ext cx="172821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Noto Sans CJK SC"/>
              </a:rPr>
              <a:t>主要任务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59" y="4407408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5312" y="4407408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移动 / 步态训练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49640" y="4407408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2792" y="4407408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操作 / 装配 / 抓取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7639" y="5120640"/>
            <a:ext cx="1874519" cy="621792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50791" y="5120640"/>
            <a:ext cx="172821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Noto Sans CJK SC"/>
              </a:rPr>
              <a:t>关键平台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59" y="5120640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25312" y="5120640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JAX · TPU · GPU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49640" y="5120640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5120640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CUDA · NVIDIA GPU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77639" y="5888736"/>
            <a:ext cx="7315200" cy="21945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CONTACT PHYSICS  / 接触保真度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“蹦床效应”来自软接触，“硬着陆”来自约束求解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64208"/>
            <a:ext cx="5056632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1920240"/>
            <a:ext cx="566928" cy="566928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9202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3936" y="1865376"/>
            <a:ext cx="3867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Noto Sans CJK SC"/>
              </a:rPr>
              <a:t>MJX · 软接触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3936" y="2267712"/>
            <a:ext cx="3867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26DE5"/>
                </a:solidFill>
                <a:latin typeface="Noto Sans CJK SC"/>
              </a:rPr>
              <a:t>平滑、静态、训练友好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38528" y="3218688"/>
            <a:ext cx="2825496" cy="56692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651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38528" y="3218688"/>
            <a:ext cx="282549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Noto Sans CJK SC"/>
              </a:rPr>
              <a:t>机器人脚 / 刚体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03804" y="3749039"/>
            <a:ext cx="146304" cy="73152"/>
          </a:xfrm>
          <a:prstGeom prst="line">
            <a:avLst/>
          </a:prstGeom>
          <a:ln w="22860">
            <a:solidFill>
              <a:srgbClr val="926D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3150108" y="3749039"/>
            <a:ext cx="146304" cy="73152"/>
          </a:xfrm>
          <a:prstGeom prst="line">
            <a:avLst/>
          </a:prstGeom>
          <a:ln w="22860">
            <a:solidFill>
              <a:srgbClr val="926D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96412" y="3749039"/>
            <a:ext cx="146304" cy="73152"/>
          </a:xfrm>
          <a:prstGeom prst="line">
            <a:avLst/>
          </a:prstGeom>
          <a:ln w="22860">
            <a:solidFill>
              <a:srgbClr val="926D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3442716" y="3749039"/>
            <a:ext cx="146304" cy="73152"/>
          </a:xfrm>
          <a:prstGeom prst="line">
            <a:avLst/>
          </a:prstGeom>
          <a:ln w="22860">
            <a:solidFill>
              <a:srgbClr val="926D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589020" y="3749039"/>
            <a:ext cx="146304" cy="73152"/>
          </a:xfrm>
          <a:prstGeom prst="line">
            <a:avLst/>
          </a:prstGeom>
          <a:ln w="22860">
            <a:solidFill>
              <a:srgbClr val="926D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426464" y="3931920"/>
            <a:ext cx="3849624" cy="164592"/>
          </a:xfrm>
          <a:prstGeom prst="rect">
            <a:avLst/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4197096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26DE5"/>
                </a:solidFill>
                <a:latin typeface="Noto Sans CJK SC"/>
              </a:rPr>
              <a:t>d &lt; 0  →  F ≈ k·d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572000"/>
            <a:ext cx="405079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允许微小穿透 · 罚函数
地面像微观弹簧，训练更平滑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1928" y="1664208"/>
            <a:ext cx="5056632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37960" y="1920240"/>
            <a:ext cx="566928" cy="566928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9202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</a:rPr>
              <a:t>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2904" y="1865376"/>
            <a:ext cx="3867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Noto Sans CJK SC"/>
              </a:rPr>
              <a:t>MJWarp · 硬接触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2267712"/>
            <a:ext cx="3867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4C58D"/>
                </a:solidFill>
                <a:latin typeface="Noto Sans CJK SC"/>
              </a:rPr>
              <a:t>动态、严格、验证友好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97496" y="3081528"/>
            <a:ext cx="2825496" cy="56692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651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97496" y="3081528"/>
            <a:ext cx="282549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Noto Sans CJK SC"/>
              </a:rPr>
              <a:t>机器人脚 / 刚体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85432" y="3803904"/>
            <a:ext cx="3849624" cy="164592"/>
          </a:xfrm>
          <a:prstGeom prst="rect">
            <a:avLst/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8609076" y="3520439"/>
            <a:ext cx="402336" cy="512064"/>
          </a:xfrm>
          <a:prstGeom prst="upArrow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6288" y="4059936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4C58D"/>
                </a:solidFill>
                <a:latin typeface="Noto Sans CJK SC"/>
              </a:rPr>
              <a:t>d = 0  →  瞬时冲量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4572000"/>
            <a:ext cx="405079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严格非穿透 · 约束求解
冲击与振动更接近真实硬地面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559552"/>
            <a:ext cx="10515600" cy="566928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5559552"/>
            <a:ext cx="1143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26BFF"/>
                </a:solidFill>
                <a:latin typeface="Noto Sans CJK SC"/>
              </a:rPr>
              <a:t>摩擦模型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5559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MJX：金字塔近似 → 可能出现方向性伪影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559552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MJWarp：椭圆摩擦锥 → 粘滞—滑动过渡更连续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ROOT CAUSE  / 根本原因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动态分支与静态图，决定了接触处理方式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5047488" cy="4407408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74519"/>
            <a:ext cx="4480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4C58D"/>
                </a:solidFill>
                <a:latin typeface="Noto Sans CJK SC"/>
              </a:rPr>
              <a:t>MJWarp · 每个线程可独立决策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25296" y="2633472"/>
            <a:ext cx="1234440" cy="621792"/>
          </a:xfrm>
          <a:prstGeom prst="roundRect">
            <a:avLst>
              <a:gd name="adj" fmla="val 8000"/>
            </a:avLst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633472"/>
            <a:ext cx="112471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Noto Sans CJK SC"/>
              </a:rPr>
              <a:t>检测接触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288" y="2578608"/>
            <a:ext cx="1005840" cy="749808"/>
          </a:xfrm>
          <a:prstGeom prst="roundRect">
            <a:avLst>
              <a:gd name="adj" fmla="val 8000"/>
            </a:avLst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1" y="2578608"/>
            <a:ext cx="89611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Noto Sans CJK SC"/>
              </a:rPr>
              <a:t>运行约束求解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4" y="4224528"/>
            <a:ext cx="1225296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72968" y="4224528"/>
            <a:ext cx="111556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27171"/>
                </a:solidFill>
                <a:latin typeface="Noto Sans CJK SC"/>
              </a:rPr>
              <a:t>跳过</a:t>
            </a:r>
          </a:p>
        </p:txBody>
      </p:sp>
      <p:sp>
        <p:nvSpPr>
          <p:cNvPr id="14" name="Diamond 13"/>
          <p:cNvSpPr/>
          <p:nvPr/>
        </p:nvSpPr>
        <p:spPr>
          <a:xfrm>
            <a:off x="2971800" y="2441448"/>
            <a:ext cx="1371600" cy="100584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2578608"/>
            <a:ext cx="87782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4C58D"/>
                </a:solidFill>
                <a:latin typeface="Noto Sans CJK SC"/>
              </a:rPr>
              <a:t>接触
活跃？</a:t>
            </a:r>
          </a:p>
        </p:txBody>
      </p:sp>
      <p:sp>
        <p:nvSpPr>
          <p:cNvPr id="16" name="Chevron 15"/>
          <p:cNvSpPr/>
          <p:nvPr/>
        </p:nvSpPr>
        <p:spPr>
          <a:xfrm>
            <a:off x="2542032" y="2779776"/>
            <a:ext cx="292608" cy="310896"/>
          </a:xfrm>
          <a:prstGeom prst="chevron">
            <a:avLst>
              <a:gd name="adj" fmla="val 22000"/>
            </a:avLst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4352544" y="2779776"/>
            <a:ext cx="201168" cy="310896"/>
          </a:xfrm>
          <a:prstGeom prst="chevron">
            <a:avLst>
              <a:gd name="adj" fmla="val 22000"/>
            </a:avLst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251460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4C58D"/>
                </a:solidFill>
                <a:latin typeface="Noto Sans CJK SC"/>
              </a:rPr>
              <a:t>是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456432" y="3465576"/>
            <a:ext cx="402336" cy="585216"/>
          </a:xfrm>
          <a:prstGeom prst="downArrow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3602736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27171"/>
                </a:solidFill>
                <a:latin typeface="Noto Sans CJK SC"/>
              </a:rPr>
              <a:t>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98448" y="5257800"/>
            <a:ext cx="4251960" cy="530352"/>
          </a:xfrm>
          <a:prstGeom prst="roundRect">
            <a:avLst>
              <a:gd name="adj" fmla="val 8000"/>
            </a:avLst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8448" y="5257800"/>
            <a:ext cx="4251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LCP / 迭代求解 → 严格非穿透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1691640"/>
            <a:ext cx="5065776" cy="4407408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1874519"/>
            <a:ext cx="4480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926DE5"/>
                </a:solidFill>
                <a:latin typeface="Noto Sans CJK SC"/>
              </a:rPr>
              <a:t>MJX · 所有环境共享静态计算图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2578608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578608"/>
            <a:ext cx="13258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SC"/>
              </a:rPr>
              <a:t>固定接触槽位</a:t>
            </a:r>
          </a:p>
        </p:txBody>
      </p:sp>
      <p:sp>
        <p:nvSpPr>
          <p:cNvPr id="27" name="Chevron 26"/>
          <p:cNvSpPr/>
          <p:nvPr/>
        </p:nvSpPr>
        <p:spPr>
          <a:xfrm>
            <a:off x="8165592" y="2743200"/>
            <a:ext cx="228600" cy="310896"/>
          </a:xfrm>
          <a:prstGeom prst="chevron">
            <a:avLst>
              <a:gd name="adj" fmla="val 22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0" y="2578608"/>
            <a:ext cx="15544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578608"/>
            <a:ext cx="14630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26DE5"/>
                </a:solidFill>
                <a:latin typeface="Noto Sans CJK SC"/>
              </a:rPr>
              <a:t>填充到最坏情况</a:t>
            </a:r>
          </a:p>
        </p:txBody>
      </p:sp>
      <p:sp>
        <p:nvSpPr>
          <p:cNvPr id="30" name="Chevron 29"/>
          <p:cNvSpPr/>
          <p:nvPr/>
        </p:nvSpPr>
        <p:spPr>
          <a:xfrm>
            <a:off x="9857232" y="2743200"/>
            <a:ext cx="228600" cy="310896"/>
          </a:xfrm>
          <a:prstGeom prst="chevron">
            <a:avLst>
              <a:gd name="adj" fmla="val 22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21240" y="2578608"/>
            <a:ext cx="1051560" cy="640080"/>
          </a:xfrm>
          <a:prstGeom prst="roundRect">
            <a:avLst>
              <a:gd name="adj" fmla="val 8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2578608"/>
            <a:ext cx="96011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SC"/>
              </a:rPr>
              <a:t>连续罚函数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502152"/>
            <a:ext cx="4297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Noto Sans CJK SC"/>
              </a:rPr>
              <a:t>所有批次执行同一序列</a:t>
            </a:r>
          </a:p>
        </p:txBody>
      </p:sp>
      <p:sp>
        <p:nvSpPr>
          <p:cNvPr id="34" name="Oval 33"/>
          <p:cNvSpPr/>
          <p:nvPr/>
        </p:nvSpPr>
        <p:spPr>
          <a:xfrm>
            <a:off x="6995160" y="4084259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3950208"/>
            <a:ext cx="3566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接触为 0 也保留槽位</a:t>
            </a:r>
          </a:p>
        </p:txBody>
      </p:sp>
      <p:sp>
        <p:nvSpPr>
          <p:cNvPr id="36" name="Oval 35"/>
          <p:cNvSpPr/>
          <p:nvPr/>
        </p:nvSpPr>
        <p:spPr>
          <a:xfrm>
            <a:off x="6995160" y="4523171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0" y="4389120"/>
            <a:ext cx="3566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连续梯度更适合优化</a:t>
            </a:r>
          </a:p>
        </p:txBody>
      </p:sp>
      <p:sp>
        <p:nvSpPr>
          <p:cNvPr id="38" name="Oval 37"/>
          <p:cNvSpPr/>
          <p:nvPr/>
        </p:nvSpPr>
        <p:spPr>
          <a:xfrm>
            <a:off x="6995160" y="4962083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0" y="4828032"/>
            <a:ext cx="3566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复杂接触会引入填充开销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0" y="5257800"/>
            <a:ext cx="4297680" cy="530352"/>
          </a:xfrm>
          <a:prstGeom prst="roundRect">
            <a:avLst>
              <a:gd name="adj" fmla="val 8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5257800"/>
            <a:ext cx="42976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平滑力—位移关系 → 软接触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HUMANOID  / 人形机器人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用 MJX 训练，用 MJWarp 揭示真实世界会放大的问题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907792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066543"/>
            <a:ext cx="786384" cy="310896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66543"/>
            <a:ext cx="786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26DE5"/>
                </a:solidFill>
                <a:latin typeface="Noto Sans CJK SC"/>
              </a:rPr>
              <a:t>阶段 1</a:t>
            </a:r>
          </a:p>
        </p:txBody>
      </p:sp>
      <p:sp>
        <p:nvSpPr>
          <p:cNvPr id="9" name="Oval 8"/>
          <p:cNvSpPr/>
          <p:nvPr/>
        </p:nvSpPr>
        <p:spPr>
          <a:xfrm>
            <a:off x="1965960" y="2542032"/>
            <a:ext cx="621792" cy="621792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2542032"/>
            <a:ext cx="6217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23591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62626"/>
                </a:solidFill>
                <a:latin typeface="Noto Sans CJK SC"/>
              </a:rPr>
              <a:t>MJX 批量训练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931920"/>
            <a:ext cx="226771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数千并行环境
领域随机化
快速策略迭代</a:t>
            </a:r>
          </a:p>
        </p:txBody>
      </p:sp>
      <p:sp>
        <p:nvSpPr>
          <p:cNvPr id="13" name="Chevron 12"/>
          <p:cNvSpPr/>
          <p:nvPr/>
        </p:nvSpPr>
        <p:spPr>
          <a:xfrm>
            <a:off x="3867912" y="3063240"/>
            <a:ext cx="713232" cy="530352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33672" y="1828800"/>
            <a:ext cx="2907792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62272" y="2066543"/>
            <a:ext cx="786384" cy="310896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2066543"/>
            <a:ext cx="786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C58D"/>
                </a:solidFill>
                <a:latin typeface="Noto Sans CJK SC"/>
              </a:rPr>
              <a:t>阶段 2</a:t>
            </a:r>
          </a:p>
        </p:txBody>
      </p:sp>
      <p:sp>
        <p:nvSpPr>
          <p:cNvPr id="17" name="Oval 16"/>
          <p:cNvSpPr/>
          <p:nvPr/>
        </p:nvSpPr>
        <p:spPr>
          <a:xfrm>
            <a:off x="5376672" y="2542032"/>
            <a:ext cx="621792" cy="621792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6672" y="2542032"/>
            <a:ext cx="6217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3355848"/>
            <a:ext cx="23591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62626"/>
                </a:solidFill>
                <a:latin typeface="Noto Sans CJK SC"/>
              </a:rPr>
              <a:t>MJWarp 高保真验证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3931920"/>
            <a:ext cx="226771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硬接触冲击
摩擦与滑移
不平坦地形</a:t>
            </a:r>
          </a:p>
        </p:txBody>
      </p:sp>
      <p:sp>
        <p:nvSpPr>
          <p:cNvPr id="21" name="Chevron 20"/>
          <p:cNvSpPr/>
          <p:nvPr/>
        </p:nvSpPr>
        <p:spPr>
          <a:xfrm>
            <a:off x="7278624" y="3063240"/>
            <a:ext cx="713232" cy="530352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44383" y="1828800"/>
            <a:ext cx="2907792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72983" y="2066543"/>
            <a:ext cx="786384" cy="310896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72983" y="2066543"/>
            <a:ext cx="786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68941"/>
                </a:solidFill>
                <a:latin typeface="Noto Sans CJK SC"/>
              </a:rPr>
              <a:t>阶段 3</a:t>
            </a:r>
          </a:p>
        </p:txBody>
      </p:sp>
      <p:sp>
        <p:nvSpPr>
          <p:cNvPr id="25" name="Oval 24"/>
          <p:cNvSpPr/>
          <p:nvPr/>
        </p:nvSpPr>
        <p:spPr>
          <a:xfrm>
            <a:off x="8787384" y="2542032"/>
            <a:ext cx="621792" cy="621792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87384" y="2542032"/>
            <a:ext cx="6217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18704" y="3355848"/>
            <a:ext cx="23591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62626"/>
                </a:solidFill>
                <a:latin typeface="Noto Sans CJK SC"/>
              </a:rPr>
              <a:t>真实机器人部署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64423" y="3931920"/>
            <a:ext cx="226771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低速安全验证
传感器闭环
逐步放开边界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394960"/>
            <a:ext cx="10515600" cy="658368"/>
          </a:xfrm>
          <a:prstGeom prst="roundRect">
            <a:avLst>
              <a:gd name="adj" fmla="val 8000"/>
            </a:avLst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539496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9B7FF"/>
                </a:solidFill>
                <a:latin typeface="Noto Sans CJK SC"/>
              </a:rPr>
              <a:t>放行门槛</a:t>
            </a:r>
          </a:p>
        </p:txBody>
      </p:sp>
      <p:sp>
        <p:nvSpPr>
          <p:cNvPr id="31" name="Oval 30"/>
          <p:cNvSpPr/>
          <p:nvPr/>
        </p:nvSpPr>
        <p:spPr>
          <a:xfrm>
            <a:off x="2359152" y="5650992"/>
            <a:ext cx="128016" cy="1280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87752" y="539496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FFFFFF"/>
                </a:solidFill>
                <a:latin typeface="Noto Sans CJK SC"/>
              </a:rPr>
              <a:t>落脚冲击峰值</a:t>
            </a:r>
          </a:p>
        </p:txBody>
      </p:sp>
      <p:sp>
        <p:nvSpPr>
          <p:cNvPr id="33" name="Oval 32"/>
          <p:cNvSpPr/>
          <p:nvPr/>
        </p:nvSpPr>
        <p:spPr>
          <a:xfrm>
            <a:off x="4663440" y="5650992"/>
            <a:ext cx="128016" cy="1280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92040" y="539496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FFFFFF"/>
                </a:solidFill>
                <a:latin typeface="Noto Sans CJK SC"/>
              </a:rPr>
              <a:t>足端滑移距离</a:t>
            </a:r>
          </a:p>
        </p:txBody>
      </p:sp>
      <p:sp>
        <p:nvSpPr>
          <p:cNvPr id="35" name="Oval 34"/>
          <p:cNvSpPr/>
          <p:nvPr/>
        </p:nvSpPr>
        <p:spPr>
          <a:xfrm>
            <a:off x="6903720" y="5650992"/>
            <a:ext cx="128016" cy="1280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539496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FFFFFF"/>
                </a:solidFill>
                <a:latin typeface="Noto Sans CJK SC"/>
              </a:rPr>
              <a:t>关节振荡 / 抖动</a:t>
            </a:r>
          </a:p>
        </p:txBody>
      </p:sp>
      <p:sp>
        <p:nvSpPr>
          <p:cNvPr id="37" name="Oval 36"/>
          <p:cNvSpPr/>
          <p:nvPr/>
        </p:nvSpPr>
        <p:spPr>
          <a:xfrm>
            <a:off x="9144000" y="5650992"/>
            <a:ext cx="128016" cy="1280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539496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FFFFFF"/>
                </a:solidFill>
                <a:latin typeface="Noto Sans CJK SC"/>
              </a:rPr>
              <a:t>不同地面成功率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COMPARISON  / MJWarp vs PhysX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机器人原生的约束表达，对比通用引擎的工程成熟度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82496"/>
            <a:ext cx="2743200" cy="1069848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C58D"/>
                </a:solidFill>
                <a:latin typeface="Noto Sans CJK SC"/>
              </a:rPr>
              <a:t>MJWarp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85416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62626"/>
                </a:solidFill>
                <a:latin typeface="Noto Sans CJK SC"/>
              </a:rPr>
              <a:t>广义坐标 · 运动学树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68880"/>
            <a:ext cx="2240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727171"/>
                </a:solidFill>
                <a:latin typeface="Noto Sans CJK SC"/>
              </a:rPr>
              <a:t>关节按定义不可分离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1682496"/>
            <a:ext cx="2743200" cy="1069848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18105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68941"/>
                </a:solidFill>
                <a:latin typeface="Noto Sans CJK SC"/>
              </a:rPr>
              <a:t>PhysX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185416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62626"/>
                </a:solidFill>
                <a:latin typeface="Noto Sans CJK SC"/>
              </a:rPr>
              <a:t>最大坐标 · 约束连接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468880"/>
            <a:ext cx="2240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727171"/>
                </a:solidFill>
                <a:latin typeface="Noto Sans CJK SC"/>
              </a:rPr>
              <a:t>TGS 降低高应力下的漂移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" y="3054096"/>
            <a:ext cx="2057400" cy="45720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" y="305409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维度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5848" y="3054096"/>
            <a:ext cx="3657600" cy="457200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3054096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MJWarp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13448" y="3054096"/>
            <a:ext cx="3886200" cy="457200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13448" y="3054096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PhysX 5 / Isaac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98448" y="3593591"/>
            <a:ext cx="2057400" cy="502920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3593591"/>
            <a:ext cx="19110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关节约束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5848" y="3593591"/>
            <a:ext cx="36576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3593591"/>
            <a:ext cx="3511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运动学树严格保持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13448" y="3593591"/>
            <a:ext cx="38862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3593591"/>
            <a:ext cx="37398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TGS 约束近似保持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98448" y="4169663"/>
            <a:ext cx="2057400" cy="502920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0" y="4169663"/>
            <a:ext cx="19110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接触 / 摩擦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55848" y="4169663"/>
            <a:ext cx="36576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29000" y="4169663"/>
            <a:ext cx="3511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硬接触 · 椭圆锥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13448" y="4169663"/>
            <a:ext cx="38862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86600" y="4169663"/>
            <a:ext cx="37398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稳定接触 · 棱锥近似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98448" y="4745736"/>
            <a:ext cx="2057400" cy="502920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0" y="4745736"/>
            <a:ext cx="19110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时间步长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55848" y="4745736"/>
            <a:ext cx="36576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4745736"/>
            <a:ext cx="3511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较大步长仍稳定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13448" y="4745736"/>
            <a:ext cx="38862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86600" y="4745736"/>
            <a:ext cx="37398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常需更小子步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98448" y="5321808"/>
            <a:ext cx="2057400" cy="502920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0" y="5321808"/>
            <a:ext cx="19110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复杂场景生态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55848" y="5321808"/>
            <a:ext cx="36576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29000" y="5321808"/>
            <a:ext cx="3511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机器人学习优先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13448" y="5321808"/>
            <a:ext cx="38862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6600" y="5321808"/>
            <a:ext cx="37398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传感器 / USD / Omniverse 完整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98448" y="5961888"/>
            <a:ext cx="9601200" cy="164592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SELECTION  / 引擎选型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先看任务形态，再看硬件与生态约束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64208"/>
            <a:ext cx="3977639" cy="50292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64208"/>
            <a:ext cx="39776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任务 / 约束</a:t>
            </a:r>
          </a:p>
        </p:txBody>
      </p:sp>
      <p:sp>
        <p:nvSpPr>
          <p:cNvPr id="8" name="Rectangle 7"/>
          <p:cNvSpPr/>
          <p:nvPr/>
        </p:nvSpPr>
        <p:spPr>
          <a:xfrm>
            <a:off x="4800600" y="1664208"/>
            <a:ext cx="2148840" cy="502920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664208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MJX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1664208"/>
            <a:ext cx="2148840" cy="502920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664208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MJWarp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98280" y="1664208"/>
            <a:ext cx="2240280" cy="502920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98280" y="1664208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PhysX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58568"/>
            <a:ext cx="3977639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258568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大规模人形 / 四足运动训练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0600" y="2258568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73268" y="245973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01868" y="245973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30468" y="245973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0" y="2258568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36408" y="2459736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65008" y="2459736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2258568"/>
            <a:ext cx="224028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5267" y="2459736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2889504"/>
            <a:ext cx="3977639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2889504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灵巧手、抓取、复杂网格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2889504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801868" y="3090672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0" y="2889504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22108" y="3090672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950708" y="3090672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79308" y="3090672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98280" y="2889504"/>
            <a:ext cx="224028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30967" y="3090672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59567" y="3090672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3520440"/>
            <a:ext cx="3977639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8" y="3520440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精密装配 / 不平坦地形验证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3520440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801868" y="3721608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49440" y="3520440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22108" y="3721608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950708" y="3721608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79308" y="3721608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98280" y="3520440"/>
            <a:ext cx="224028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030967" y="3721608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259567" y="3721608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60" y="4151376"/>
            <a:ext cx="3977639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151376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Omniverse 大场景与传感器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00600" y="4151376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01868" y="4352544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949440" y="4151376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836408" y="4352544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065008" y="4352544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98280" y="4151376"/>
            <a:ext cx="224028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16667" y="4352544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145267" y="4352544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373867" y="4352544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2960" y="4782312"/>
            <a:ext cx="3977639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24128" y="4782312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端到端可微 / JAX 优化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00600" y="4782312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573268" y="4983480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801868" y="4983480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030468" y="4983480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49440" y="4782312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950708" y="4983480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98280" y="4782312"/>
            <a:ext cx="224028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145267" y="4983480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2960" y="5413248"/>
            <a:ext cx="3977639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4128" y="5413248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TPU / Mac / 跨平台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800600" y="5413248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573268" y="561441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801868" y="561441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0468" y="561441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49440" y="5413248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50708" y="5614416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098280" y="5413248"/>
            <a:ext cx="224028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145267" y="5614416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034272" y="60807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27171"/>
                </a:solidFill>
                <a:latin typeface="Noto Sans CJK SC"/>
              </a:rPr>
              <a:t>● 首选倾向越强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APPLICATIONS  / NVIDIA 仿真平台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从 OpenUSD 场景描述到零迁移训练，形成一体化闭环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847088" cy="2999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2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1938528"/>
            <a:ext cx="502920" cy="283464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38528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26BFF"/>
                </a:solidFill>
                <a:latin typeface="Noto Sans CJK SC"/>
              </a:rPr>
              <a:t>01</a:t>
            </a:r>
          </a:p>
        </p:txBody>
      </p:sp>
      <p:sp>
        <p:nvSpPr>
          <p:cNvPr id="9" name="Oval 8"/>
          <p:cNvSpPr/>
          <p:nvPr/>
        </p:nvSpPr>
        <p:spPr>
          <a:xfrm>
            <a:off x="1453895" y="2487168"/>
            <a:ext cx="585216" cy="585216"/>
          </a:xfrm>
          <a:prstGeom prst="ellipse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3895" y="248716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2461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OpenUSD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79476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727171"/>
                </a:solidFill>
                <a:latin typeface="Noto Sans CJK SC"/>
              </a:rPr>
              <a:t>统一场景描述
资产 · 材质 · 机器人</a:t>
            </a:r>
          </a:p>
        </p:txBody>
      </p:sp>
      <p:sp>
        <p:nvSpPr>
          <p:cNvPr id="13" name="Chevron 12"/>
          <p:cNvSpPr/>
          <p:nvPr/>
        </p:nvSpPr>
        <p:spPr>
          <a:xfrm>
            <a:off x="2715768" y="2944368"/>
            <a:ext cx="329184" cy="420624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80944" y="1737360"/>
            <a:ext cx="1847088" cy="2999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9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45536" y="1938528"/>
            <a:ext cx="502920" cy="283464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45536" y="1938528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9B7FF"/>
                </a:solidFill>
                <a:latin typeface="Noto Sans CJK SC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3611879" y="2487168"/>
            <a:ext cx="585216" cy="5852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248716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32461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Isaac Sim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79476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727171"/>
                </a:solidFill>
                <a:latin typeface="Noto Sans CJK SC"/>
              </a:rPr>
              <a:t>可视化与传感器
数字场景搭建</a:t>
            </a:r>
          </a:p>
        </p:txBody>
      </p:sp>
      <p:sp>
        <p:nvSpPr>
          <p:cNvPr id="21" name="Chevron 20"/>
          <p:cNvSpPr/>
          <p:nvPr/>
        </p:nvSpPr>
        <p:spPr>
          <a:xfrm>
            <a:off x="4873752" y="2944368"/>
            <a:ext cx="329184" cy="420624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38928" y="1737360"/>
            <a:ext cx="1847088" cy="2999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03520" y="1938528"/>
            <a:ext cx="502920" cy="283464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938528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68941"/>
                </a:solidFill>
                <a:latin typeface="Noto Sans CJK SC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5769864" y="2487168"/>
            <a:ext cx="585216" cy="585216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9864" y="248716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5232" y="32461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双物理后端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5232" y="379476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727171"/>
                </a:solidFill>
                <a:latin typeface="Noto Sans CJK SC"/>
              </a:rPr>
              <a:t>PhysX 通用仿真
→ MJWarp 高保真</a:t>
            </a:r>
          </a:p>
        </p:txBody>
      </p:sp>
      <p:sp>
        <p:nvSpPr>
          <p:cNvPr id="29" name="Chevron 28"/>
          <p:cNvSpPr/>
          <p:nvPr/>
        </p:nvSpPr>
        <p:spPr>
          <a:xfrm>
            <a:off x="7031736" y="2944368"/>
            <a:ext cx="329184" cy="420624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296912" y="1737360"/>
            <a:ext cx="1847088" cy="2999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61504" y="1938528"/>
            <a:ext cx="502920" cy="283464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61504" y="1938528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4C58D"/>
                </a:solidFill>
                <a:latin typeface="Noto Sans CJK SC"/>
              </a:rPr>
              <a:t>04</a:t>
            </a:r>
          </a:p>
        </p:txBody>
      </p:sp>
      <p:sp>
        <p:nvSpPr>
          <p:cNvPr id="33" name="Oval 32"/>
          <p:cNvSpPr/>
          <p:nvPr/>
        </p:nvSpPr>
        <p:spPr>
          <a:xfrm>
            <a:off x="7927848" y="2487168"/>
            <a:ext cx="585216" cy="585216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27848" y="248716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2461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>
                <a:solidFill>
                  <a:srgbClr val="262626"/>
                </a:solidFill>
                <a:latin typeface="Noto Sans CJK SC"/>
              </a:rPr>
              <a:t>Isaac Lab / MjLab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3216" y="379476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727171"/>
                </a:solidFill>
                <a:latin typeface="Noto Sans CJK SC"/>
              </a:rPr>
              <a:t>GPU 高并发
强化学习训练</a:t>
            </a:r>
          </a:p>
        </p:txBody>
      </p:sp>
      <p:sp>
        <p:nvSpPr>
          <p:cNvPr id="37" name="Chevron 36"/>
          <p:cNvSpPr/>
          <p:nvPr/>
        </p:nvSpPr>
        <p:spPr>
          <a:xfrm>
            <a:off x="9189720" y="2944368"/>
            <a:ext cx="329184" cy="420624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454896" y="1737360"/>
            <a:ext cx="1847088" cy="2999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619488" y="1938528"/>
            <a:ext cx="502920" cy="283464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19488" y="1938528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26DE5"/>
                </a:solidFill>
                <a:latin typeface="Noto Sans CJK SC"/>
              </a:rPr>
              <a:t>05</a:t>
            </a:r>
          </a:p>
        </p:txBody>
      </p:sp>
      <p:sp>
        <p:nvSpPr>
          <p:cNvPr id="41" name="Oval 40"/>
          <p:cNvSpPr/>
          <p:nvPr/>
        </p:nvSpPr>
        <p:spPr>
          <a:xfrm>
            <a:off x="10085832" y="2487168"/>
            <a:ext cx="585216" cy="585216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5832" y="248716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32461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零迁移训练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379476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727171"/>
                </a:solidFill>
                <a:latin typeface="Noto Sans CJK SC"/>
              </a:rPr>
              <a:t>复用场景与策略链路
面向真实机器人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047488"/>
            <a:ext cx="3346704" cy="1024128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42416" y="5285232"/>
            <a:ext cx="502920" cy="502920"/>
          </a:xfrm>
          <a:prstGeom prst="ellipse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2416" y="52852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19072" y="5120640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62626"/>
                </a:solidFill>
                <a:latin typeface="Noto Sans CJK SC"/>
              </a:rPr>
              <a:t>统一场景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19072" y="5449824"/>
            <a:ext cx="221284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727171"/>
                </a:solidFill>
                <a:latin typeface="Noto Sans CJK SC"/>
              </a:rPr>
              <a:t>OpenUSD 作为资产与数据骨架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07408" y="5047488"/>
            <a:ext cx="3346704" cy="1024128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626864" y="5285232"/>
            <a:ext cx="502920" cy="502920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26864" y="52852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0" y="5120640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62626"/>
                </a:solidFill>
                <a:latin typeface="Noto Sans CJK SC"/>
              </a:rPr>
              <a:t>物理升级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0" y="5449824"/>
            <a:ext cx="221284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727171"/>
                </a:solidFill>
                <a:latin typeface="Noto Sans CJK SC"/>
              </a:rPr>
              <a:t>保留 PhysX 工程能力，引入 MJWarp 接触保真度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5047488"/>
            <a:ext cx="3346704" cy="1024128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211312" y="5285232"/>
            <a:ext cx="502920" cy="502920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52852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87968" y="5120640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62626"/>
                </a:solidFill>
                <a:latin typeface="Noto Sans CJK SC"/>
              </a:rPr>
              <a:t>训练闭环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87968" y="5449824"/>
            <a:ext cx="221284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727171"/>
                </a:solidFill>
                <a:latin typeface="Noto Sans CJK SC"/>
              </a:rPr>
              <a:t>Isaac Lab / MjLab 承接批量训练与策略复用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INDUSTRIAL  / 焊接与传动系统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焊接机器人、减速机与伺服电机：三类 GPU 仿真能力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19072"/>
            <a:ext cx="3346704" cy="2121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84248"/>
            <a:ext cx="585216" cy="585216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8424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874519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62626"/>
                </a:solidFill>
                <a:latin typeface="Noto Sans CJK SC"/>
              </a:rPr>
              <a:t>NV Warp 多体动力学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70048"/>
            <a:ext cx="27980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机器人—减速机—伺服电机
传动链的高并发仿真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15568" y="3355848"/>
            <a:ext cx="2761488" cy="301752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55848"/>
            <a:ext cx="26517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4C58D"/>
                </a:solidFill>
                <a:latin typeface="Noto Sans CJK SC"/>
              </a:rPr>
              <a:t>动力学 / 接触 / 摩擦 / 载荷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719072"/>
            <a:ext cx="3346704" cy="2121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19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36008" y="1984248"/>
            <a:ext cx="585216" cy="5852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98424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67528" y="1874519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62626"/>
                </a:solidFill>
                <a:latin typeface="Noto Sans CJK SC"/>
              </a:rPr>
              <a:t>GPU 加速 3D 视觉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2670048"/>
            <a:ext cx="27980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在 Isaac Sim 中批量生成
相机、深度与点云观测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0016" y="3355848"/>
            <a:ext cx="2761488" cy="301752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355848"/>
            <a:ext cx="26517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19B7FF"/>
                </a:solidFill>
                <a:latin typeface="Noto Sans CJK SC"/>
              </a:rPr>
              <a:t>工件定位 / 焊缝感知 / 视觉闭环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1856" y="1719072"/>
            <a:ext cx="3346704" cy="2121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0456" y="1984248"/>
            <a:ext cx="585216" cy="585216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456" y="198424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1976" y="1874519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62626"/>
                </a:solidFill>
                <a:latin typeface="Noto Sans CJK SC"/>
              </a:rPr>
              <a:t>多体 + 热力学耦合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670048"/>
            <a:ext cx="27980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将机器人运动与焊接热场
放入统一 GPU 仿真流程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3355848"/>
            <a:ext cx="2761488" cy="301752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8" y="3355848"/>
            <a:ext cx="26517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F68941"/>
                </a:solidFill>
                <a:latin typeface="Noto Sans CJK SC"/>
              </a:rPr>
              <a:t>轨迹 / 动力学 / 热输入 / 温度场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187952"/>
            <a:ext cx="10515600" cy="157276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352544"/>
            <a:ext cx="19202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26BFF"/>
                </a:solidFill>
                <a:latin typeface="Noto Sans CJK SC"/>
              </a:rPr>
              <a:t>统一数字样机闭环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0704" y="4818888"/>
            <a:ext cx="1627632" cy="704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2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5568" y="4855464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026BFF"/>
                </a:solidFill>
                <a:latin typeface="Noto Sans CJK SC"/>
              </a:rPr>
              <a:t>OpenUSD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5111496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27171"/>
                </a:solidFill>
                <a:latin typeface="Noto Sans CJK SC"/>
              </a:rPr>
              <a:t>工件 / 机器人 / 场景</a:t>
            </a:r>
          </a:p>
        </p:txBody>
      </p:sp>
      <p:sp>
        <p:nvSpPr>
          <p:cNvPr id="32" name="Chevron 31"/>
          <p:cNvSpPr/>
          <p:nvPr/>
        </p:nvSpPr>
        <p:spPr>
          <a:xfrm>
            <a:off x="2770632" y="5001768"/>
            <a:ext cx="246888" cy="31089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063239" y="4818888"/>
            <a:ext cx="1627632" cy="704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18103" y="4855464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19B7FF"/>
                </a:solidFill>
                <a:latin typeface="Noto Sans CJK SC"/>
              </a:rPr>
              <a:t>Isaac 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18103" y="5111496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27171"/>
                </a:solidFill>
                <a:latin typeface="Noto Sans CJK SC"/>
              </a:rPr>
              <a:t>可视化 / 3D 视觉</a:t>
            </a:r>
          </a:p>
        </p:txBody>
      </p:sp>
      <p:sp>
        <p:nvSpPr>
          <p:cNvPr id="36" name="Chevron 35"/>
          <p:cNvSpPr/>
          <p:nvPr/>
        </p:nvSpPr>
        <p:spPr>
          <a:xfrm>
            <a:off x="4773168" y="5001768"/>
            <a:ext cx="246888" cy="31089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65776" y="4818888"/>
            <a:ext cx="1627632" cy="704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0" y="4855464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4C58D"/>
                </a:solidFill>
                <a:latin typeface="Noto Sans CJK SC"/>
              </a:rPr>
              <a:t>NV Warp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5111496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27171"/>
                </a:solidFill>
                <a:latin typeface="Noto Sans CJK SC"/>
              </a:rPr>
              <a:t>机器人与传动链</a:t>
            </a:r>
          </a:p>
        </p:txBody>
      </p:sp>
      <p:sp>
        <p:nvSpPr>
          <p:cNvPr id="40" name="Chevron 39"/>
          <p:cNvSpPr/>
          <p:nvPr/>
        </p:nvSpPr>
        <p:spPr>
          <a:xfrm>
            <a:off x="6775704" y="5001768"/>
            <a:ext cx="246888" cy="31089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68312" y="4818888"/>
            <a:ext cx="1627632" cy="704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23176" y="4855464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F68941"/>
                </a:solidFill>
                <a:latin typeface="Noto Sans CJK SC"/>
              </a:rPr>
              <a:t>GPU 热力学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23176" y="5111496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27171"/>
                </a:solidFill>
                <a:latin typeface="Noto Sans CJK SC"/>
              </a:rPr>
              <a:t>焊接热场</a:t>
            </a:r>
          </a:p>
        </p:txBody>
      </p:sp>
      <p:sp>
        <p:nvSpPr>
          <p:cNvPr id="44" name="Chevron 43"/>
          <p:cNvSpPr/>
          <p:nvPr/>
        </p:nvSpPr>
        <p:spPr>
          <a:xfrm>
            <a:off x="8778240" y="5001768"/>
            <a:ext cx="246888" cy="31089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070848" y="4818888"/>
            <a:ext cx="1627632" cy="704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25712" y="4855464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926DE5"/>
                </a:solidFill>
                <a:latin typeface="Noto Sans CJK SC"/>
              </a:rPr>
              <a:t>MjLab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5712" y="5111496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27171"/>
                </a:solidFill>
                <a:latin typeface="Noto Sans CJK SC"/>
              </a:rPr>
              <a:t>控制 / RL / 验证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" y="5943600"/>
            <a:ext cx="10515600" cy="17373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MJLAB  / 能力路线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平台落地需要补齐八项工程能力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27632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87552" y="1792224"/>
            <a:ext cx="585216" cy="58521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792224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171907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快速 CUDA 仿真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2084832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构建更强的 Isaac Lab 训练底座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27632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64224" y="1792224"/>
            <a:ext cx="585216" cy="585216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792224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71907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执行器模型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084832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电机、减速器与控制延迟更贴近实机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706624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7552" y="2871216"/>
            <a:ext cx="585216" cy="585216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2871216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5648" y="2798064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脚部碰撞模型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3163824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聚焦落脚冲击、摩擦与滑移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706624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64224" y="2871216"/>
            <a:ext cx="585216" cy="585216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871216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798064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Warp → Newton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163824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为 Isaac Lab 的新物理后端预留接口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785615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7552" y="3950207"/>
            <a:ext cx="585216" cy="585216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3950207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5648" y="3877055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物理保真度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5648" y="4242816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建立 MJX / MJWarp / 实机一致性指标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9632" y="3785615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64224" y="3950207"/>
            <a:ext cx="585216" cy="58521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3950207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877055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训练检查点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242816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可恢复、可回放、可跨后端复现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864608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7552" y="5029200"/>
            <a:ext cx="585216" cy="585216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2" y="502920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55648" y="4956048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MuJoCo 内训练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5648" y="5321808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缩短模型、策略与验证之间的距离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2" y="4864608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64224" y="5029200"/>
            <a:ext cx="585216" cy="585216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64224" y="502920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4956048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IRL 与重定向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5321808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人形奖励学习 → 双足动作迁移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5971032"/>
            <a:ext cx="10515600" cy="18288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098280" y="3383280"/>
            <a:ext cx="4114800" cy="4114800"/>
          </a:xfrm>
          <a:prstGeom prst="ellipse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3840480" cy="3840480"/>
          </a:xfrm>
          <a:prstGeom prst="ellipse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04672"/>
            <a:ext cx="502920" cy="8229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87552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26BFF"/>
                </a:solidFill>
                <a:latin typeface="Noto Sans CJK SC"/>
              </a:rPr>
              <a:t>RECOMMENDATION  / 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417320"/>
            <a:ext cx="749807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62626"/>
                </a:solidFill>
                <a:latin typeface="Noto Sans CJK SC"/>
              </a:rPr>
              <a:t>平台、物理、应用分层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4831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26BFF"/>
                </a:solidFill>
                <a:latin typeface="Noto Sans CJK SC"/>
              </a:rPr>
              <a:t>用双试点验证 NVIDIA 仿真闭环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990088"/>
            <a:ext cx="475488" cy="475488"/>
          </a:xfrm>
          <a:prstGeom prst="ellipse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5292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Noto Sans CJK SC"/>
              </a:rPr>
              <a:t>OpenUSD 统一场景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852928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让资产、传感器与仿真数据跨阶段复用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600200" y="3547872"/>
            <a:ext cx="7360920" cy="0"/>
          </a:xfrm>
          <a:prstGeom prst="line">
            <a:avLst/>
          </a:prstGeom>
          <a:ln w="10160">
            <a:solidFill>
              <a:srgbClr val="E4E9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14400" y="3931920"/>
            <a:ext cx="475488" cy="475488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794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Noto Sans CJK SC"/>
              </a:rPr>
              <a:t>双物理后端分工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79476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PhysX 承接通用工程，MJWarp 承接高保真与并发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00200" y="4489704"/>
            <a:ext cx="7360920" cy="0"/>
          </a:xfrm>
          <a:prstGeom prst="line">
            <a:avLst/>
          </a:prstGeom>
          <a:ln w="10160">
            <a:solidFill>
              <a:srgbClr val="E4E9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914400" y="4873752"/>
            <a:ext cx="475488" cy="475488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737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7365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Noto Sans CJK SC"/>
              </a:rPr>
              <a:t>双应用试点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4736592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新型机器人零迁移训练 + 焊接机器人多物理场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961888"/>
            <a:ext cx="548640" cy="73152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099048"/>
            <a:ext cx="9692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27171"/>
                </a:solidFill>
                <a:latin typeface="Noto Sans CJK SC"/>
              </a:rPr>
              <a:t>下一步：以同一 OpenUSD 场景建立 Isaac Sim → MJWarp / MjLab → 实机回归基线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MJWarp · MJX · PhysX：机器人仿真后端对比、平台应用与 MjLab 选型建议</dc:title>
  <dc:subject>基于 MJ Warp, MJX, Physx.md，使用指定 NVIDIA 模板制作</dc:subject>
  <dc:creator>OpenAI Codex</dc:creator>
  <cp:lastModifiedBy>PptxGenJS</cp:lastModifiedBy>
  <cp:revision>1</cp:revision>
  <dcterms:created xsi:type="dcterms:W3CDTF">2026-07-09T05:57:41Z</dcterms:created>
  <dcterms:modified xsi:type="dcterms:W3CDTF">2026-07-09T05:57:41Z</dcterms:modified>
  <cp:keywords>MJWarp, MJX, PhysX, MuJoCo, robotics, simulation, MjLab</cp:keywords>
  <dc:description>All claims and recommendations are synthesized from the supplied Markdown source.</dc:description>
</cp:coreProperties>
</file>