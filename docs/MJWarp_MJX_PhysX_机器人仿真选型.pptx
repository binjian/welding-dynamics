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6"/>
    <p:sldId id="262" r:id="rId5"/>
    <p:sldId id="263" r:id="rId4"/>
    <p:sldId id="264" r:id="rId3"/>
    <p:sldId id="265" r:id="rId2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0.xml"/><Relationship Id="rId3" Type="http://schemas.openxmlformats.org/officeDocument/2006/relationships/slide" Target="slides/slide9.xml"/><Relationship Id="rId4" Type="http://schemas.openxmlformats.org/officeDocument/2006/relationships/slide" Target="slides/slide8.xml"/><Relationship Id="rId5" Type="http://schemas.openxmlformats.org/officeDocument/2006/relationships/slide" Target="slides/slide7.xml"/><Relationship Id="rId6" Type="http://schemas.openxmlformats.org/officeDocument/2006/relationships/slide" Target="slides/slide6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052560" y="-2286000"/>
            <a:ext cx="6217920" cy="6217920"/>
          </a:xfrm>
          <a:prstGeom prst="ellipse">
            <a:avLst/>
          </a:prstGeom>
          <a:solidFill>
            <a:srgbClr val="EA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241280" y="3383280"/>
            <a:ext cx="3200400" cy="3200400"/>
          </a:xfrm>
          <a:prstGeom prst="ellipse">
            <a:avLst/>
          </a:prstGeom>
          <a:solidFill>
            <a:srgbClr val="F4F7FC"/>
          </a:solidFill>
          <a:ln w="8890">
            <a:solidFill>
              <a:srgbClr val="19B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625328" y="676656"/>
            <a:ext cx="914400" cy="914400"/>
          </a:xfrm>
          <a:prstGeom prst="ellipse">
            <a:avLst/>
          </a:prstGeom>
          <a:solidFill>
            <a:srgbClr val="026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890504" y="896112"/>
            <a:ext cx="128016" cy="128016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183112" y="896112"/>
            <a:ext cx="128016" cy="128016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036808" y="1179576"/>
            <a:ext cx="128016" cy="128016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>
            <a:off x="10954512" y="960120"/>
            <a:ext cx="256032" cy="0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972800" y="1005840"/>
            <a:ext cx="109728" cy="192024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11109960" y="1005840"/>
            <a:ext cx="118872" cy="192024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822960" y="1481328"/>
            <a:ext cx="502920" cy="82296"/>
          </a:xfrm>
          <a:prstGeom prst="rect">
            <a:avLst/>
          </a:prstGeom>
          <a:solidFill>
            <a:srgbClr val="026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1627632"/>
            <a:ext cx="896112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26BFF"/>
                </a:solidFill>
                <a:latin typeface="Noto Sans CJK SC"/>
              </a:rPr>
              <a:t>NVIDIA PHYSICS STACK · ROBOTICS SIMULATION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2057400"/>
            <a:ext cx="10515600" cy="7680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200" b="1">
                <a:solidFill>
                  <a:srgbClr val="262626"/>
                </a:solidFill>
                <a:latin typeface="Noto Sans CJK SC"/>
              </a:rPr>
              <a:t>MJWarp · MJX · PhysX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2926080"/>
            <a:ext cx="1024128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026BFF"/>
                </a:solidFill>
                <a:latin typeface="Noto Sans CJK SC"/>
              </a:rPr>
              <a:t>机器人仿真后端对比、平台应用与 MjLab 选型建议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767328"/>
            <a:ext cx="96012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727171"/>
                </a:solidFill>
                <a:latin typeface="Noto Sans CJK SC"/>
              </a:rPr>
              <a:t>从计算架构、接触保真度到训练—验证工作流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407408"/>
            <a:ext cx="1536192" cy="3291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926D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41832" y="4503420"/>
            <a:ext cx="137160" cy="137160"/>
          </a:xfrm>
          <a:prstGeom prst="ellipse">
            <a:avLst/>
          </a:prstGeom>
          <a:solidFill>
            <a:srgbClr val="926D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52144" y="4407408"/>
            <a:ext cx="114300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262626"/>
                </a:solidFill>
                <a:latin typeface="Noto Sans CJK SC"/>
              </a:rPr>
              <a:t>MJX · JAX/XLA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578608" y="4407408"/>
            <a:ext cx="1664208" cy="3291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4C5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697479" y="4503420"/>
            <a:ext cx="137160" cy="137160"/>
          </a:xfrm>
          <a:prstGeom prst="ellipse">
            <a:avLst/>
          </a:prstGeom>
          <a:solidFill>
            <a:srgbClr val="24C5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907791" y="4407408"/>
            <a:ext cx="127101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262626"/>
                </a:solidFill>
                <a:latin typeface="Noto Sans CJK SC"/>
              </a:rPr>
              <a:t>MJWarp · CUDA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62272" y="4407408"/>
            <a:ext cx="1554480" cy="3291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689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581144" y="4503420"/>
            <a:ext cx="137160" cy="137160"/>
          </a:xfrm>
          <a:prstGeom prst="ellipse">
            <a:avLst/>
          </a:prstGeom>
          <a:solidFill>
            <a:srgbClr val="F68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91456" y="4407408"/>
            <a:ext cx="116128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262626"/>
                </a:solidFill>
                <a:latin typeface="Noto Sans CJK SC"/>
              </a:rPr>
              <a:t>PhysX · Isaac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36208" y="4407408"/>
            <a:ext cx="960120" cy="3291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9B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355080" y="4503420"/>
            <a:ext cx="137160" cy="137160"/>
          </a:xfrm>
          <a:prstGeom prst="ellipse">
            <a:avLst/>
          </a:prstGeom>
          <a:solidFill>
            <a:srgbClr val="19B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65392" y="4407408"/>
            <a:ext cx="56692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262626"/>
                </a:solidFill>
                <a:latin typeface="Noto Sans CJK SC"/>
              </a:rPr>
              <a:t>MjLab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" y="6062472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727171"/>
                </a:solidFill>
                <a:latin typeface="Noto Sans CJK SC"/>
              </a:rPr>
              <a:t>基于《MJ Warp, MJX, Physx.md》与指定模板整理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73152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62626"/>
                </a:solidFill>
                <a:latin typeface="Noto Sans CJK SC"/>
              </a:rPr>
              <a:t>目录  CONTENTS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841248" y="1298448"/>
            <a:ext cx="548640" cy="73152"/>
          </a:xfrm>
          <a:prstGeom prst="rect">
            <a:avLst/>
          </a:prstGeom>
          <a:solidFill>
            <a:srgbClr val="026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1664208"/>
            <a:ext cx="10515600" cy="786384"/>
          </a:xfrm>
          <a:prstGeom prst="rect">
            <a:avLst/>
          </a:prstGeom>
          <a:solidFill>
            <a:srgbClr val="F4F7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1664208"/>
            <a:ext cx="1097280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026BFF"/>
                </a:solidFill>
                <a:latin typeface="Noto Sans CJK SC"/>
              </a:rPr>
              <a:t>01</a:t>
            </a:r>
          </a:p>
        </p:txBody>
      </p:sp>
      <p:sp>
        <p:nvSpPr>
          <p:cNvPr id="6" name="Rectangle 5"/>
          <p:cNvSpPr/>
          <p:nvPr/>
        </p:nvSpPr>
        <p:spPr>
          <a:xfrm>
            <a:off x="2331720" y="1828800"/>
            <a:ext cx="27432" cy="457200"/>
          </a:xfrm>
          <a:prstGeom prst="rect">
            <a:avLst/>
          </a:prstGeom>
          <a:solidFill>
            <a:srgbClr val="026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560320" y="1719072"/>
            <a:ext cx="8138160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262626"/>
                </a:solidFill>
                <a:latin typeface="Noto Sans CJK SC"/>
              </a:rPr>
              <a:t>核心结论与技术架构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60320" y="2048256"/>
            <a:ext cx="832104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727171"/>
                </a:solidFill>
                <a:latin typeface="Noto Sans CJK SC"/>
              </a:rPr>
              <a:t>三种后端不是互斥替代，而是面向不同任务的组合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2560320"/>
            <a:ext cx="10515600" cy="786384"/>
          </a:xfrm>
          <a:prstGeom prst="rect">
            <a:avLst/>
          </a:prstGeom>
          <a:solidFill>
            <a:srgbClr val="F4F7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560320"/>
            <a:ext cx="1097280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24C58D"/>
                </a:solidFill>
                <a:latin typeface="Noto Sans CJK SC"/>
              </a:rPr>
              <a:t>02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2724912"/>
            <a:ext cx="27432" cy="457200"/>
          </a:xfrm>
          <a:prstGeom prst="rect">
            <a:avLst/>
          </a:prstGeom>
          <a:solidFill>
            <a:srgbClr val="24C5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2615184"/>
            <a:ext cx="8138160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262626"/>
                </a:solidFill>
                <a:latin typeface="Noto Sans CJK SC"/>
              </a:rPr>
              <a:t>接触物理与性能差异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20" y="2944368"/>
            <a:ext cx="832104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727171"/>
                </a:solidFill>
                <a:latin typeface="Noto Sans CJK SC"/>
              </a:rPr>
              <a:t>动态分支、接触求解、摩擦模型与几何复杂度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3456432"/>
            <a:ext cx="10515600" cy="786384"/>
          </a:xfrm>
          <a:prstGeom prst="rect">
            <a:avLst/>
          </a:prstGeom>
          <a:solidFill>
            <a:srgbClr val="F4F7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3456432"/>
            <a:ext cx="1097280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E7BE5D"/>
                </a:solidFill>
                <a:latin typeface="Noto Sans CJK SC"/>
              </a:rPr>
              <a:t>03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331720" y="3621024"/>
            <a:ext cx="27432" cy="457200"/>
          </a:xfrm>
          <a:prstGeom prst="rect">
            <a:avLst/>
          </a:prstGeom>
          <a:solidFill>
            <a:srgbClr val="E7BE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560320" y="3511296"/>
            <a:ext cx="8138160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262626"/>
                </a:solidFill>
                <a:latin typeface="Noto Sans CJK SC"/>
              </a:rPr>
              <a:t>人形机器人训练工作流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60320" y="3840480"/>
            <a:ext cx="832104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727171"/>
                </a:solidFill>
                <a:latin typeface="Noto Sans CJK SC"/>
              </a:rPr>
              <a:t>MJX 训练 → MJWarp 验证 → 真实机器人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352544"/>
            <a:ext cx="10515600" cy="786384"/>
          </a:xfrm>
          <a:prstGeom prst="rect">
            <a:avLst/>
          </a:prstGeom>
          <a:solidFill>
            <a:srgbClr val="F4F7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1560" y="4352544"/>
            <a:ext cx="1097280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F68941"/>
                </a:solidFill>
                <a:latin typeface="Noto Sans CJK SC"/>
              </a:rPr>
              <a:t>04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331720" y="4517136"/>
            <a:ext cx="27432" cy="457200"/>
          </a:xfrm>
          <a:prstGeom prst="rect">
            <a:avLst/>
          </a:prstGeom>
          <a:solidFill>
            <a:srgbClr val="F68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560320" y="4407407"/>
            <a:ext cx="8138160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262626"/>
                </a:solidFill>
                <a:latin typeface="Noto Sans CJK SC"/>
              </a:rPr>
              <a:t>PhysX 对比与引擎选型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60320" y="4736592"/>
            <a:ext cx="832104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727171"/>
                </a:solidFill>
                <a:latin typeface="Noto Sans CJK SC"/>
              </a:rPr>
              <a:t>任务形态 · 硬件平台 · 工程生态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5248656"/>
            <a:ext cx="10515600" cy="786384"/>
          </a:xfrm>
          <a:prstGeom prst="rect">
            <a:avLst/>
          </a:prstGeom>
          <a:solidFill>
            <a:srgbClr val="F4F7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51560" y="5248656"/>
            <a:ext cx="1097280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19B7FF"/>
                </a:solidFill>
                <a:latin typeface="Noto Sans CJK SC"/>
              </a:rPr>
              <a:t>05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331720" y="5413248"/>
            <a:ext cx="27432" cy="457200"/>
          </a:xfrm>
          <a:prstGeom prst="rect">
            <a:avLst/>
          </a:prstGeom>
          <a:solidFill>
            <a:srgbClr val="19B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560320" y="5303520"/>
            <a:ext cx="8138160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262626"/>
                </a:solidFill>
                <a:latin typeface="Noto Sans CJK SC"/>
              </a:rPr>
              <a:t>MjLab 路线与应用附录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560320" y="5632704"/>
            <a:ext cx="832104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727171"/>
                </a:solidFill>
                <a:latin typeface="Noto Sans CJK SC"/>
              </a:rPr>
              <a:t>能力建设 · 新型机器人 · 焊接机器人 · 多物理场仿真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" y="6510528"/>
            <a:ext cx="3657600" cy="164592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9AA4B5"/>
                </a:solidFill>
                <a:latin typeface="Noto Sans CJK SC"/>
              </a:rPr>
              <a:t>MJLAB / PHYSICS BACKEND REVIEW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881360" y="6473952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9AA4B5"/>
                </a:solidFill>
                <a:latin typeface="Noto Sans CJK SC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566928"/>
            <a:ext cx="566928" cy="566928"/>
          </a:xfrm>
          <a:prstGeom prst="rect">
            <a:avLst/>
          </a:prstGeom>
          <a:solidFill>
            <a:srgbClr val="026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Noto Sans CJK SC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36192" y="548640"/>
            <a:ext cx="960120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26BFF"/>
                </a:solidFill>
                <a:latin typeface="Noto Sans CJK SC"/>
              </a:rPr>
              <a:t>DECISION  / 核心结论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17904" y="832104"/>
            <a:ext cx="982980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262626"/>
                </a:solidFill>
                <a:latin typeface="Noto Sans CJK SC"/>
              </a:rPr>
              <a:t>最佳答案不是单选，而是一条分层工作流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691640"/>
            <a:ext cx="3154680" cy="4434840"/>
          </a:xfrm>
          <a:prstGeom prst="roundRect">
            <a:avLst>
              <a:gd name="adj" fmla="val 8000"/>
            </a:avLst>
          </a:prstGeom>
          <a:solidFill>
            <a:srgbClr val="0A2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048256"/>
            <a:ext cx="315468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0" b="1">
                <a:solidFill>
                  <a:srgbClr val="FFFFFF"/>
                </a:solidFill>
                <a:latin typeface="Noto Sans CJK SC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880360"/>
            <a:ext cx="31546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9B7FF"/>
                </a:solidFill>
                <a:latin typeface="Noto Sans CJK SC"/>
              </a:rPr>
              <a:t>套组合策略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3493008"/>
            <a:ext cx="2651760" cy="1554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Noto Sans CJK SC"/>
              </a:rPr>
              <a:t>训练吞吐量
×
物理保真度
×
工程生态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371600" y="5257800"/>
            <a:ext cx="2057400" cy="0"/>
          </a:xfrm>
          <a:prstGeom prst="line">
            <a:avLst/>
          </a:prstGeom>
          <a:ln w="12700">
            <a:solidFill>
              <a:srgbClr val="2A41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1005840" y="5404104"/>
            <a:ext cx="27889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C4CFE6"/>
                </a:solidFill>
                <a:latin typeface="Noto Sans CJK SC"/>
              </a:rPr>
              <a:t>按任务阶段切换后端，
比押注单一引擎更稳妥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0" y="1691640"/>
            <a:ext cx="7040880" cy="12527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53712" y="2011680"/>
            <a:ext cx="585216" cy="585216"/>
          </a:xfrm>
          <a:prstGeom prst="rect">
            <a:avLst/>
          </a:prstGeom>
          <a:solidFill>
            <a:srgbClr val="926D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53712" y="2011680"/>
            <a:ext cx="585216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Noto Sans CJK SC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76672" y="1865376"/>
            <a:ext cx="1874519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262626"/>
                </a:solidFill>
                <a:latin typeface="Noto Sans CJK SC"/>
              </a:rPr>
              <a:t>MJX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69480" y="1883664"/>
            <a:ext cx="1572768" cy="310896"/>
          </a:xfrm>
          <a:prstGeom prst="roundRect">
            <a:avLst>
              <a:gd name="adj" fmla="val 8000"/>
            </a:avLst>
          </a:prstGeom>
          <a:solidFill>
            <a:srgbClr val="F2ED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51775" y="1883664"/>
            <a:ext cx="140817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926DE5"/>
                </a:solidFill>
                <a:latin typeface="Noto Sans CJK SC"/>
              </a:rPr>
              <a:t>训练引擎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94960" y="2276856"/>
            <a:ext cx="553212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727171"/>
                </a:solidFill>
                <a:latin typeface="Noto Sans CJK SC"/>
              </a:rPr>
              <a:t>大规模并行 · JAX 生态
运动策略 / 简单接触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97680" y="3108960"/>
            <a:ext cx="7040880" cy="12527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53712" y="3429000"/>
            <a:ext cx="585216" cy="585216"/>
          </a:xfrm>
          <a:prstGeom prst="rect">
            <a:avLst/>
          </a:prstGeom>
          <a:solidFill>
            <a:srgbClr val="24C5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53712" y="3429000"/>
            <a:ext cx="585216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Noto Sans CJK SC"/>
              </a:rPr>
              <a:t>02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76672" y="3282696"/>
            <a:ext cx="1874519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262626"/>
                </a:solidFill>
                <a:latin typeface="Noto Sans CJK SC"/>
              </a:rPr>
              <a:t>MJWarp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269480" y="3300984"/>
            <a:ext cx="1572768" cy="310896"/>
          </a:xfrm>
          <a:prstGeom prst="roundRect">
            <a:avLst>
              <a:gd name="adj" fmla="val 8000"/>
            </a:avLst>
          </a:prstGeom>
          <a:solidFill>
            <a:srgbClr val="E7F8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51775" y="3300984"/>
            <a:ext cx="140817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4C58D"/>
                </a:solidFill>
                <a:latin typeface="Noto Sans CJK SC"/>
              </a:rPr>
              <a:t>验证与复杂交互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94960" y="3694176"/>
            <a:ext cx="553212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727171"/>
                </a:solidFill>
                <a:latin typeface="Noto Sans CJK SC"/>
              </a:rPr>
              <a:t>动态接触 · 复杂几何
灵巧操作 / 高保真验证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97680" y="4526280"/>
            <a:ext cx="7040880" cy="12527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553712" y="4846320"/>
            <a:ext cx="585216" cy="585216"/>
          </a:xfrm>
          <a:prstGeom prst="rect">
            <a:avLst/>
          </a:prstGeom>
          <a:solidFill>
            <a:srgbClr val="F68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53712" y="4846320"/>
            <a:ext cx="585216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Noto Sans CJK SC"/>
              </a:rPr>
              <a:t>03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376672" y="4700016"/>
            <a:ext cx="1874519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262626"/>
                </a:solidFill>
                <a:latin typeface="Noto Sans CJK SC"/>
              </a:rPr>
              <a:t>PhysX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269480" y="4718304"/>
            <a:ext cx="1572768" cy="310896"/>
          </a:xfrm>
          <a:prstGeom prst="roundRect">
            <a:avLst>
              <a:gd name="adj" fmla="val 8000"/>
            </a:avLst>
          </a:prstGeom>
          <a:solidFill>
            <a:srgbClr val="FDE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51775" y="4718304"/>
            <a:ext cx="140817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68941"/>
                </a:solidFill>
                <a:latin typeface="Noto Sans CJK SC"/>
              </a:rPr>
              <a:t>工程与大场景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94960" y="5111496"/>
            <a:ext cx="553212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727171"/>
                </a:solidFill>
                <a:latin typeface="Noto Sans CJK SC"/>
              </a:rPr>
              <a:t>Isaac / Omniverse 生态
传感器 · 资产 · 通用仿真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297680" y="5943600"/>
            <a:ext cx="7040880" cy="182880"/>
          </a:xfrm>
          <a:prstGeom prst="rect">
            <a:avLst/>
          </a:prstGeom>
          <a:solidFill>
            <a:srgbClr val="026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2960" y="6510528"/>
            <a:ext cx="3657600" cy="164592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9AA4B5"/>
                </a:solidFill>
                <a:latin typeface="Noto Sans CJK SC"/>
              </a:rPr>
              <a:t>MJLAB / PHYSICS BACKEND REVIEW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881360" y="6473952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9AA4B5"/>
                </a:solidFill>
                <a:latin typeface="Noto Sans CJK SC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566928"/>
            <a:ext cx="566928" cy="566928"/>
          </a:xfrm>
          <a:prstGeom prst="rect">
            <a:avLst/>
          </a:prstGeom>
          <a:solidFill>
            <a:srgbClr val="026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Noto Sans CJK SC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36192" y="548640"/>
            <a:ext cx="960120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26BFF"/>
                </a:solidFill>
                <a:latin typeface="Noto Sans CJK SC"/>
              </a:rPr>
              <a:t>ARCHITECTURE  / 底层计算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17904" y="832104"/>
            <a:ext cx="982980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262626"/>
                </a:solidFill>
                <a:latin typeface="Noto Sans CJK SC"/>
              </a:rPr>
              <a:t>计算范式决定了各自擅长的物理问题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700784"/>
            <a:ext cx="3346704" cy="4343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926D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1560" y="1938528"/>
            <a:ext cx="566928" cy="566928"/>
          </a:xfrm>
          <a:prstGeom prst="ellipse">
            <a:avLst/>
          </a:prstGeom>
          <a:solidFill>
            <a:srgbClr val="926D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1938528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Noto Sans CJK SC"/>
              </a:rPr>
              <a:t>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55648" y="1847088"/>
            <a:ext cx="21488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262626"/>
                </a:solidFill>
                <a:latin typeface="Noto Sans CJK SC"/>
              </a:rPr>
              <a:t>MJX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55648" y="2221992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926DE5"/>
                </a:solidFill>
                <a:latin typeface="Noto Sans CJK SC"/>
              </a:rPr>
              <a:t>JAX / XLA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51560" y="2761488"/>
            <a:ext cx="2889504" cy="658368"/>
          </a:xfrm>
          <a:prstGeom prst="roundRect">
            <a:avLst>
              <a:gd name="adj" fmla="val 8000"/>
            </a:avLst>
          </a:prstGeom>
          <a:solidFill>
            <a:srgbClr val="F2ED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2761488"/>
            <a:ext cx="2889504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926DE5"/>
                </a:solidFill>
                <a:latin typeface="Noto Sans CJK SC"/>
              </a:rPr>
              <a:t>静态计算图</a:t>
            </a:r>
          </a:p>
        </p:txBody>
      </p:sp>
      <p:sp>
        <p:nvSpPr>
          <p:cNvPr id="13" name="Oval 12"/>
          <p:cNvSpPr/>
          <p:nvPr/>
        </p:nvSpPr>
        <p:spPr>
          <a:xfrm>
            <a:off x="1143000" y="3776654"/>
            <a:ext cx="100584" cy="100584"/>
          </a:xfrm>
          <a:prstGeom prst="ellipse">
            <a:avLst/>
          </a:prstGeom>
          <a:solidFill>
            <a:srgbClr val="926D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71600" y="3611880"/>
            <a:ext cx="246888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>
                <a:solidFill>
                  <a:srgbClr val="727171"/>
                </a:solidFill>
                <a:latin typeface="Noto Sans CJK SC"/>
              </a:rPr>
              <a:t>大批量同构环境</a:t>
            </a:r>
          </a:p>
        </p:txBody>
      </p:sp>
      <p:sp>
        <p:nvSpPr>
          <p:cNvPr id="15" name="Oval 14"/>
          <p:cNvSpPr/>
          <p:nvPr/>
        </p:nvSpPr>
        <p:spPr>
          <a:xfrm>
            <a:off x="1143000" y="4288718"/>
            <a:ext cx="100584" cy="100584"/>
          </a:xfrm>
          <a:prstGeom prst="ellipse">
            <a:avLst/>
          </a:prstGeom>
          <a:solidFill>
            <a:srgbClr val="926D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71600" y="4123944"/>
            <a:ext cx="246888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>
                <a:solidFill>
                  <a:srgbClr val="727171"/>
                </a:solidFill>
                <a:latin typeface="Noto Sans CJK SC"/>
              </a:rPr>
              <a:t>固定大小数据结构</a:t>
            </a:r>
          </a:p>
        </p:txBody>
      </p:sp>
      <p:sp>
        <p:nvSpPr>
          <p:cNvPr id="17" name="Oval 16"/>
          <p:cNvSpPr/>
          <p:nvPr/>
        </p:nvSpPr>
        <p:spPr>
          <a:xfrm>
            <a:off x="1143000" y="4800782"/>
            <a:ext cx="100584" cy="100584"/>
          </a:xfrm>
          <a:prstGeom prst="ellipse">
            <a:avLst/>
          </a:prstGeom>
          <a:solidFill>
            <a:srgbClr val="926D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71600" y="4636008"/>
            <a:ext cx="246888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>
                <a:solidFill>
                  <a:srgbClr val="727171"/>
                </a:solidFill>
                <a:latin typeface="Noto Sans CJK SC"/>
              </a:rPr>
              <a:t>TPU / GPU / Mac 可用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051560" y="5285232"/>
            <a:ext cx="2889504" cy="0"/>
          </a:xfrm>
          <a:prstGeom prst="line">
            <a:avLst/>
          </a:prstGeom>
          <a:ln w="12700">
            <a:solidFill>
              <a:srgbClr val="E4E9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1078992" y="5394960"/>
            <a:ext cx="28346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262626"/>
                </a:solidFill>
                <a:latin typeface="Noto Sans CJK SC"/>
              </a:rPr>
              <a:t>优势：向量化吞吐与 JAX 工作流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07408" y="1700784"/>
            <a:ext cx="3346704" cy="4343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24C5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4636008" y="1938528"/>
            <a:ext cx="566928" cy="566928"/>
          </a:xfrm>
          <a:prstGeom prst="ellipse">
            <a:avLst/>
          </a:prstGeom>
          <a:solidFill>
            <a:srgbClr val="24C5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36008" y="1938528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Noto Sans CJK SC"/>
              </a:rPr>
              <a:t>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40096" y="1847088"/>
            <a:ext cx="21488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262626"/>
                </a:solidFill>
                <a:latin typeface="Noto Sans CJK SC"/>
              </a:rPr>
              <a:t>MJWarp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40096" y="2221992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24C58D"/>
                </a:solidFill>
                <a:latin typeface="Noto Sans CJK SC"/>
              </a:rPr>
              <a:t>NVIDIA Warp / CUDA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636008" y="2761488"/>
            <a:ext cx="2889504" cy="658368"/>
          </a:xfrm>
          <a:prstGeom prst="roundRect">
            <a:avLst>
              <a:gd name="adj" fmla="val 8000"/>
            </a:avLst>
          </a:prstGeom>
          <a:solidFill>
            <a:srgbClr val="E7F8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36008" y="2761488"/>
            <a:ext cx="2889504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4C58D"/>
                </a:solidFill>
                <a:latin typeface="Noto Sans CJK SC"/>
              </a:rPr>
              <a:t>SIMT 动态内核</a:t>
            </a:r>
          </a:p>
        </p:txBody>
      </p:sp>
      <p:sp>
        <p:nvSpPr>
          <p:cNvPr id="28" name="Oval 27"/>
          <p:cNvSpPr/>
          <p:nvPr/>
        </p:nvSpPr>
        <p:spPr>
          <a:xfrm>
            <a:off x="4727448" y="3776654"/>
            <a:ext cx="100584" cy="100584"/>
          </a:xfrm>
          <a:prstGeom prst="ellipse">
            <a:avLst/>
          </a:prstGeom>
          <a:solidFill>
            <a:srgbClr val="24C5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56048" y="3611880"/>
            <a:ext cx="246888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>
                <a:solidFill>
                  <a:srgbClr val="727171"/>
                </a:solidFill>
                <a:latin typeface="Noto Sans CJK SC"/>
              </a:rPr>
              <a:t>线程可独立分支</a:t>
            </a:r>
          </a:p>
        </p:txBody>
      </p:sp>
      <p:sp>
        <p:nvSpPr>
          <p:cNvPr id="30" name="Oval 29"/>
          <p:cNvSpPr/>
          <p:nvPr/>
        </p:nvSpPr>
        <p:spPr>
          <a:xfrm>
            <a:off x="4727448" y="4288718"/>
            <a:ext cx="100584" cy="100584"/>
          </a:xfrm>
          <a:prstGeom prst="ellipse">
            <a:avLst/>
          </a:prstGeom>
          <a:solidFill>
            <a:srgbClr val="24C5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956048" y="4123944"/>
            <a:ext cx="246888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>
                <a:solidFill>
                  <a:srgbClr val="727171"/>
                </a:solidFill>
                <a:latin typeface="Noto Sans CJK SC"/>
              </a:rPr>
              <a:t>仅计算活跃接触</a:t>
            </a:r>
          </a:p>
        </p:txBody>
      </p:sp>
      <p:sp>
        <p:nvSpPr>
          <p:cNvPr id="32" name="Oval 31"/>
          <p:cNvSpPr/>
          <p:nvPr/>
        </p:nvSpPr>
        <p:spPr>
          <a:xfrm>
            <a:off x="4727448" y="4800782"/>
            <a:ext cx="100584" cy="100584"/>
          </a:xfrm>
          <a:prstGeom prst="ellipse">
            <a:avLst/>
          </a:prstGeom>
          <a:solidFill>
            <a:srgbClr val="24C5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956048" y="4636008"/>
            <a:ext cx="246888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>
                <a:solidFill>
                  <a:srgbClr val="727171"/>
                </a:solidFill>
                <a:latin typeface="Noto Sans CJK SC"/>
              </a:rPr>
              <a:t>面向 NVIDIA GPU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4636008" y="5285232"/>
            <a:ext cx="2889504" cy="0"/>
          </a:xfrm>
          <a:prstGeom prst="line">
            <a:avLst/>
          </a:prstGeom>
          <a:ln w="12700">
            <a:solidFill>
              <a:srgbClr val="E4E9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4663440" y="5394960"/>
            <a:ext cx="28346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262626"/>
                </a:solidFill>
                <a:latin typeface="Noto Sans CJK SC"/>
              </a:rPr>
              <a:t>优势：接触丰富场景与复杂几何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991856" y="1700784"/>
            <a:ext cx="3346704" cy="4343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F689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8220456" y="1938528"/>
            <a:ext cx="566928" cy="566928"/>
          </a:xfrm>
          <a:prstGeom prst="ellipse">
            <a:avLst/>
          </a:prstGeom>
          <a:solidFill>
            <a:srgbClr val="F68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220456" y="1938528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Noto Sans CJK SC"/>
              </a:rPr>
              <a:t>P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24544" y="1847088"/>
            <a:ext cx="21488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262626"/>
                </a:solidFill>
                <a:latin typeface="Noto Sans CJK SC"/>
              </a:rPr>
              <a:t>PhysX 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924544" y="2221992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68941"/>
                </a:solidFill>
                <a:latin typeface="Noto Sans CJK SC"/>
              </a:rPr>
              <a:t>Isaac Sim / Lab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220456" y="2761488"/>
            <a:ext cx="2889504" cy="658368"/>
          </a:xfrm>
          <a:prstGeom prst="roundRect">
            <a:avLst>
              <a:gd name="adj" fmla="val 8000"/>
            </a:avLst>
          </a:prstGeom>
          <a:solidFill>
            <a:srgbClr val="FDE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220456" y="2761488"/>
            <a:ext cx="2889504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68941"/>
                </a:solidFill>
                <a:latin typeface="Noto Sans CJK SC"/>
              </a:rPr>
              <a:t>通用实时引擎</a:t>
            </a:r>
          </a:p>
        </p:txBody>
      </p:sp>
      <p:sp>
        <p:nvSpPr>
          <p:cNvPr id="43" name="Oval 42"/>
          <p:cNvSpPr/>
          <p:nvPr/>
        </p:nvSpPr>
        <p:spPr>
          <a:xfrm>
            <a:off x="8311896" y="3776654"/>
            <a:ext cx="100584" cy="100584"/>
          </a:xfrm>
          <a:prstGeom prst="ellipse">
            <a:avLst/>
          </a:prstGeom>
          <a:solidFill>
            <a:srgbClr val="F68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540496" y="3611880"/>
            <a:ext cx="246888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>
                <a:solidFill>
                  <a:srgbClr val="727171"/>
                </a:solidFill>
                <a:latin typeface="Noto Sans CJK SC"/>
              </a:rPr>
              <a:t>TGS 约束求解</a:t>
            </a:r>
          </a:p>
        </p:txBody>
      </p:sp>
      <p:sp>
        <p:nvSpPr>
          <p:cNvPr id="45" name="Oval 44"/>
          <p:cNvSpPr/>
          <p:nvPr/>
        </p:nvSpPr>
        <p:spPr>
          <a:xfrm>
            <a:off x="8311896" y="4288718"/>
            <a:ext cx="100584" cy="100584"/>
          </a:xfrm>
          <a:prstGeom prst="ellipse">
            <a:avLst/>
          </a:prstGeom>
          <a:solidFill>
            <a:srgbClr val="F68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540496" y="4123944"/>
            <a:ext cx="246888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>
                <a:solidFill>
                  <a:srgbClr val="727171"/>
                </a:solidFill>
                <a:latin typeface="Noto Sans CJK SC"/>
              </a:rPr>
              <a:t>大型场景与传感器</a:t>
            </a:r>
          </a:p>
        </p:txBody>
      </p:sp>
      <p:sp>
        <p:nvSpPr>
          <p:cNvPr id="47" name="Oval 46"/>
          <p:cNvSpPr/>
          <p:nvPr/>
        </p:nvSpPr>
        <p:spPr>
          <a:xfrm>
            <a:off x="8311896" y="4800782"/>
            <a:ext cx="100584" cy="100584"/>
          </a:xfrm>
          <a:prstGeom prst="ellipse">
            <a:avLst/>
          </a:prstGeom>
          <a:solidFill>
            <a:srgbClr val="F68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540496" y="4636008"/>
            <a:ext cx="246888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>
                <a:solidFill>
                  <a:srgbClr val="727171"/>
                </a:solidFill>
                <a:latin typeface="Noto Sans CJK SC"/>
              </a:rPr>
              <a:t>Omniverse 资产生态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8220456" y="5285232"/>
            <a:ext cx="2889504" cy="0"/>
          </a:xfrm>
          <a:prstGeom prst="line">
            <a:avLst/>
          </a:prstGeom>
          <a:ln w="12700">
            <a:solidFill>
              <a:srgbClr val="E4E9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8247888" y="5394960"/>
            <a:ext cx="28346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262626"/>
                </a:solidFill>
                <a:latin typeface="Noto Sans CJK SC"/>
              </a:rPr>
              <a:t>优势：成熟工具链与工程集成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22960" y="6510528"/>
            <a:ext cx="3657600" cy="164592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9AA4B5"/>
                </a:solidFill>
                <a:latin typeface="Noto Sans CJK SC"/>
              </a:rPr>
              <a:t>MJLAB / PHYSICS BACKEND REVIEW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881360" y="6473952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9AA4B5"/>
                </a:solidFill>
                <a:latin typeface="Noto Sans CJK SC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566928"/>
            <a:ext cx="566928" cy="566928"/>
          </a:xfrm>
          <a:prstGeom prst="rect">
            <a:avLst/>
          </a:prstGeom>
          <a:solidFill>
            <a:srgbClr val="026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Noto Sans CJK SC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36192" y="548640"/>
            <a:ext cx="960120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26BFF"/>
                </a:solidFill>
                <a:latin typeface="Noto Sans CJK SC"/>
              </a:rPr>
              <a:t>PERFORMANCE  / MJX vs MJWarp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17904" y="832104"/>
            <a:ext cx="982980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262626"/>
                </a:solidFill>
                <a:latin typeface="Noto Sans CJK SC"/>
              </a:rPr>
              <a:t>接触越复杂，动态计算的价值越明显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664208"/>
            <a:ext cx="2880360" cy="1874519"/>
          </a:xfrm>
          <a:prstGeom prst="roundRect">
            <a:avLst>
              <a:gd name="adj" fmla="val 8000"/>
            </a:avLst>
          </a:prstGeom>
          <a:solidFill>
            <a:srgbClr val="0A2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74519"/>
            <a:ext cx="260604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300" b="1">
                <a:solidFill>
                  <a:srgbClr val="FFFFFF"/>
                </a:solidFill>
                <a:latin typeface="Noto Sans CJK SC"/>
              </a:rPr>
              <a:t>50–100×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542032"/>
            <a:ext cx="26060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9B7FF"/>
                </a:solidFill>
                <a:latin typeface="Noto Sans CJK SC"/>
              </a:rPr>
              <a:t>复杂操作任务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907792"/>
            <a:ext cx="242316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>
                <a:solidFill>
                  <a:srgbClr val="C4CFE6"/>
                </a:solidFill>
                <a:latin typeface="Noto Sans CJK SC"/>
              </a:rPr>
              <a:t>原文给出的 MJWarp 相对 MJX
性能量级（取决于场景）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703320"/>
            <a:ext cx="2880360" cy="2240280"/>
          </a:xfrm>
          <a:prstGeom prst="roundRect">
            <a:avLst>
              <a:gd name="adj" fmla="val 8000"/>
            </a:avLst>
          </a:prstGeom>
          <a:solidFill>
            <a:srgbClr val="F4F7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977639"/>
            <a:ext cx="260604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926DE5"/>
                </a:solidFill>
                <a:latin typeface="Noto Sans CJK SC"/>
              </a:rPr>
              <a:t>4000+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590288"/>
            <a:ext cx="26060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62626"/>
                </a:solidFill>
                <a:latin typeface="Noto Sans CJK SC"/>
              </a:rPr>
              <a:t>并行人形环境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5047488"/>
            <a:ext cx="2423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30" b="0">
                <a:solidFill>
                  <a:srgbClr val="727171"/>
                </a:solidFill>
                <a:latin typeface="Noto Sans CJK SC"/>
              </a:rPr>
              <a:t>原文用于说明 MJX 在
运动策略训练中的吞吐优势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977639" y="1664208"/>
            <a:ext cx="1874519" cy="502920"/>
          </a:xfrm>
          <a:prstGeom prst="rect">
            <a:avLst/>
          </a:prstGeom>
          <a:solidFill>
            <a:srgbClr val="026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977639" y="1664208"/>
            <a:ext cx="1874519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Noto Sans CJK SC"/>
              </a:rPr>
              <a:t>维度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852159" y="1664208"/>
            <a:ext cx="2697480" cy="502920"/>
          </a:xfrm>
          <a:prstGeom prst="rect">
            <a:avLst/>
          </a:prstGeom>
          <a:solidFill>
            <a:srgbClr val="926D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52159" y="1664208"/>
            <a:ext cx="2697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Noto Sans CJK SC"/>
              </a:rPr>
              <a:t>MJX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549640" y="1664208"/>
            <a:ext cx="2697480" cy="502920"/>
          </a:xfrm>
          <a:prstGeom prst="rect">
            <a:avLst/>
          </a:prstGeom>
          <a:solidFill>
            <a:srgbClr val="24C5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49640" y="1664208"/>
            <a:ext cx="2697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Noto Sans CJK SC"/>
              </a:rPr>
              <a:t>MJWarp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977639" y="2267712"/>
            <a:ext cx="1874519" cy="621792"/>
          </a:xfrm>
          <a:prstGeom prst="rect">
            <a:avLst/>
          </a:prstGeom>
          <a:solidFill>
            <a:srgbClr val="F4F7FC"/>
          </a:solidFill>
          <a:ln w="8890">
            <a:solidFill>
              <a:srgbClr val="E4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050791" y="2267712"/>
            <a:ext cx="1728216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62626"/>
                </a:solidFill>
                <a:latin typeface="Noto Sans CJK SC"/>
              </a:rPr>
              <a:t>接触规模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852159" y="2267712"/>
            <a:ext cx="2697480" cy="621792"/>
          </a:xfrm>
          <a:prstGeom prst="rect">
            <a:avLst/>
          </a:prstGeom>
          <a:solidFill>
            <a:srgbClr val="FFFFFF"/>
          </a:solidFill>
          <a:ln w="8890">
            <a:solidFill>
              <a:srgbClr val="E4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25312" y="2267712"/>
            <a:ext cx="2551176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727171"/>
                </a:solidFill>
                <a:latin typeface="Noto Sans CJK SC"/>
              </a:rPr>
              <a:t>少且可预测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549640" y="2267712"/>
            <a:ext cx="2697480" cy="621792"/>
          </a:xfrm>
          <a:prstGeom prst="rect">
            <a:avLst/>
          </a:prstGeom>
          <a:solidFill>
            <a:srgbClr val="FFFFFF"/>
          </a:solidFill>
          <a:ln w="8890">
            <a:solidFill>
              <a:srgbClr val="E4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22792" y="2267712"/>
            <a:ext cx="2551176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727171"/>
                </a:solidFill>
                <a:latin typeface="Noto Sans CJK SC"/>
              </a:rPr>
              <a:t>多且动态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977639" y="2980944"/>
            <a:ext cx="1874519" cy="621792"/>
          </a:xfrm>
          <a:prstGeom prst="rect">
            <a:avLst/>
          </a:prstGeom>
          <a:solidFill>
            <a:srgbClr val="F4F7FC"/>
          </a:solidFill>
          <a:ln w="8890">
            <a:solidFill>
              <a:srgbClr val="E4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050791" y="2980944"/>
            <a:ext cx="1728216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62626"/>
                </a:solidFill>
                <a:latin typeface="Noto Sans CJK SC"/>
              </a:rPr>
              <a:t>数据结构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852159" y="2980944"/>
            <a:ext cx="2697480" cy="621792"/>
          </a:xfrm>
          <a:prstGeom prst="rect">
            <a:avLst/>
          </a:prstGeom>
          <a:solidFill>
            <a:srgbClr val="FFFFFF"/>
          </a:solidFill>
          <a:ln w="8890">
            <a:solidFill>
              <a:srgbClr val="E4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25312" y="2980944"/>
            <a:ext cx="2551176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727171"/>
                </a:solidFill>
                <a:latin typeface="Noto Sans CJK SC"/>
              </a:rPr>
              <a:t>固定 / 填充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549640" y="2980944"/>
            <a:ext cx="2697480" cy="621792"/>
          </a:xfrm>
          <a:prstGeom prst="rect">
            <a:avLst/>
          </a:prstGeom>
          <a:solidFill>
            <a:srgbClr val="FFFFFF"/>
          </a:solidFill>
          <a:ln w="8890">
            <a:solidFill>
              <a:srgbClr val="E4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22792" y="2980944"/>
            <a:ext cx="2551176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727171"/>
                </a:solidFill>
                <a:latin typeface="Noto Sans CJK SC"/>
              </a:rPr>
              <a:t>按活跃接触计算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977639" y="3694176"/>
            <a:ext cx="1874519" cy="621792"/>
          </a:xfrm>
          <a:prstGeom prst="rect">
            <a:avLst/>
          </a:prstGeom>
          <a:solidFill>
            <a:srgbClr val="F4F7FC"/>
          </a:solidFill>
          <a:ln w="8890">
            <a:solidFill>
              <a:srgbClr val="E4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050791" y="3694176"/>
            <a:ext cx="1728216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62626"/>
                </a:solidFill>
                <a:latin typeface="Noto Sans CJK SC"/>
              </a:rPr>
              <a:t>复杂网格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852159" y="3694176"/>
            <a:ext cx="2697480" cy="621792"/>
          </a:xfrm>
          <a:prstGeom prst="rect">
            <a:avLst/>
          </a:prstGeom>
          <a:solidFill>
            <a:srgbClr val="FFFFFF"/>
          </a:solidFill>
          <a:ln w="8890">
            <a:solidFill>
              <a:srgbClr val="E4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925312" y="3694176"/>
            <a:ext cx="2551176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727171"/>
                </a:solidFill>
                <a:latin typeface="Noto Sans CJK SC"/>
              </a:rPr>
              <a:t>扩展性较弱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549640" y="3694176"/>
            <a:ext cx="2697480" cy="621792"/>
          </a:xfrm>
          <a:prstGeom prst="rect">
            <a:avLst/>
          </a:prstGeom>
          <a:solidFill>
            <a:srgbClr val="FFFFFF"/>
          </a:solidFill>
          <a:ln w="8890">
            <a:solidFill>
              <a:srgbClr val="E4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622792" y="3694176"/>
            <a:ext cx="2551176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727171"/>
                </a:solidFill>
                <a:latin typeface="Noto Sans CJK SC"/>
              </a:rPr>
              <a:t>更适合复杂几何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977639" y="4407408"/>
            <a:ext cx="1874519" cy="621792"/>
          </a:xfrm>
          <a:prstGeom prst="rect">
            <a:avLst/>
          </a:prstGeom>
          <a:solidFill>
            <a:srgbClr val="F4F7FC"/>
          </a:solidFill>
          <a:ln w="8890">
            <a:solidFill>
              <a:srgbClr val="E4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050791" y="4407408"/>
            <a:ext cx="1728216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62626"/>
                </a:solidFill>
                <a:latin typeface="Noto Sans CJK SC"/>
              </a:rPr>
              <a:t>主要任务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852159" y="4407408"/>
            <a:ext cx="2697480" cy="621792"/>
          </a:xfrm>
          <a:prstGeom prst="rect">
            <a:avLst/>
          </a:prstGeom>
          <a:solidFill>
            <a:srgbClr val="FFFFFF"/>
          </a:solidFill>
          <a:ln w="8890">
            <a:solidFill>
              <a:srgbClr val="E4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925312" y="4407408"/>
            <a:ext cx="2551176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727171"/>
                </a:solidFill>
                <a:latin typeface="Noto Sans CJK SC"/>
              </a:rPr>
              <a:t>移动 / 步态训练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549640" y="4407408"/>
            <a:ext cx="2697480" cy="621792"/>
          </a:xfrm>
          <a:prstGeom prst="rect">
            <a:avLst/>
          </a:prstGeom>
          <a:solidFill>
            <a:srgbClr val="FFFFFF"/>
          </a:solidFill>
          <a:ln w="8890">
            <a:solidFill>
              <a:srgbClr val="E4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22792" y="4407408"/>
            <a:ext cx="2551176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727171"/>
                </a:solidFill>
                <a:latin typeface="Noto Sans CJK SC"/>
              </a:rPr>
              <a:t>操作 / 装配 / 抓取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977639" y="5120640"/>
            <a:ext cx="1874519" cy="621792"/>
          </a:xfrm>
          <a:prstGeom prst="rect">
            <a:avLst/>
          </a:prstGeom>
          <a:solidFill>
            <a:srgbClr val="F4F7FC"/>
          </a:solidFill>
          <a:ln w="8890">
            <a:solidFill>
              <a:srgbClr val="E4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050791" y="5120640"/>
            <a:ext cx="1728216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62626"/>
                </a:solidFill>
                <a:latin typeface="Noto Sans CJK SC"/>
              </a:rPr>
              <a:t>关键平台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852159" y="5120640"/>
            <a:ext cx="2697480" cy="621792"/>
          </a:xfrm>
          <a:prstGeom prst="rect">
            <a:avLst/>
          </a:prstGeom>
          <a:solidFill>
            <a:srgbClr val="FFFFFF"/>
          </a:solidFill>
          <a:ln w="8890">
            <a:solidFill>
              <a:srgbClr val="E4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925312" y="5120640"/>
            <a:ext cx="2551176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727171"/>
                </a:solidFill>
                <a:latin typeface="Noto Sans CJK SC"/>
              </a:rPr>
              <a:t>JAX · TPU · GPU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549640" y="5120640"/>
            <a:ext cx="2697480" cy="621792"/>
          </a:xfrm>
          <a:prstGeom prst="rect">
            <a:avLst/>
          </a:prstGeom>
          <a:solidFill>
            <a:srgbClr val="FFFFFF"/>
          </a:solidFill>
          <a:ln w="8890">
            <a:solidFill>
              <a:srgbClr val="E4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622792" y="5120640"/>
            <a:ext cx="2551176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727171"/>
                </a:solidFill>
                <a:latin typeface="Noto Sans CJK SC"/>
              </a:rPr>
              <a:t>CUDA · NVIDIA GPU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977639" y="5888736"/>
            <a:ext cx="7315200" cy="219456"/>
          </a:xfrm>
          <a:prstGeom prst="rect">
            <a:avLst/>
          </a:prstGeom>
          <a:solidFill>
            <a:srgbClr val="026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22960" y="6510528"/>
            <a:ext cx="3657600" cy="164592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9AA4B5"/>
                </a:solidFill>
                <a:latin typeface="Noto Sans CJK SC"/>
              </a:rPr>
              <a:t>MJLAB / PHYSICS BACKEND REVIEW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881360" y="6473952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9AA4B5"/>
                </a:solidFill>
                <a:latin typeface="Noto Sans CJK SC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566928"/>
            <a:ext cx="566928" cy="566928"/>
          </a:xfrm>
          <a:prstGeom prst="rect">
            <a:avLst/>
          </a:prstGeom>
          <a:solidFill>
            <a:srgbClr val="026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Noto Sans CJK SC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36192" y="548640"/>
            <a:ext cx="960120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26BFF"/>
                </a:solidFill>
                <a:latin typeface="Noto Sans CJK SC"/>
              </a:rPr>
              <a:t>CONTACT PHYSICS  / 接触保真度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17904" y="832104"/>
            <a:ext cx="982980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262626"/>
                </a:solidFill>
                <a:latin typeface="Noto Sans CJK SC"/>
              </a:rPr>
              <a:t>“蹦床效应”来自软接触，“硬着陆”来自约束求解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664208"/>
            <a:ext cx="5056632" cy="3703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6510">
            <a:solidFill>
              <a:srgbClr val="926D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78992" y="1920240"/>
            <a:ext cx="566928" cy="566928"/>
          </a:xfrm>
          <a:prstGeom prst="ellipse">
            <a:avLst/>
          </a:prstGeom>
          <a:solidFill>
            <a:srgbClr val="926D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1920240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Noto Sans CJK SC"/>
              </a:rPr>
              <a:t>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73936" y="1865376"/>
            <a:ext cx="3867912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262626"/>
                </a:solidFill>
                <a:latin typeface="Noto Sans CJK SC"/>
              </a:rPr>
              <a:t>MJX · 软接触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73936" y="2267712"/>
            <a:ext cx="386791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926DE5"/>
                </a:solidFill>
                <a:latin typeface="Noto Sans CJK SC"/>
              </a:rPr>
              <a:t>平滑、静态、训练友好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938528" y="3218688"/>
            <a:ext cx="2825496" cy="566928"/>
          </a:xfrm>
          <a:prstGeom prst="roundRect">
            <a:avLst>
              <a:gd name="adj" fmla="val 8000"/>
            </a:avLst>
          </a:prstGeom>
          <a:solidFill>
            <a:srgbClr val="F4F7FC"/>
          </a:solidFill>
          <a:ln w="16510">
            <a:solidFill>
              <a:srgbClr val="926D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938528" y="3218688"/>
            <a:ext cx="2825496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62626"/>
                </a:solidFill>
                <a:latin typeface="Noto Sans CJK SC"/>
              </a:rPr>
              <a:t>机器人脚 / 刚体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003804" y="3749039"/>
            <a:ext cx="146304" cy="73152"/>
          </a:xfrm>
          <a:prstGeom prst="line">
            <a:avLst/>
          </a:prstGeom>
          <a:ln w="22860">
            <a:solidFill>
              <a:srgbClr val="926D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3150108" y="3749039"/>
            <a:ext cx="146304" cy="73152"/>
          </a:xfrm>
          <a:prstGeom prst="line">
            <a:avLst/>
          </a:prstGeom>
          <a:ln w="22860">
            <a:solidFill>
              <a:srgbClr val="926D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3296412" y="3749039"/>
            <a:ext cx="146304" cy="73152"/>
          </a:xfrm>
          <a:prstGeom prst="line">
            <a:avLst/>
          </a:prstGeom>
          <a:ln w="22860">
            <a:solidFill>
              <a:srgbClr val="926D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V="1">
            <a:off x="3442716" y="3749039"/>
            <a:ext cx="146304" cy="73152"/>
          </a:xfrm>
          <a:prstGeom prst="line">
            <a:avLst/>
          </a:prstGeom>
          <a:ln w="22860">
            <a:solidFill>
              <a:srgbClr val="926D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3589020" y="3749039"/>
            <a:ext cx="146304" cy="73152"/>
          </a:xfrm>
          <a:prstGeom prst="line">
            <a:avLst/>
          </a:prstGeom>
          <a:ln w="22860">
            <a:solidFill>
              <a:srgbClr val="926D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1426464" y="3931920"/>
            <a:ext cx="3849624" cy="164592"/>
          </a:xfrm>
          <a:prstGeom prst="rect">
            <a:avLst/>
          </a:prstGeom>
          <a:solidFill>
            <a:srgbClr val="0A2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17320" y="4197096"/>
            <a:ext cx="386791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926DE5"/>
                </a:solidFill>
                <a:latin typeface="Noto Sans CJK SC"/>
              </a:rPr>
              <a:t>d &lt; 0  →  F ≈ k·d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25880" y="4572000"/>
            <a:ext cx="4050791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727171"/>
                </a:solidFill>
                <a:latin typeface="Noto Sans CJK SC"/>
              </a:rPr>
              <a:t>允许微小穿透 · 罚函数
地面像微观弹簧，训练更平滑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81928" y="1664208"/>
            <a:ext cx="5056632" cy="3703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6510">
            <a:solidFill>
              <a:srgbClr val="24C5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537960" y="1920240"/>
            <a:ext cx="566928" cy="566928"/>
          </a:xfrm>
          <a:prstGeom prst="ellipse">
            <a:avLst/>
          </a:prstGeom>
          <a:solidFill>
            <a:srgbClr val="24C5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37960" y="1920240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Noto Sans CJK SC"/>
              </a:rPr>
              <a:t>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32904" y="1865376"/>
            <a:ext cx="3867912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262626"/>
                </a:solidFill>
                <a:latin typeface="Noto Sans CJK SC"/>
              </a:rPr>
              <a:t>MJWarp · 硬接触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32904" y="2267712"/>
            <a:ext cx="386791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24C58D"/>
                </a:solidFill>
                <a:latin typeface="Noto Sans CJK SC"/>
              </a:rPr>
              <a:t>动态、严格、验证友好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97496" y="3081528"/>
            <a:ext cx="2825496" cy="566928"/>
          </a:xfrm>
          <a:prstGeom prst="roundRect">
            <a:avLst>
              <a:gd name="adj" fmla="val 8000"/>
            </a:avLst>
          </a:prstGeom>
          <a:solidFill>
            <a:srgbClr val="F4F7FC"/>
          </a:solidFill>
          <a:ln w="16510">
            <a:solidFill>
              <a:srgbClr val="24C5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97496" y="3081528"/>
            <a:ext cx="2825496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62626"/>
                </a:solidFill>
                <a:latin typeface="Noto Sans CJK SC"/>
              </a:rPr>
              <a:t>机器人脚 / 刚体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885432" y="3803904"/>
            <a:ext cx="3849624" cy="164592"/>
          </a:xfrm>
          <a:prstGeom prst="rect">
            <a:avLst/>
          </a:prstGeom>
          <a:solidFill>
            <a:srgbClr val="0A2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Up Arrow 28"/>
          <p:cNvSpPr/>
          <p:nvPr/>
        </p:nvSpPr>
        <p:spPr>
          <a:xfrm>
            <a:off x="8609076" y="3520439"/>
            <a:ext cx="402336" cy="512064"/>
          </a:xfrm>
          <a:prstGeom prst="upArrow">
            <a:avLst/>
          </a:prstGeom>
          <a:solidFill>
            <a:srgbClr val="24C5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76288" y="4059936"/>
            <a:ext cx="386791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4C58D"/>
                </a:solidFill>
                <a:latin typeface="Noto Sans CJK SC"/>
              </a:rPr>
              <a:t>d = 0  →  瞬时冲量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84848" y="4572000"/>
            <a:ext cx="4050791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727171"/>
                </a:solidFill>
                <a:latin typeface="Noto Sans CJK SC"/>
              </a:rPr>
              <a:t>严格非穿透 · 约束求解
冲击与振动更接近真实硬地面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22960" y="5559552"/>
            <a:ext cx="10515600" cy="566928"/>
          </a:xfrm>
          <a:prstGeom prst="roundRect">
            <a:avLst>
              <a:gd name="adj" fmla="val 8000"/>
            </a:avLst>
          </a:prstGeom>
          <a:solidFill>
            <a:srgbClr val="EA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51560" y="5559552"/>
            <a:ext cx="11430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026BFF"/>
                </a:solidFill>
                <a:latin typeface="Noto Sans CJK SC"/>
              </a:rPr>
              <a:t>摩擦模型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194560" y="5559552"/>
            <a:ext cx="41605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727171"/>
                </a:solidFill>
                <a:latin typeface="Noto Sans CJK SC"/>
              </a:rPr>
              <a:t>MJX：金字塔近似 → 可能出现方向性伪影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5559552"/>
            <a:ext cx="4617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727171"/>
                </a:solidFill>
                <a:latin typeface="Noto Sans CJK SC"/>
              </a:rPr>
              <a:t>MJWarp：椭圆摩擦锥 → 粘滞—滑动过渡更连续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60" y="6510528"/>
            <a:ext cx="3657600" cy="164592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9AA4B5"/>
                </a:solidFill>
                <a:latin typeface="Noto Sans CJK SC"/>
              </a:rPr>
              <a:t>MJLAB / PHYSICS BACKEND REVIEW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881360" y="6473952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9AA4B5"/>
                </a:solidFill>
                <a:latin typeface="Noto Sans CJK SC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566928"/>
            <a:ext cx="566928" cy="566928"/>
          </a:xfrm>
          <a:prstGeom prst="rect">
            <a:avLst/>
          </a:prstGeom>
          <a:solidFill>
            <a:srgbClr val="026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Noto Sans CJK SC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36192" y="548640"/>
            <a:ext cx="960120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26BFF"/>
                </a:solidFill>
                <a:latin typeface="Noto Sans CJK SC"/>
              </a:rPr>
              <a:t>ROOT CAUSE  / 根本原因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17904" y="832104"/>
            <a:ext cx="982980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262626"/>
                </a:solidFill>
                <a:latin typeface="Noto Sans CJK SC"/>
              </a:rPr>
              <a:t>动态分支与静态图，决定了接触处理方式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691640"/>
            <a:ext cx="5047488" cy="4407408"/>
          </a:xfrm>
          <a:prstGeom prst="roundRect">
            <a:avLst>
              <a:gd name="adj" fmla="val 8000"/>
            </a:avLst>
          </a:prstGeom>
          <a:solidFill>
            <a:srgbClr val="E7F8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" y="1874519"/>
            <a:ext cx="44805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4C58D"/>
                </a:solidFill>
                <a:latin typeface="Noto Sans CJK SC"/>
              </a:rPr>
              <a:t>MJWarp · 每个线程可独立决策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225296" y="2633472"/>
            <a:ext cx="1234440" cy="621792"/>
          </a:xfrm>
          <a:prstGeom prst="roundRect">
            <a:avLst>
              <a:gd name="adj" fmla="val 8000"/>
            </a:avLst>
          </a:prstGeom>
          <a:solidFill>
            <a:srgbClr val="24C5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80160" y="2633472"/>
            <a:ext cx="1124712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Noto Sans CJK SC"/>
              </a:rPr>
              <a:t>检测接触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90288" y="2578608"/>
            <a:ext cx="1005840" cy="749808"/>
          </a:xfrm>
          <a:prstGeom prst="roundRect">
            <a:avLst>
              <a:gd name="adj" fmla="val 8000"/>
            </a:avLst>
          </a:prstGeom>
          <a:solidFill>
            <a:srgbClr val="24C5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45151" y="2578608"/>
            <a:ext cx="896112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Noto Sans CJK SC"/>
              </a:rPr>
              <a:t>运行约束求解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4" y="4224528"/>
            <a:ext cx="1225296" cy="6217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4C5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172968" y="4224528"/>
            <a:ext cx="1115568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727171"/>
                </a:solidFill>
                <a:latin typeface="Noto Sans CJK SC"/>
              </a:rPr>
              <a:t>跳过</a:t>
            </a:r>
          </a:p>
        </p:txBody>
      </p:sp>
      <p:sp>
        <p:nvSpPr>
          <p:cNvPr id="14" name="Diamond 13"/>
          <p:cNvSpPr/>
          <p:nvPr/>
        </p:nvSpPr>
        <p:spPr>
          <a:xfrm>
            <a:off x="2971800" y="2441448"/>
            <a:ext cx="1371600" cy="1005840"/>
          </a:xfrm>
          <a:prstGeom prst="diamond">
            <a:avLst/>
          </a:prstGeom>
          <a:solidFill>
            <a:srgbClr val="FFFFFF"/>
          </a:solidFill>
          <a:ln w="15240">
            <a:solidFill>
              <a:srgbClr val="24C5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18688" y="2578608"/>
            <a:ext cx="877824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80" b="1">
                <a:solidFill>
                  <a:srgbClr val="24C58D"/>
                </a:solidFill>
                <a:latin typeface="Noto Sans CJK SC"/>
              </a:rPr>
              <a:t>接触
活跃？</a:t>
            </a:r>
          </a:p>
        </p:txBody>
      </p:sp>
      <p:sp>
        <p:nvSpPr>
          <p:cNvPr id="16" name="Chevron 15"/>
          <p:cNvSpPr/>
          <p:nvPr/>
        </p:nvSpPr>
        <p:spPr>
          <a:xfrm>
            <a:off x="2542032" y="2779776"/>
            <a:ext cx="292608" cy="310896"/>
          </a:xfrm>
          <a:prstGeom prst="chevron">
            <a:avLst>
              <a:gd name="adj" fmla="val 22000"/>
            </a:avLst>
          </a:prstGeom>
          <a:solidFill>
            <a:srgbClr val="24C5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Chevron 16"/>
          <p:cNvSpPr/>
          <p:nvPr/>
        </p:nvSpPr>
        <p:spPr>
          <a:xfrm>
            <a:off x="4352544" y="2779776"/>
            <a:ext cx="201168" cy="310896"/>
          </a:xfrm>
          <a:prstGeom prst="chevron">
            <a:avLst>
              <a:gd name="adj" fmla="val 22000"/>
            </a:avLst>
          </a:prstGeom>
          <a:solidFill>
            <a:srgbClr val="24C5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43400" y="2514600"/>
            <a:ext cx="29260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4C58D"/>
                </a:solidFill>
                <a:latin typeface="Noto Sans CJK SC"/>
              </a:rPr>
              <a:t>是</a:t>
            </a:r>
          </a:p>
        </p:txBody>
      </p:sp>
      <p:sp>
        <p:nvSpPr>
          <p:cNvPr id="19" name="Down Arrow 18"/>
          <p:cNvSpPr/>
          <p:nvPr/>
        </p:nvSpPr>
        <p:spPr>
          <a:xfrm>
            <a:off x="3456432" y="3465576"/>
            <a:ext cx="402336" cy="585216"/>
          </a:xfrm>
          <a:prstGeom prst="downArrow">
            <a:avLst/>
          </a:prstGeom>
          <a:solidFill>
            <a:srgbClr val="24C5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794760" y="3602736"/>
            <a:ext cx="29260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727171"/>
                </a:solidFill>
                <a:latin typeface="Noto Sans CJK SC"/>
              </a:rPr>
              <a:t>否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98448" y="5257800"/>
            <a:ext cx="4251960" cy="530352"/>
          </a:xfrm>
          <a:prstGeom prst="roundRect">
            <a:avLst>
              <a:gd name="adj" fmla="val 8000"/>
            </a:avLst>
          </a:prstGeom>
          <a:solidFill>
            <a:srgbClr val="0A2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298448" y="5257800"/>
            <a:ext cx="425196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Noto Sans CJK SC"/>
              </a:rPr>
              <a:t>LCP / 迭代求解 → 严格非穿透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72784" y="1691640"/>
            <a:ext cx="5065776" cy="4407408"/>
          </a:xfrm>
          <a:prstGeom prst="roundRect">
            <a:avLst>
              <a:gd name="adj" fmla="val 8000"/>
            </a:avLst>
          </a:prstGeom>
          <a:solidFill>
            <a:srgbClr val="F2ED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65392" y="1874519"/>
            <a:ext cx="44805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926DE5"/>
                </a:solidFill>
                <a:latin typeface="Noto Sans CJK SC"/>
              </a:rPr>
              <a:t>MJX · 所有环境共享静态计算图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675120" y="2578608"/>
            <a:ext cx="1417320" cy="640080"/>
          </a:xfrm>
          <a:prstGeom prst="roundRect">
            <a:avLst>
              <a:gd name="adj" fmla="val 8000"/>
            </a:avLst>
          </a:prstGeom>
          <a:solidFill>
            <a:srgbClr val="926D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20840" y="2578608"/>
            <a:ext cx="13258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Noto Sans CJK SC"/>
              </a:rPr>
              <a:t>固定接触槽位</a:t>
            </a:r>
          </a:p>
        </p:txBody>
      </p:sp>
      <p:sp>
        <p:nvSpPr>
          <p:cNvPr id="27" name="Chevron 26"/>
          <p:cNvSpPr/>
          <p:nvPr/>
        </p:nvSpPr>
        <p:spPr>
          <a:xfrm>
            <a:off x="8165592" y="2743200"/>
            <a:ext cx="228600" cy="310896"/>
          </a:xfrm>
          <a:prstGeom prst="chevron">
            <a:avLst>
              <a:gd name="adj" fmla="val 22000"/>
            </a:avLst>
          </a:prstGeom>
          <a:solidFill>
            <a:srgbClr val="926D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229600" y="2578608"/>
            <a:ext cx="1554480" cy="640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926D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75320" y="2578608"/>
            <a:ext cx="1463039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926DE5"/>
                </a:solidFill>
                <a:latin typeface="Noto Sans CJK SC"/>
              </a:rPr>
              <a:t>填充到最坏情况</a:t>
            </a:r>
          </a:p>
        </p:txBody>
      </p:sp>
      <p:sp>
        <p:nvSpPr>
          <p:cNvPr id="30" name="Chevron 29"/>
          <p:cNvSpPr/>
          <p:nvPr/>
        </p:nvSpPr>
        <p:spPr>
          <a:xfrm>
            <a:off x="9857232" y="2743200"/>
            <a:ext cx="228600" cy="310896"/>
          </a:xfrm>
          <a:prstGeom prst="chevron">
            <a:avLst>
              <a:gd name="adj" fmla="val 22000"/>
            </a:avLst>
          </a:prstGeom>
          <a:solidFill>
            <a:srgbClr val="926D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9921240" y="2578608"/>
            <a:ext cx="1051560" cy="640080"/>
          </a:xfrm>
          <a:prstGeom prst="roundRect">
            <a:avLst>
              <a:gd name="adj" fmla="val 8000"/>
            </a:avLst>
          </a:prstGeom>
          <a:solidFill>
            <a:srgbClr val="926D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966960" y="2578608"/>
            <a:ext cx="960119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Noto Sans CJK SC"/>
              </a:rPr>
              <a:t>连续罚函数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75120" y="3502152"/>
            <a:ext cx="429768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62626"/>
                </a:solidFill>
                <a:latin typeface="Noto Sans CJK SC"/>
              </a:rPr>
              <a:t>所有批次执行同一序列</a:t>
            </a:r>
          </a:p>
        </p:txBody>
      </p:sp>
      <p:sp>
        <p:nvSpPr>
          <p:cNvPr id="34" name="Oval 33"/>
          <p:cNvSpPr/>
          <p:nvPr/>
        </p:nvSpPr>
        <p:spPr>
          <a:xfrm>
            <a:off x="6995160" y="4084259"/>
            <a:ext cx="100584" cy="100584"/>
          </a:xfrm>
          <a:prstGeom prst="ellipse">
            <a:avLst/>
          </a:prstGeom>
          <a:solidFill>
            <a:srgbClr val="926D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223760" y="3950208"/>
            <a:ext cx="356616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727171"/>
                </a:solidFill>
                <a:latin typeface="Noto Sans CJK SC"/>
              </a:rPr>
              <a:t>接触为 0 也保留槽位</a:t>
            </a:r>
          </a:p>
        </p:txBody>
      </p:sp>
      <p:sp>
        <p:nvSpPr>
          <p:cNvPr id="36" name="Oval 35"/>
          <p:cNvSpPr/>
          <p:nvPr/>
        </p:nvSpPr>
        <p:spPr>
          <a:xfrm>
            <a:off x="6995160" y="4523171"/>
            <a:ext cx="100584" cy="100584"/>
          </a:xfrm>
          <a:prstGeom prst="ellipse">
            <a:avLst/>
          </a:prstGeom>
          <a:solidFill>
            <a:srgbClr val="926D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223760" y="4389120"/>
            <a:ext cx="356616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727171"/>
                </a:solidFill>
                <a:latin typeface="Noto Sans CJK SC"/>
              </a:rPr>
              <a:t>连续梯度更适合优化</a:t>
            </a:r>
          </a:p>
        </p:txBody>
      </p:sp>
      <p:sp>
        <p:nvSpPr>
          <p:cNvPr id="38" name="Oval 37"/>
          <p:cNvSpPr/>
          <p:nvPr/>
        </p:nvSpPr>
        <p:spPr>
          <a:xfrm>
            <a:off x="6995160" y="4962083"/>
            <a:ext cx="100584" cy="100584"/>
          </a:xfrm>
          <a:prstGeom prst="ellipse">
            <a:avLst/>
          </a:prstGeom>
          <a:solidFill>
            <a:srgbClr val="926D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223760" y="4828032"/>
            <a:ext cx="356616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727171"/>
                </a:solidFill>
                <a:latin typeface="Noto Sans CJK SC"/>
              </a:rPr>
              <a:t>复杂接触会引入填充开销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675120" y="5257800"/>
            <a:ext cx="4297680" cy="530352"/>
          </a:xfrm>
          <a:prstGeom prst="roundRect">
            <a:avLst>
              <a:gd name="adj" fmla="val 8000"/>
            </a:avLst>
          </a:prstGeom>
          <a:solidFill>
            <a:srgbClr val="926D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675120" y="5257800"/>
            <a:ext cx="429768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Noto Sans CJK SC"/>
              </a:rPr>
              <a:t>平滑力—位移关系 → 软接触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2960" y="6510528"/>
            <a:ext cx="3657600" cy="164592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9AA4B5"/>
                </a:solidFill>
                <a:latin typeface="Noto Sans CJK SC"/>
              </a:rPr>
              <a:t>MJLAB / PHYSICS BACKEND REVIEW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881360" y="6473952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9AA4B5"/>
                </a:solidFill>
                <a:latin typeface="Noto Sans CJK SC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566928"/>
            <a:ext cx="566928" cy="566928"/>
          </a:xfrm>
          <a:prstGeom prst="rect">
            <a:avLst/>
          </a:prstGeom>
          <a:solidFill>
            <a:srgbClr val="026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Noto Sans CJK SC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36192" y="548640"/>
            <a:ext cx="960120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26BFF"/>
                </a:solidFill>
                <a:latin typeface="Noto Sans CJK SC"/>
              </a:rPr>
              <a:t>HUMANOID  / 人形机器人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17904" y="832104"/>
            <a:ext cx="982980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262626"/>
                </a:solidFill>
                <a:latin typeface="Noto Sans CJK SC"/>
              </a:rPr>
              <a:t>用 MJX 训练，用 MJWarp 揭示真实世界会放大的问题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828800"/>
            <a:ext cx="2907792" cy="3246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926D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51560" y="2066543"/>
            <a:ext cx="786384" cy="310896"/>
          </a:xfrm>
          <a:prstGeom prst="roundRect">
            <a:avLst>
              <a:gd name="adj" fmla="val 8000"/>
            </a:avLst>
          </a:prstGeom>
          <a:solidFill>
            <a:srgbClr val="F2ED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066543"/>
            <a:ext cx="786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926DE5"/>
                </a:solidFill>
                <a:latin typeface="Noto Sans CJK SC"/>
              </a:rPr>
              <a:t>阶段 1</a:t>
            </a:r>
          </a:p>
        </p:txBody>
      </p:sp>
      <p:sp>
        <p:nvSpPr>
          <p:cNvPr id="9" name="Oval 8"/>
          <p:cNvSpPr/>
          <p:nvPr/>
        </p:nvSpPr>
        <p:spPr>
          <a:xfrm>
            <a:off x="1965960" y="2542032"/>
            <a:ext cx="621792" cy="621792"/>
          </a:xfrm>
          <a:prstGeom prst="ellipse">
            <a:avLst/>
          </a:prstGeom>
          <a:solidFill>
            <a:srgbClr val="926D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965960" y="2542032"/>
            <a:ext cx="621792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Noto Sans CJK SC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355848"/>
            <a:ext cx="2359152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62626"/>
                </a:solidFill>
                <a:latin typeface="Noto Sans CJK SC"/>
              </a:rPr>
              <a:t>MJX 批量训练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3931920"/>
            <a:ext cx="2267712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727171"/>
                </a:solidFill>
                <a:latin typeface="Noto Sans CJK SC"/>
              </a:rPr>
              <a:t>数千并行环境
领域随机化
快速策略迭代</a:t>
            </a:r>
          </a:p>
        </p:txBody>
      </p:sp>
      <p:sp>
        <p:nvSpPr>
          <p:cNvPr id="13" name="Chevron 12"/>
          <p:cNvSpPr/>
          <p:nvPr/>
        </p:nvSpPr>
        <p:spPr>
          <a:xfrm>
            <a:off x="3867912" y="3063240"/>
            <a:ext cx="713232" cy="530352"/>
          </a:xfrm>
          <a:prstGeom prst="chevron">
            <a:avLst>
              <a:gd name="adj" fmla="val 22000"/>
            </a:avLst>
          </a:prstGeom>
          <a:solidFill>
            <a:srgbClr val="026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233672" y="1828800"/>
            <a:ext cx="2907792" cy="3246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24C5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462272" y="2066543"/>
            <a:ext cx="786384" cy="310896"/>
          </a:xfrm>
          <a:prstGeom prst="roundRect">
            <a:avLst>
              <a:gd name="adj" fmla="val 8000"/>
            </a:avLst>
          </a:prstGeom>
          <a:solidFill>
            <a:srgbClr val="E7F8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62272" y="2066543"/>
            <a:ext cx="786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4C58D"/>
                </a:solidFill>
                <a:latin typeface="Noto Sans CJK SC"/>
              </a:rPr>
              <a:t>阶段 2</a:t>
            </a:r>
          </a:p>
        </p:txBody>
      </p:sp>
      <p:sp>
        <p:nvSpPr>
          <p:cNvPr id="17" name="Oval 16"/>
          <p:cNvSpPr/>
          <p:nvPr/>
        </p:nvSpPr>
        <p:spPr>
          <a:xfrm>
            <a:off x="5376672" y="2542032"/>
            <a:ext cx="621792" cy="621792"/>
          </a:xfrm>
          <a:prstGeom prst="ellipse">
            <a:avLst/>
          </a:prstGeom>
          <a:solidFill>
            <a:srgbClr val="24C5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76672" y="2542032"/>
            <a:ext cx="621792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Noto Sans CJK SC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07992" y="3355848"/>
            <a:ext cx="2359152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62626"/>
                </a:solidFill>
                <a:latin typeface="Noto Sans CJK SC"/>
              </a:rPr>
              <a:t>MJWarp 高保真验证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53712" y="3931920"/>
            <a:ext cx="2267712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727171"/>
                </a:solidFill>
                <a:latin typeface="Noto Sans CJK SC"/>
              </a:rPr>
              <a:t>硬接触冲击
摩擦与滑移
不平坦地形</a:t>
            </a:r>
          </a:p>
        </p:txBody>
      </p:sp>
      <p:sp>
        <p:nvSpPr>
          <p:cNvPr id="21" name="Chevron 20"/>
          <p:cNvSpPr/>
          <p:nvPr/>
        </p:nvSpPr>
        <p:spPr>
          <a:xfrm>
            <a:off x="7278624" y="3063240"/>
            <a:ext cx="713232" cy="530352"/>
          </a:xfrm>
          <a:prstGeom prst="chevron">
            <a:avLst>
              <a:gd name="adj" fmla="val 22000"/>
            </a:avLst>
          </a:prstGeom>
          <a:solidFill>
            <a:srgbClr val="026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644383" y="1828800"/>
            <a:ext cx="2907792" cy="3246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F689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872983" y="2066543"/>
            <a:ext cx="786384" cy="310896"/>
          </a:xfrm>
          <a:prstGeom prst="roundRect">
            <a:avLst>
              <a:gd name="adj" fmla="val 8000"/>
            </a:avLst>
          </a:prstGeom>
          <a:solidFill>
            <a:srgbClr val="FDE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872983" y="2066543"/>
            <a:ext cx="786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68941"/>
                </a:solidFill>
                <a:latin typeface="Noto Sans CJK SC"/>
              </a:rPr>
              <a:t>阶段 3</a:t>
            </a:r>
          </a:p>
        </p:txBody>
      </p:sp>
      <p:sp>
        <p:nvSpPr>
          <p:cNvPr id="25" name="Oval 24"/>
          <p:cNvSpPr/>
          <p:nvPr/>
        </p:nvSpPr>
        <p:spPr>
          <a:xfrm>
            <a:off x="8787384" y="2542032"/>
            <a:ext cx="621792" cy="621792"/>
          </a:xfrm>
          <a:prstGeom prst="ellipse">
            <a:avLst/>
          </a:prstGeom>
          <a:solidFill>
            <a:srgbClr val="F68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787384" y="2542032"/>
            <a:ext cx="621792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Noto Sans CJK SC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18704" y="3355848"/>
            <a:ext cx="2359152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62626"/>
                </a:solidFill>
                <a:latin typeface="Noto Sans CJK SC"/>
              </a:rPr>
              <a:t>真实机器人部署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64423" y="3931920"/>
            <a:ext cx="2267712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727171"/>
                </a:solidFill>
                <a:latin typeface="Noto Sans CJK SC"/>
              </a:rPr>
              <a:t>低速安全验证
传感器闭环
逐步放开边界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22960" y="5394960"/>
            <a:ext cx="10515600" cy="658368"/>
          </a:xfrm>
          <a:prstGeom prst="roundRect">
            <a:avLst>
              <a:gd name="adj" fmla="val 8000"/>
            </a:avLst>
          </a:prstGeom>
          <a:solidFill>
            <a:srgbClr val="0A2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78992" y="5394960"/>
            <a:ext cx="109728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9B7FF"/>
                </a:solidFill>
                <a:latin typeface="Noto Sans CJK SC"/>
              </a:rPr>
              <a:t>放行门槛</a:t>
            </a:r>
          </a:p>
        </p:txBody>
      </p:sp>
      <p:sp>
        <p:nvSpPr>
          <p:cNvPr id="31" name="Oval 30"/>
          <p:cNvSpPr/>
          <p:nvPr/>
        </p:nvSpPr>
        <p:spPr>
          <a:xfrm>
            <a:off x="2359152" y="5650992"/>
            <a:ext cx="128016" cy="128016"/>
          </a:xfrm>
          <a:prstGeom prst="ellipse">
            <a:avLst/>
          </a:prstGeom>
          <a:solidFill>
            <a:srgbClr val="19B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587752" y="5394960"/>
            <a:ext cx="182880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FFFFFF"/>
                </a:solidFill>
                <a:latin typeface="Noto Sans CJK SC"/>
              </a:rPr>
              <a:t>落脚冲击峰值</a:t>
            </a:r>
          </a:p>
        </p:txBody>
      </p:sp>
      <p:sp>
        <p:nvSpPr>
          <p:cNvPr id="33" name="Oval 32"/>
          <p:cNvSpPr/>
          <p:nvPr/>
        </p:nvSpPr>
        <p:spPr>
          <a:xfrm>
            <a:off x="4663440" y="5650992"/>
            <a:ext cx="128016" cy="128016"/>
          </a:xfrm>
          <a:prstGeom prst="ellipse">
            <a:avLst/>
          </a:prstGeom>
          <a:solidFill>
            <a:srgbClr val="19B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892040" y="5394960"/>
            <a:ext cx="182880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FFFFFF"/>
                </a:solidFill>
                <a:latin typeface="Noto Sans CJK SC"/>
              </a:rPr>
              <a:t>足端滑移距离</a:t>
            </a:r>
          </a:p>
        </p:txBody>
      </p:sp>
      <p:sp>
        <p:nvSpPr>
          <p:cNvPr id="35" name="Oval 34"/>
          <p:cNvSpPr/>
          <p:nvPr/>
        </p:nvSpPr>
        <p:spPr>
          <a:xfrm>
            <a:off x="6903720" y="5650992"/>
            <a:ext cx="128016" cy="128016"/>
          </a:xfrm>
          <a:prstGeom prst="ellipse">
            <a:avLst/>
          </a:prstGeom>
          <a:solidFill>
            <a:srgbClr val="19B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132320" y="5394960"/>
            <a:ext cx="182880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FFFFFF"/>
                </a:solidFill>
                <a:latin typeface="Noto Sans CJK SC"/>
              </a:rPr>
              <a:t>关节振荡 / 抖动</a:t>
            </a:r>
          </a:p>
        </p:txBody>
      </p:sp>
      <p:sp>
        <p:nvSpPr>
          <p:cNvPr id="37" name="Oval 36"/>
          <p:cNvSpPr/>
          <p:nvPr/>
        </p:nvSpPr>
        <p:spPr>
          <a:xfrm>
            <a:off x="9144000" y="5650992"/>
            <a:ext cx="128016" cy="128016"/>
          </a:xfrm>
          <a:prstGeom prst="ellipse">
            <a:avLst/>
          </a:prstGeom>
          <a:solidFill>
            <a:srgbClr val="19B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372600" y="5394960"/>
            <a:ext cx="182880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FFFFFF"/>
                </a:solidFill>
                <a:latin typeface="Noto Sans CJK SC"/>
              </a:rPr>
              <a:t>不同地面成功率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2960" y="6510528"/>
            <a:ext cx="3657600" cy="164592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9AA4B5"/>
                </a:solidFill>
                <a:latin typeface="Noto Sans CJK SC"/>
              </a:rPr>
              <a:t>MJLAB / PHYSICS BACKEND REVIEW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881360" y="6473952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9AA4B5"/>
                </a:solidFill>
                <a:latin typeface="Noto Sans CJK SC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566928"/>
            <a:ext cx="566928" cy="566928"/>
          </a:xfrm>
          <a:prstGeom prst="rect">
            <a:avLst/>
          </a:prstGeom>
          <a:solidFill>
            <a:srgbClr val="026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Noto Sans CJK SC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36192" y="548640"/>
            <a:ext cx="960120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26BFF"/>
                </a:solidFill>
                <a:latin typeface="Noto Sans CJK SC"/>
              </a:rPr>
              <a:t>COMPARISON  / MJWarp vs PhysX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17904" y="832104"/>
            <a:ext cx="982980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262626"/>
                </a:solidFill>
                <a:latin typeface="Noto Sans CJK SC"/>
              </a:rPr>
              <a:t>机器人原生的约束表达，对比通用引擎的工程成熟度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682496"/>
            <a:ext cx="2743200" cy="1069848"/>
          </a:xfrm>
          <a:prstGeom prst="roundRect">
            <a:avLst>
              <a:gd name="adj" fmla="val 8000"/>
            </a:avLst>
          </a:prstGeom>
          <a:solidFill>
            <a:srgbClr val="E7F8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1810512"/>
            <a:ext cx="1143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4C58D"/>
                </a:solidFill>
                <a:latin typeface="Noto Sans CJK SC"/>
              </a:rPr>
              <a:t>MJWarp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185416"/>
            <a:ext cx="224028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62626"/>
                </a:solidFill>
                <a:latin typeface="Noto Sans CJK SC"/>
              </a:rPr>
              <a:t>广义坐标 · 运动学树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468880"/>
            <a:ext cx="224028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9" b="0">
                <a:solidFill>
                  <a:srgbClr val="727171"/>
                </a:solidFill>
                <a:latin typeface="Noto Sans CJK SC"/>
              </a:rPr>
              <a:t>关节按定义不可分离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95360" y="1682496"/>
            <a:ext cx="2743200" cy="1069848"/>
          </a:xfrm>
          <a:prstGeom prst="roundRect">
            <a:avLst>
              <a:gd name="adj" fmla="val 8000"/>
            </a:avLst>
          </a:prstGeom>
          <a:solidFill>
            <a:srgbClr val="FDE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23960" y="1810512"/>
            <a:ext cx="1143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68941"/>
                </a:solidFill>
                <a:latin typeface="Noto Sans CJK SC"/>
              </a:rPr>
              <a:t>PhysX 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23960" y="2185416"/>
            <a:ext cx="224028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62626"/>
                </a:solidFill>
                <a:latin typeface="Noto Sans CJK SC"/>
              </a:rPr>
              <a:t>最大坐标 · 约束连接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23960" y="2468880"/>
            <a:ext cx="224028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9" b="0">
                <a:solidFill>
                  <a:srgbClr val="727171"/>
                </a:solidFill>
                <a:latin typeface="Noto Sans CJK SC"/>
              </a:rPr>
              <a:t>TGS 降低高应力下的漂移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298448" y="3054096"/>
            <a:ext cx="2057400" cy="457200"/>
          </a:xfrm>
          <a:prstGeom prst="rect">
            <a:avLst/>
          </a:prstGeom>
          <a:solidFill>
            <a:srgbClr val="026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98448" y="3054096"/>
            <a:ext cx="20574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Noto Sans CJK SC"/>
              </a:rPr>
              <a:t>维度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55848" y="3054096"/>
            <a:ext cx="3657600" cy="457200"/>
          </a:xfrm>
          <a:prstGeom prst="rect">
            <a:avLst/>
          </a:prstGeom>
          <a:solidFill>
            <a:srgbClr val="24C5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355848" y="3054096"/>
            <a:ext cx="3657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Noto Sans CJK SC"/>
              </a:rPr>
              <a:t>MJWarp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013448" y="3054096"/>
            <a:ext cx="3886200" cy="457200"/>
          </a:xfrm>
          <a:prstGeom prst="rect">
            <a:avLst/>
          </a:prstGeom>
          <a:solidFill>
            <a:srgbClr val="F68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013448" y="3054096"/>
            <a:ext cx="3886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Noto Sans CJK SC"/>
              </a:rPr>
              <a:t>PhysX 5 / Isaac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298448" y="3593591"/>
            <a:ext cx="2057400" cy="502920"/>
          </a:xfrm>
          <a:prstGeom prst="rect">
            <a:avLst/>
          </a:prstGeom>
          <a:solidFill>
            <a:srgbClr val="F4F7FC"/>
          </a:solidFill>
          <a:ln w="8890">
            <a:solidFill>
              <a:srgbClr val="E4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71600" y="3593591"/>
            <a:ext cx="191109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80" b="1">
                <a:solidFill>
                  <a:srgbClr val="262626"/>
                </a:solidFill>
                <a:latin typeface="Noto Sans CJK SC"/>
              </a:rPr>
              <a:t>关节约束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355848" y="3593591"/>
            <a:ext cx="3657600" cy="502920"/>
          </a:xfrm>
          <a:prstGeom prst="rect">
            <a:avLst/>
          </a:prstGeom>
          <a:solidFill>
            <a:srgbClr val="FFFFFF"/>
          </a:solidFill>
          <a:ln w="8890">
            <a:solidFill>
              <a:srgbClr val="E4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429000" y="3593591"/>
            <a:ext cx="3511296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727171"/>
                </a:solidFill>
                <a:latin typeface="Noto Sans CJK SC"/>
              </a:rPr>
              <a:t>运动学树严格保持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013448" y="3593591"/>
            <a:ext cx="3886200" cy="502920"/>
          </a:xfrm>
          <a:prstGeom prst="rect">
            <a:avLst/>
          </a:prstGeom>
          <a:solidFill>
            <a:srgbClr val="FFFFFF"/>
          </a:solidFill>
          <a:ln w="8890">
            <a:solidFill>
              <a:srgbClr val="E4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086600" y="3593591"/>
            <a:ext cx="3739896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727171"/>
                </a:solidFill>
                <a:latin typeface="Noto Sans CJK SC"/>
              </a:rPr>
              <a:t>TGS 约束近似保持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298448" y="4169663"/>
            <a:ext cx="2057400" cy="502920"/>
          </a:xfrm>
          <a:prstGeom prst="rect">
            <a:avLst/>
          </a:prstGeom>
          <a:solidFill>
            <a:srgbClr val="F4F7FC"/>
          </a:solidFill>
          <a:ln w="8890">
            <a:solidFill>
              <a:srgbClr val="E4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371600" y="4169663"/>
            <a:ext cx="191109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80" b="1">
                <a:solidFill>
                  <a:srgbClr val="262626"/>
                </a:solidFill>
                <a:latin typeface="Noto Sans CJK SC"/>
              </a:rPr>
              <a:t>接触 / 摩擦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355848" y="4169663"/>
            <a:ext cx="3657600" cy="502920"/>
          </a:xfrm>
          <a:prstGeom prst="rect">
            <a:avLst/>
          </a:prstGeom>
          <a:solidFill>
            <a:srgbClr val="FFFFFF"/>
          </a:solidFill>
          <a:ln w="8890">
            <a:solidFill>
              <a:srgbClr val="E4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429000" y="4169663"/>
            <a:ext cx="3511296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727171"/>
                </a:solidFill>
                <a:latin typeface="Noto Sans CJK SC"/>
              </a:rPr>
              <a:t>硬接触 · 椭圆锥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013448" y="4169663"/>
            <a:ext cx="3886200" cy="502920"/>
          </a:xfrm>
          <a:prstGeom prst="rect">
            <a:avLst/>
          </a:prstGeom>
          <a:solidFill>
            <a:srgbClr val="FFFFFF"/>
          </a:solidFill>
          <a:ln w="8890">
            <a:solidFill>
              <a:srgbClr val="E4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086600" y="4169663"/>
            <a:ext cx="3739896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727171"/>
                </a:solidFill>
                <a:latin typeface="Noto Sans CJK SC"/>
              </a:rPr>
              <a:t>稳定接触 · 棱锥近似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298448" y="4745736"/>
            <a:ext cx="2057400" cy="502920"/>
          </a:xfrm>
          <a:prstGeom prst="rect">
            <a:avLst/>
          </a:prstGeom>
          <a:solidFill>
            <a:srgbClr val="F4F7FC"/>
          </a:solidFill>
          <a:ln w="8890">
            <a:solidFill>
              <a:srgbClr val="E4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371600" y="4745736"/>
            <a:ext cx="191109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80" b="1">
                <a:solidFill>
                  <a:srgbClr val="262626"/>
                </a:solidFill>
                <a:latin typeface="Noto Sans CJK SC"/>
              </a:rPr>
              <a:t>时间步长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355848" y="4745736"/>
            <a:ext cx="3657600" cy="502920"/>
          </a:xfrm>
          <a:prstGeom prst="rect">
            <a:avLst/>
          </a:prstGeom>
          <a:solidFill>
            <a:srgbClr val="FFFFFF"/>
          </a:solidFill>
          <a:ln w="8890">
            <a:solidFill>
              <a:srgbClr val="E4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429000" y="4745736"/>
            <a:ext cx="3511296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727171"/>
                </a:solidFill>
                <a:latin typeface="Noto Sans CJK SC"/>
              </a:rPr>
              <a:t>较大步长仍稳定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013448" y="4745736"/>
            <a:ext cx="3886200" cy="502920"/>
          </a:xfrm>
          <a:prstGeom prst="rect">
            <a:avLst/>
          </a:prstGeom>
          <a:solidFill>
            <a:srgbClr val="FFFFFF"/>
          </a:solidFill>
          <a:ln w="8890">
            <a:solidFill>
              <a:srgbClr val="E4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086600" y="4745736"/>
            <a:ext cx="3739896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727171"/>
                </a:solidFill>
                <a:latin typeface="Noto Sans CJK SC"/>
              </a:rPr>
              <a:t>常需更小子步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298448" y="5321808"/>
            <a:ext cx="2057400" cy="502920"/>
          </a:xfrm>
          <a:prstGeom prst="rect">
            <a:avLst/>
          </a:prstGeom>
          <a:solidFill>
            <a:srgbClr val="F4F7FC"/>
          </a:solidFill>
          <a:ln w="8890">
            <a:solidFill>
              <a:srgbClr val="E4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371600" y="5321808"/>
            <a:ext cx="191109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80" b="1">
                <a:solidFill>
                  <a:srgbClr val="262626"/>
                </a:solidFill>
                <a:latin typeface="Noto Sans CJK SC"/>
              </a:rPr>
              <a:t>复杂场景生态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355848" y="5321808"/>
            <a:ext cx="3657600" cy="502920"/>
          </a:xfrm>
          <a:prstGeom prst="rect">
            <a:avLst/>
          </a:prstGeom>
          <a:solidFill>
            <a:srgbClr val="FFFFFF"/>
          </a:solidFill>
          <a:ln w="8890">
            <a:solidFill>
              <a:srgbClr val="E4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429000" y="5321808"/>
            <a:ext cx="3511296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727171"/>
                </a:solidFill>
                <a:latin typeface="Noto Sans CJK SC"/>
              </a:rPr>
              <a:t>机器人学习优先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013448" y="5321808"/>
            <a:ext cx="3886200" cy="502920"/>
          </a:xfrm>
          <a:prstGeom prst="rect">
            <a:avLst/>
          </a:prstGeom>
          <a:solidFill>
            <a:srgbClr val="FFFFFF"/>
          </a:solidFill>
          <a:ln w="8890">
            <a:solidFill>
              <a:srgbClr val="E4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086600" y="5321808"/>
            <a:ext cx="3739896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727171"/>
                </a:solidFill>
                <a:latin typeface="Noto Sans CJK SC"/>
              </a:rPr>
              <a:t>传感器 / USD / Omniverse 完整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298448" y="5961888"/>
            <a:ext cx="9601200" cy="164592"/>
          </a:xfrm>
          <a:prstGeom prst="rect">
            <a:avLst/>
          </a:prstGeom>
          <a:solidFill>
            <a:srgbClr val="026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22960" y="6510528"/>
            <a:ext cx="3657600" cy="164592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9AA4B5"/>
                </a:solidFill>
                <a:latin typeface="Noto Sans CJK SC"/>
              </a:rPr>
              <a:t>MJLAB / PHYSICS BACKEND REVIEW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881360" y="6473952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9AA4B5"/>
                </a:solidFill>
                <a:latin typeface="Noto Sans CJK SC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566928"/>
            <a:ext cx="566928" cy="566928"/>
          </a:xfrm>
          <a:prstGeom prst="rect">
            <a:avLst/>
          </a:prstGeom>
          <a:solidFill>
            <a:srgbClr val="026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Noto Sans CJK SC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36192" y="548640"/>
            <a:ext cx="960120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26BFF"/>
                </a:solidFill>
                <a:latin typeface="Noto Sans CJK SC"/>
              </a:rPr>
              <a:t>SELECTION  / 引擎选型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17904" y="832104"/>
            <a:ext cx="982980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262626"/>
                </a:solidFill>
                <a:latin typeface="Noto Sans CJK SC"/>
              </a:rPr>
              <a:t>先看任务形态，再看硬件与生态约束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664208"/>
            <a:ext cx="3977639" cy="502920"/>
          </a:xfrm>
          <a:prstGeom prst="rect">
            <a:avLst/>
          </a:prstGeom>
          <a:solidFill>
            <a:srgbClr val="026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664208"/>
            <a:ext cx="3977639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Noto Sans CJK SC"/>
              </a:rPr>
              <a:t>任务 / 约束</a:t>
            </a:r>
          </a:p>
        </p:txBody>
      </p:sp>
      <p:sp>
        <p:nvSpPr>
          <p:cNvPr id="8" name="Rectangle 7"/>
          <p:cNvSpPr/>
          <p:nvPr/>
        </p:nvSpPr>
        <p:spPr>
          <a:xfrm>
            <a:off x="4800600" y="1664208"/>
            <a:ext cx="2148840" cy="502920"/>
          </a:xfrm>
          <a:prstGeom prst="rect">
            <a:avLst/>
          </a:prstGeom>
          <a:solidFill>
            <a:srgbClr val="926D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00600" y="1664208"/>
            <a:ext cx="21488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Noto Sans CJK SC"/>
              </a:rPr>
              <a:t>MJX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49440" y="1664208"/>
            <a:ext cx="2148840" cy="502920"/>
          </a:xfrm>
          <a:prstGeom prst="rect">
            <a:avLst/>
          </a:prstGeom>
          <a:solidFill>
            <a:srgbClr val="24C5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49440" y="1664208"/>
            <a:ext cx="21488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Noto Sans CJK SC"/>
              </a:rPr>
              <a:t>MJWarp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098280" y="1664208"/>
            <a:ext cx="2240280" cy="502920"/>
          </a:xfrm>
          <a:prstGeom prst="rect">
            <a:avLst/>
          </a:prstGeom>
          <a:solidFill>
            <a:srgbClr val="F68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98280" y="1664208"/>
            <a:ext cx="22402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Noto Sans CJK SC"/>
              </a:rPr>
              <a:t>PhysX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2258568"/>
            <a:ext cx="3977639" cy="548640"/>
          </a:xfrm>
          <a:prstGeom prst="rect">
            <a:avLst/>
          </a:prstGeom>
          <a:solidFill>
            <a:srgbClr val="F4F7FC"/>
          </a:solidFill>
          <a:ln w="7620">
            <a:solidFill>
              <a:srgbClr val="E4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4128" y="2258568"/>
            <a:ext cx="3657599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30" b="1">
                <a:solidFill>
                  <a:srgbClr val="262626"/>
                </a:solidFill>
                <a:latin typeface="Noto Sans CJK SC"/>
              </a:rPr>
              <a:t>大规模人形 / 四足运动训练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800600" y="2258568"/>
            <a:ext cx="2148840" cy="548640"/>
          </a:xfrm>
          <a:prstGeom prst="rect">
            <a:avLst/>
          </a:prstGeom>
          <a:solidFill>
            <a:srgbClr val="F4F7FC"/>
          </a:solidFill>
          <a:ln w="7620">
            <a:solidFill>
              <a:srgbClr val="E4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573268" y="2459736"/>
            <a:ext cx="146304" cy="146304"/>
          </a:xfrm>
          <a:prstGeom prst="ellipse">
            <a:avLst/>
          </a:prstGeom>
          <a:solidFill>
            <a:srgbClr val="926D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801868" y="2459736"/>
            <a:ext cx="146304" cy="146304"/>
          </a:xfrm>
          <a:prstGeom prst="ellipse">
            <a:avLst/>
          </a:prstGeom>
          <a:solidFill>
            <a:srgbClr val="926D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030468" y="2459736"/>
            <a:ext cx="146304" cy="146304"/>
          </a:xfrm>
          <a:prstGeom prst="ellipse">
            <a:avLst/>
          </a:prstGeom>
          <a:solidFill>
            <a:srgbClr val="926D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949440" y="2258568"/>
            <a:ext cx="2148840" cy="548640"/>
          </a:xfrm>
          <a:prstGeom prst="rect">
            <a:avLst/>
          </a:prstGeom>
          <a:solidFill>
            <a:srgbClr val="F4F7FC"/>
          </a:solidFill>
          <a:ln w="7620">
            <a:solidFill>
              <a:srgbClr val="E4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836408" y="2459736"/>
            <a:ext cx="146304" cy="146304"/>
          </a:xfrm>
          <a:prstGeom prst="ellipse">
            <a:avLst/>
          </a:prstGeom>
          <a:solidFill>
            <a:srgbClr val="24C5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65008" y="2459736"/>
            <a:ext cx="146304" cy="146304"/>
          </a:xfrm>
          <a:prstGeom prst="ellipse">
            <a:avLst/>
          </a:prstGeom>
          <a:solidFill>
            <a:srgbClr val="24C5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098280" y="2258568"/>
            <a:ext cx="2240280" cy="548640"/>
          </a:xfrm>
          <a:prstGeom prst="rect">
            <a:avLst/>
          </a:prstGeom>
          <a:solidFill>
            <a:srgbClr val="F4F7FC"/>
          </a:solidFill>
          <a:ln w="7620">
            <a:solidFill>
              <a:srgbClr val="E4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145267" y="2459736"/>
            <a:ext cx="146304" cy="146304"/>
          </a:xfrm>
          <a:prstGeom prst="ellipse">
            <a:avLst/>
          </a:prstGeom>
          <a:solidFill>
            <a:srgbClr val="F68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22960" y="2889504"/>
            <a:ext cx="3977639" cy="548640"/>
          </a:xfrm>
          <a:prstGeom prst="rect">
            <a:avLst/>
          </a:prstGeom>
          <a:solidFill>
            <a:srgbClr val="FFFFFF"/>
          </a:solidFill>
          <a:ln w="7620">
            <a:solidFill>
              <a:srgbClr val="E4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4128" y="2889504"/>
            <a:ext cx="3657599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30" b="1">
                <a:solidFill>
                  <a:srgbClr val="262626"/>
                </a:solidFill>
                <a:latin typeface="Noto Sans CJK SC"/>
              </a:rPr>
              <a:t>灵巧手、抓取、复杂网格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800600" y="2889504"/>
            <a:ext cx="2148840" cy="548640"/>
          </a:xfrm>
          <a:prstGeom prst="rect">
            <a:avLst/>
          </a:prstGeom>
          <a:solidFill>
            <a:srgbClr val="FFFFFF"/>
          </a:solidFill>
          <a:ln w="7620">
            <a:solidFill>
              <a:srgbClr val="E4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801868" y="3090672"/>
            <a:ext cx="146304" cy="146304"/>
          </a:xfrm>
          <a:prstGeom prst="ellipse">
            <a:avLst/>
          </a:prstGeom>
          <a:solidFill>
            <a:srgbClr val="926D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949440" y="2889504"/>
            <a:ext cx="2148840" cy="548640"/>
          </a:xfrm>
          <a:prstGeom prst="rect">
            <a:avLst/>
          </a:prstGeom>
          <a:solidFill>
            <a:srgbClr val="FFFFFF"/>
          </a:solidFill>
          <a:ln w="7620">
            <a:solidFill>
              <a:srgbClr val="E4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722108" y="3090672"/>
            <a:ext cx="146304" cy="146304"/>
          </a:xfrm>
          <a:prstGeom prst="ellipse">
            <a:avLst/>
          </a:prstGeom>
          <a:solidFill>
            <a:srgbClr val="24C5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7950708" y="3090672"/>
            <a:ext cx="146304" cy="146304"/>
          </a:xfrm>
          <a:prstGeom prst="ellipse">
            <a:avLst/>
          </a:prstGeom>
          <a:solidFill>
            <a:srgbClr val="24C5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179308" y="3090672"/>
            <a:ext cx="146304" cy="146304"/>
          </a:xfrm>
          <a:prstGeom prst="ellipse">
            <a:avLst/>
          </a:prstGeom>
          <a:solidFill>
            <a:srgbClr val="24C5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098280" y="2889504"/>
            <a:ext cx="2240280" cy="548640"/>
          </a:xfrm>
          <a:prstGeom prst="rect">
            <a:avLst/>
          </a:prstGeom>
          <a:solidFill>
            <a:srgbClr val="FFFFFF"/>
          </a:solidFill>
          <a:ln w="7620">
            <a:solidFill>
              <a:srgbClr val="E4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0030967" y="3090672"/>
            <a:ext cx="146304" cy="146304"/>
          </a:xfrm>
          <a:prstGeom prst="ellipse">
            <a:avLst/>
          </a:prstGeom>
          <a:solidFill>
            <a:srgbClr val="F68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10259567" y="3090672"/>
            <a:ext cx="146304" cy="146304"/>
          </a:xfrm>
          <a:prstGeom prst="ellipse">
            <a:avLst/>
          </a:prstGeom>
          <a:solidFill>
            <a:srgbClr val="F68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22960" y="3520440"/>
            <a:ext cx="3977639" cy="548640"/>
          </a:xfrm>
          <a:prstGeom prst="rect">
            <a:avLst/>
          </a:prstGeom>
          <a:solidFill>
            <a:srgbClr val="F4F7FC"/>
          </a:solidFill>
          <a:ln w="7620">
            <a:solidFill>
              <a:srgbClr val="E4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24128" y="3520440"/>
            <a:ext cx="3657599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30" b="1">
                <a:solidFill>
                  <a:srgbClr val="262626"/>
                </a:solidFill>
                <a:latin typeface="Noto Sans CJK SC"/>
              </a:rPr>
              <a:t>精密装配 / 不平坦地形验证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800600" y="3520440"/>
            <a:ext cx="2148840" cy="548640"/>
          </a:xfrm>
          <a:prstGeom prst="rect">
            <a:avLst/>
          </a:prstGeom>
          <a:solidFill>
            <a:srgbClr val="F4F7FC"/>
          </a:solidFill>
          <a:ln w="7620">
            <a:solidFill>
              <a:srgbClr val="E4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5801868" y="3721608"/>
            <a:ext cx="146304" cy="146304"/>
          </a:xfrm>
          <a:prstGeom prst="ellipse">
            <a:avLst/>
          </a:prstGeom>
          <a:solidFill>
            <a:srgbClr val="926D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949440" y="3520440"/>
            <a:ext cx="2148840" cy="548640"/>
          </a:xfrm>
          <a:prstGeom prst="rect">
            <a:avLst/>
          </a:prstGeom>
          <a:solidFill>
            <a:srgbClr val="F4F7FC"/>
          </a:solidFill>
          <a:ln w="7620">
            <a:solidFill>
              <a:srgbClr val="E4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7722108" y="3721608"/>
            <a:ext cx="146304" cy="146304"/>
          </a:xfrm>
          <a:prstGeom prst="ellipse">
            <a:avLst/>
          </a:prstGeom>
          <a:solidFill>
            <a:srgbClr val="24C5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7950708" y="3721608"/>
            <a:ext cx="146304" cy="146304"/>
          </a:xfrm>
          <a:prstGeom prst="ellipse">
            <a:avLst/>
          </a:prstGeom>
          <a:solidFill>
            <a:srgbClr val="24C5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8179308" y="3721608"/>
            <a:ext cx="146304" cy="146304"/>
          </a:xfrm>
          <a:prstGeom prst="ellipse">
            <a:avLst/>
          </a:prstGeom>
          <a:solidFill>
            <a:srgbClr val="24C5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9098280" y="3520440"/>
            <a:ext cx="2240280" cy="548640"/>
          </a:xfrm>
          <a:prstGeom prst="rect">
            <a:avLst/>
          </a:prstGeom>
          <a:solidFill>
            <a:srgbClr val="F4F7FC"/>
          </a:solidFill>
          <a:ln w="7620">
            <a:solidFill>
              <a:srgbClr val="E4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0030967" y="3721608"/>
            <a:ext cx="146304" cy="146304"/>
          </a:xfrm>
          <a:prstGeom prst="ellipse">
            <a:avLst/>
          </a:prstGeom>
          <a:solidFill>
            <a:srgbClr val="F68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0259567" y="3721608"/>
            <a:ext cx="146304" cy="146304"/>
          </a:xfrm>
          <a:prstGeom prst="ellipse">
            <a:avLst/>
          </a:prstGeom>
          <a:solidFill>
            <a:srgbClr val="F68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822960" y="4151376"/>
            <a:ext cx="3977639" cy="548640"/>
          </a:xfrm>
          <a:prstGeom prst="rect">
            <a:avLst/>
          </a:prstGeom>
          <a:solidFill>
            <a:srgbClr val="FFFFFF"/>
          </a:solidFill>
          <a:ln w="7620">
            <a:solidFill>
              <a:srgbClr val="E4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24128" y="4151376"/>
            <a:ext cx="3657599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30" b="1">
                <a:solidFill>
                  <a:srgbClr val="262626"/>
                </a:solidFill>
                <a:latin typeface="Noto Sans CJK SC"/>
              </a:rPr>
              <a:t>Omniverse 大场景与传感器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800600" y="4151376"/>
            <a:ext cx="2148840" cy="548640"/>
          </a:xfrm>
          <a:prstGeom prst="rect">
            <a:avLst/>
          </a:prstGeom>
          <a:solidFill>
            <a:srgbClr val="FFFFFF"/>
          </a:solidFill>
          <a:ln w="7620">
            <a:solidFill>
              <a:srgbClr val="E4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5801868" y="4352544"/>
            <a:ext cx="146304" cy="146304"/>
          </a:xfrm>
          <a:prstGeom prst="ellipse">
            <a:avLst/>
          </a:prstGeom>
          <a:solidFill>
            <a:srgbClr val="926D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949440" y="4151376"/>
            <a:ext cx="2148840" cy="548640"/>
          </a:xfrm>
          <a:prstGeom prst="rect">
            <a:avLst/>
          </a:prstGeom>
          <a:solidFill>
            <a:srgbClr val="FFFFFF"/>
          </a:solidFill>
          <a:ln w="7620">
            <a:solidFill>
              <a:srgbClr val="E4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7836408" y="4352544"/>
            <a:ext cx="146304" cy="146304"/>
          </a:xfrm>
          <a:prstGeom prst="ellipse">
            <a:avLst/>
          </a:prstGeom>
          <a:solidFill>
            <a:srgbClr val="24C5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8065008" y="4352544"/>
            <a:ext cx="146304" cy="146304"/>
          </a:xfrm>
          <a:prstGeom prst="ellipse">
            <a:avLst/>
          </a:prstGeom>
          <a:solidFill>
            <a:srgbClr val="24C5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9098280" y="4151376"/>
            <a:ext cx="2240280" cy="548640"/>
          </a:xfrm>
          <a:prstGeom prst="rect">
            <a:avLst/>
          </a:prstGeom>
          <a:solidFill>
            <a:srgbClr val="FFFFFF"/>
          </a:solidFill>
          <a:ln w="7620">
            <a:solidFill>
              <a:srgbClr val="E4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9916667" y="4352544"/>
            <a:ext cx="146304" cy="146304"/>
          </a:xfrm>
          <a:prstGeom prst="ellipse">
            <a:avLst/>
          </a:prstGeom>
          <a:solidFill>
            <a:srgbClr val="F68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10145267" y="4352544"/>
            <a:ext cx="146304" cy="146304"/>
          </a:xfrm>
          <a:prstGeom prst="ellipse">
            <a:avLst/>
          </a:prstGeom>
          <a:solidFill>
            <a:srgbClr val="F68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10373867" y="4352544"/>
            <a:ext cx="146304" cy="146304"/>
          </a:xfrm>
          <a:prstGeom prst="ellipse">
            <a:avLst/>
          </a:prstGeom>
          <a:solidFill>
            <a:srgbClr val="F68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822960" y="4782312"/>
            <a:ext cx="3977639" cy="548640"/>
          </a:xfrm>
          <a:prstGeom prst="rect">
            <a:avLst/>
          </a:prstGeom>
          <a:solidFill>
            <a:srgbClr val="F4F7FC"/>
          </a:solidFill>
          <a:ln w="7620">
            <a:solidFill>
              <a:srgbClr val="E4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024128" y="4782312"/>
            <a:ext cx="3657599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30" b="1">
                <a:solidFill>
                  <a:srgbClr val="262626"/>
                </a:solidFill>
                <a:latin typeface="Noto Sans CJK SC"/>
              </a:rPr>
              <a:t>端到端可微 / JAX 优化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800600" y="4782312"/>
            <a:ext cx="2148840" cy="548640"/>
          </a:xfrm>
          <a:prstGeom prst="rect">
            <a:avLst/>
          </a:prstGeom>
          <a:solidFill>
            <a:srgbClr val="F4F7FC"/>
          </a:solidFill>
          <a:ln w="7620">
            <a:solidFill>
              <a:srgbClr val="E4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5573268" y="4983480"/>
            <a:ext cx="146304" cy="146304"/>
          </a:xfrm>
          <a:prstGeom prst="ellipse">
            <a:avLst/>
          </a:prstGeom>
          <a:solidFill>
            <a:srgbClr val="926D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5801868" y="4983480"/>
            <a:ext cx="146304" cy="146304"/>
          </a:xfrm>
          <a:prstGeom prst="ellipse">
            <a:avLst/>
          </a:prstGeom>
          <a:solidFill>
            <a:srgbClr val="926D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6030468" y="4983480"/>
            <a:ext cx="146304" cy="146304"/>
          </a:xfrm>
          <a:prstGeom prst="ellipse">
            <a:avLst/>
          </a:prstGeom>
          <a:solidFill>
            <a:srgbClr val="926D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6949440" y="4782312"/>
            <a:ext cx="2148840" cy="548640"/>
          </a:xfrm>
          <a:prstGeom prst="rect">
            <a:avLst/>
          </a:prstGeom>
          <a:solidFill>
            <a:srgbClr val="F4F7FC"/>
          </a:solidFill>
          <a:ln w="7620">
            <a:solidFill>
              <a:srgbClr val="E4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7950708" y="4983480"/>
            <a:ext cx="146304" cy="146304"/>
          </a:xfrm>
          <a:prstGeom prst="ellipse">
            <a:avLst/>
          </a:prstGeom>
          <a:solidFill>
            <a:srgbClr val="24C5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9098280" y="4782312"/>
            <a:ext cx="2240280" cy="548640"/>
          </a:xfrm>
          <a:prstGeom prst="rect">
            <a:avLst/>
          </a:prstGeom>
          <a:solidFill>
            <a:srgbClr val="F4F7FC"/>
          </a:solidFill>
          <a:ln w="7620">
            <a:solidFill>
              <a:srgbClr val="E4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10145267" y="4983480"/>
            <a:ext cx="146304" cy="146304"/>
          </a:xfrm>
          <a:prstGeom prst="ellipse">
            <a:avLst/>
          </a:prstGeom>
          <a:solidFill>
            <a:srgbClr val="F68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822960" y="5413248"/>
            <a:ext cx="3977639" cy="548640"/>
          </a:xfrm>
          <a:prstGeom prst="rect">
            <a:avLst/>
          </a:prstGeom>
          <a:solidFill>
            <a:srgbClr val="FFFFFF"/>
          </a:solidFill>
          <a:ln w="7620">
            <a:solidFill>
              <a:srgbClr val="E4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024128" y="5413248"/>
            <a:ext cx="3657599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30" b="1">
                <a:solidFill>
                  <a:srgbClr val="262626"/>
                </a:solidFill>
                <a:latin typeface="Noto Sans CJK SC"/>
              </a:rPr>
              <a:t>TPU / Mac / 跨平台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800600" y="5413248"/>
            <a:ext cx="2148840" cy="548640"/>
          </a:xfrm>
          <a:prstGeom prst="rect">
            <a:avLst/>
          </a:prstGeom>
          <a:solidFill>
            <a:srgbClr val="FFFFFF"/>
          </a:solidFill>
          <a:ln w="7620">
            <a:solidFill>
              <a:srgbClr val="E4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5573268" y="5614416"/>
            <a:ext cx="146304" cy="146304"/>
          </a:xfrm>
          <a:prstGeom prst="ellipse">
            <a:avLst/>
          </a:prstGeom>
          <a:solidFill>
            <a:srgbClr val="926D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5801868" y="5614416"/>
            <a:ext cx="146304" cy="146304"/>
          </a:xfrm>
          <a:prstGeom prst="ellipse">
            <a:avLst/>
          </a:prstGeom>
          <a:solidFill>
            <a:srgbClr val="926D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6030468" y="5614416"/>
            <a:ext cx="146304" cy="146304"/>
          </a:xfrm>
          <a:prstGeom prst="ellipse">
            <a:avLst/>
          </a:prstGeom>
          <a:solidFill>
            <a:srgbClr val="926D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6949440" y="5413248"/>
            <a:ext cx="2148840" cy="548640"/>
          </a:xfrm>
          <a:prstGeom prst="rect">
            <a:avLst/>
          </a:prstGeom>
          <a:solidFill>
            <a:srgbClr val="FFFFFF"/>
          </a:solidFill>
          <a:ln w="7620">
            <a:solidFill>
              <a:srgbClr val="E4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7950708" y="5614416"/>
            <a:ext cx="146304" cy="146304"/>
          </a:xfrm>
          <a:prstGeom prst="ellipse">
            <a:avLst/>
          </a:prstGeom>
          <a:solidFill>
            <a:srgbClr val="24C5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9098280" y="5413248"/>
            <a:ext cx="2240280" cy="548640"/>
          </a:xfrm>
          <a:prstGeom prst="rect">
            <a:avLst/>
          </a:prstGeom>
          <a:solidFill>
            <a:srgbClr val="FFFFFF"/>
          </a:solidFill>
          <a:ln w="7620">
            <a:solidFill>
              <a:srgbClr val="E4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10145267" y="5614416"/>
            <a:ext cx="146304" cy="146304"/>
          </a:xfrm>
          <a:prstGeom prst="ellipse">
            <a:avLst/>
          </a:prstGeom>
          <a:solidFill>
            <a:srgbClr val="F68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9034272" y="6080760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27171"/>
                </a:solidFill>
                <a:latin typeface="Noto Sans CJK SC"/>
              </a:rPr>
              <a:t>● 首选倾向越强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22960" y="6510528"/>
            <a:ext cx="3657600" cy="164592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9AA4B5"/>
                </a:solidFill>
                <a:latin typeface="Noto Sans CJK SC"/>
              </a:rPr>
              <a:t>MJLAB / PHYSICS BACKEND REVIEW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0881360" y="6473952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9AA4B5"/>
                </a:solidFill>
                <a:latin typeface="Noto Sans CJK SC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566928"/>
            <a:ext cx="566928" cy="566928"/>
          </a:xfrm>
          <a:prstGeom prst="rect">
            <a:avLst/>
          </a:prstGeom>
          <a:solidFill>
            <a:srgbClr val="026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Noto Sans CJK SC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36192" y="548640"/>
            <a:ext cx="960120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26BFF"/>
                </a:solidFill>
                <a:latin typeface="Noto Sans CJK SC"/>
              </a:rPr>
              <a:t>MJLAB  / 能力路线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17904" y="832104"/>
            <a:ext cx="982980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262626"/>
                </a:solidFill>
                <a:latin typeface="Noto Sans CJK SC"/>
              </a:rPr>
              <a:t>平台落地需要补齐八项工程能力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627632"/>
            <a:ext cx="5138928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87552" y="1792224"/>
            <a:ext cx="585216" cy="585216"/>
          </a:xfrm>
          <a:prstGeom prst="rect">
            <a:avLst/>
          </a:prstGeom>
          <a:solidFill>
            <a:srgbClr val="026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87552" y="1792224"/>
            <a:ext cx="585216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Noto Sans CJK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55648" y="1719072"/>
            <a:ext cx="3886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262626"/>
                </a:solidFill>
                <a:latin typeface="Noto Sans CJK SC"/>
              </a:rPr>
              <a:t>快速 CUDA 仿真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55648" y="2084832"/>
            <a:ext cx="388620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30" b="0">
                <a:solidFill>
                  <a:srgbClr val="727171"/>
                </a:solidFill>
                <a:latin typeface="Noto Sans CJK SC"/>
              </a:rPr>
              <a:t>构建更强的 Isaac Lab 训练底座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9632" y="1627632"/>
            <a:ext cx="5138928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64224" y="1792224"/>
            <a:ext cx="585216" cy="585216"/>
          </a:xfrm>
          <a:prstGeom prst="rect">
            <a:avLst/>
          </a:prstGeom>
          <a:solidFill>
            <a:srgbClr val="926D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64224" y="1792224"/>
            <a:ext cx="585216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Noto Sans CJK SC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0" y="1719072"/>
            <a:ext cx="3886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262626"/>
                </a:solidFill>
                <a:latin typeface="Noto Sans CJK SC"/>
              </a:rPr>
              <a:t>执行器模型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0" y="2084832"/>
            <a:ext cx="388620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30" b="0">
                <a:solidFill>
                  <a:srgbClr val="727171"/>
                </a:solidFill>
                <a:latin typeface="Noto Sans CJK SC"/>
              </a:rPr>
              <a:t>电机、减速器与控制延迟更贴近实机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2706624"/>
            <a:ext cx="5138928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87552" y="2871216"/>
            <a:ext cx="585216" cy="585216"/>
          </a:xfrm>
          <a:prstGeom prst="rect">
            <a:avLst/>
          </a:prstGeom>
          <a:solidFill>
            <a:srgbClr val="24C5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87552" y="2871216"/>
            <a:ext cx="585216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Noto Sans CJK SC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55648" y="2798064"/>
            <a:ext cx="3886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262626"/>
                </a:solidFill>
                <a:latin typeface="Noto Sans CJK SC"/>
              </a:rPr>
              <a:t>脚部碰撞模型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55648" y="3163824"/>
            <a:ext cx="388620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30" b="0">
                <a:solidFill>
                  <a:srgbClr val="727171"/>
                </a:solidFill>
                <a:latin typeface="Noto Sans CJK SC"/>
              </a:rPr>
              <a:t>聚焦落脚冲击、摩擦与滑移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99632" y="2706624"/>
            <a:ext cx="5138928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364224" y="2871216"/>
            <a:ext cx="585216" cy="585216"/>
          </a:xfrm>
          <a:prstGeom prst="rect">
            <a:avLst/>
          </a:prstGeom>
          <a:solidFill>
            <a:srgbClr val="F68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64224" y="2871216"/>
            <a:ext cx="585216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Noto Sans CJK SC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32320" y="2798064"/>
            <a:ext cx="3886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262626"/>
                </a:solidFill>
                <a:latin typeface="Noto Sans CJK SC"/>
              </a:rPr>
              <a:t>Warp → Newton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32320" y="3163824"/>
            <a:ext cx="388620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30" b="0">
                <a:solidFill>
                  <a:srgbClr val="727171"/>
                </a:solidFill>
                <a:latin typeface="Noto Sans CJK SC"/>
              </a:rPr>
              <a:t>为 Isaac Lab 的新物理后端预留接口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22960" y="3785615"/>
            <a:ext cx="5138928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87552" y="3950207"/>
            <a:ext cx="585216" cy="585216"/>
          </a:xfrm>
          <a:prstGeom prst="rect">
            <a:avLst/>
          </a:prstGeom>
          <a:solidFill>
            <a:srgbClr val="24C5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87552" y="3950207"/>
            <a:ext cx="585216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Noto Sans CJK SC"/>
              </a:rPr>
              <a:t>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755648" y="3877055"/>
            <a:ext cx="3886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262626"/>
                </a:solidFill>
                <a:latin typeface="Noto Sans CJK SC"/>
              </a:rPr>
              <a:t>物理保真度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755648" y="4242816"/>
            <a:ext cx="388620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30" b="0">
                <a:solidFill>
                  <a:srgbClr val="727171"/>
                </a:solidFill>
                <a:latin typeface="Noto Sans CJK SC"/>
              </a:rPr>
              <a:t>建立 MJX / MJWarp / 实机一致性指标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199632" y="3785615"/>
            <a:ext cx="5138928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364224" y="3950207"/>
            <a:ext cx="585216" cy="585216"/>
          </a:xfrm>
          <a:prstGeom prst="rect">
            <a:avLst/>
          </a:prstGeom>
          <a:solidFill>
            <a:srgbClr val="026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64224" y="3950207"/>
            <a:ext cx="585216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Noto Sans CJK SC"/>
              </a:rPr>
              <a:t>06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32320" y="3877055"/>
            <a:ext cx="3886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262626"/>
                </a:solidFill>
                <a:latin typeface="Noto Sans CJK SC"/>
              </a:rPr>
              <a:t>训练检查点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132320" y="4242816"/>
            <a:ext cx="388620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30" b="0">
                <a:solidFill>
                  <a:srgbClr val="727171"/>
                </a:solidFill>
                <a:latin typeface="Noto Sans CJK SC"/>
              </a:rPr>
              <a:t>可恢复、可回放、可跨后端复现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22960" y="4864608"/>
            <a:ext cx="5138928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87552" y="5029200"/>
            <a:ext cx="585216" cy="585216"/>
          </a:xfrm>
          <a:prstGeom prst="rect">
            <a:avLst/>
          </a:prstGeom>
          <a:solidFill>
            <a:srgbClr val="926D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87552" y="5029200"/>
            <a:ext cx="585216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Noto Sans CJK SC"/>
              </a:rPr>
              <a:t>07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755648" y="4956048"/>
            <a:ext cx="3886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262626"/>
                </a:solidFill>
                <a:latin typeface="Noto Sans CJK SC"/>
              </a:rPr>
              <a:t>MuJoCo 内训练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755648" y="5321808"/>
            <a:ext cx="388620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30" b="0">
                <a:solidFill>
                  <a:srgbClr val="727171"/>
                </a:solidFill>
                <a:latin typeface="Noto Sans CJK SC"/>
              </a:rPr>
              <a:t>缩短模型、策略与验证之间的距离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199632" y="4864608"/>
            <a:ext cx="5138928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364224" y="5029200"/>
            <a:ext cx="585216" cy="585216"/>
          </a:xfrm>
          <a:prstGeom prst="rect">
            <a:avLst/>
          </a:prstGeom>
          <a:solidFill>
            <a:srgbClr val="F68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64224" y="5029200"/>
            <a:ext cx="585216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Noto Sans CJK SC"/>
              </a:rPr>
              <a:t>08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132320" y="4956048"/>
            <a:ext cx="3886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262626"/>
                </a:solidFill>
                <a:latin typeface="Noto Sans CJK SC"/>
              </a:rPr>
              <a:t>IRL 与重定向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132320" y="5321808"/>
            <a:ext cx="388620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30" b="0">
                <a:solidFill>
                  <a:srgbClr val="727171"/>
                </a:solidFill>
                <a:latin typeface="Noto Sans CJK SC"/>
              </a:rPr>
              <a:t>人形奖励学习 → 双足动作迁移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22960" y="5971032"/>
            <a:ext cx="10515600" cy="182880"/>
          </a:xfrm>
          <a:prstGeom prst="rect">
            <a:avLst/>
          </a:prstGeom>
          <a:solidFill>
            <a:srgbClr val="026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22960" y="6510528"/>
            <a:ext cx="3657600" cy="164592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9AA4B5"/>
                </a:solidFill>
                <a:latin typeface="Noto Sans CJK SC"/>
              </a:rPr>
              <a:t>MJLAB / PHYSICS BACKEND REVIEW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881360" y="6473952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9AA4B5"/>
                </a:solidFill>
                <a:latin typeface="Noto Sans CJK SC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098280" y="3383280"/>
            <a:ext cx="4114800" cy="4114800"/>
          </a:xfrm>
          <a:prstGeom prst="ellipse">
            <a:avLst/>
          </a:prstGeom>
          <a:solidFill>
            <a:srgbClr val="EA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463040" y="-1645920"/>
            <a:ext cx="3840480" cy="3840480"/>
          </a:xfrm>
          <a:prstGeom prst="ellipse">
            <a:avLst/>
          </a:prstGeom>
          <a:solidFill>
            <a:srgbClr val="F4F7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804672"/>
            <a:ext cx="502920" cy="82296"/>
          </a:xfrm>
          <a:prstGeom prst="rect">
            <a:avLst/>
          </a:prstGeom>
          <a:solidFill>
            <a:srgbClr val="026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987552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26BFF"/>
                </a:solidFill>
                <a:latin typeface="Noto Sans CJK SC"/>
              </a:rPr>
              <a:t>RECOMMENDATION  / 建议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" y="1417320"/>
            <a:ext cx="7498079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262626"/>
                </a:solidFill>
                <a:latin typeface="Noto Sans CJK SC"/>
              </a:rPr>
              <a:t>平台、物理、应用分层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084831"/>
            <a:ext cx="76809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026BFF"/>
                </a:solidFill>
                <a:latin typeface="Noto Sans CJK SC"/>
              </a:rPr>
              <a:t>用双试点验证 NVIDIA 仿真闭环</a:t>
            </a:r>
          </a:p>
        </p:txBody>
      </p:sp>
      <p:sp>
        <p:nvSpPr>
          <p:cNvPr id="8" name="Oval 7"/>
          <p:cNvSpPr/>
          <p:nvPr/>
        </p:nvSpPr>
        <p:spPr>
          <a:xfrm>
            <a:off x="914400" y="2990088"/>
            <a:ext cx="475488" cy="475488"/>
          </a:xfrm>
          <a:prstGeom prst="ellipse">
            <a:avLst/>
          </a:prstGeom>
          <a:solidFill>
            <a:srgbClr val="026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990088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00200" y="2852928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62626"/>
                </a:solidFill>
                <a:latin typeface="Noto Sans CJK SC"/>
              </a:rPr>
              <a:t>OpenUSD 统一场景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51960" y="2852928"/>
            <a:ext cx="5257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727171"/>
                </a:solidFill>
                <a:latin typeface="Noto Sans CJK SC"/>
              </a:rPr>
              <a:t>让资产、传感器与仿真数据跨阶段复用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600200" y="3547872"/>
            <a:ext cx="7360920" cy="0"/>
          </a:xfrm>
          <a:prstGeom prst="line">
            <a:avLst/>
          </a:prstGeom>
          <a:ln w="10160">
            <a:solidFill>
              <a:srgbClr val="E4E9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914400" y="3931920"/>
            <a:ext cx="475488" cy="475488"/>
          </a:xfrm>
          <a:prstGeom prst="ellipse">
            <a:avLst/>
          </a:prstGeom>
          <a:solidFill>
            <a:srgbClr val="24C5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931920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00200" y="379476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62626"/>
                </a:solidFill>
                <a:latin typeface="Noto Sans CJK SC"/>
              </a:rPr>
              <a:t>双物理后端分工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51960" y="3794760"/>
            <a:ext cx="5257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727171"/>
                </a:solidFill>
                <a:latin typeface="Noto Sans CJK SC"/>
              </a:rPr>
              <a:t>PhysX 承接通用工程，MJWarp 承接高保真与并发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600200" y="4489704"/>
            <a:ext cx="7360920" cy="0"/>
          </a:xfrm>
          <a:prstGeom prst="line">
            <a:avLst/>
          </a:prstGeom>
          <a:ln w="10160">
            <a:solidFill>
              <a:srgbClr val="E4E9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/>
          <p:cNvSpPr/>
          <p:nvPr/>
        </p:nvSpPr>
        <p:spPr>
          <a:xfrm>
            <a:off x="914400" y="4873752"/>
            <a:ext cx="475488" cy="475488"/>
          </a:xfrm>
          <a:prstGeom prst="ellipse">
            <a:avLst/>
          </a:prstGeom>
          <a:solidFill>
            <a:srgbClr val="F68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4873752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00200" y="4736592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62626"/>
                </a:solidFill>
                <a:latin typeface="Noto Sans CJK SC"/>
              </a:rPr>
              <a:t>双应用试点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51960" y="4736592"/>
            <a:ext cx="5257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727171"/>
                </a:solidFill>
                <a:latin typeface="Noto Sans CJK SC"/>
              </a:rPr>
              <a:t>新型机器人零迁移训练 + 焊接机器人多物理场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68680" y="5961888"/>
            <a:ext cx="548640" cy="73152"/>
          </a:xfrm>
          <a:prstGeom prst="rect">
            <a:avLst/>
          </a:prstGeom>
          <a:solidFill>
            <a:srgbClr val="026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6099048"/>
            <a:ext cx="96926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727171"/>
                </a:solidFill>
                <a:latin typeface="Noto Sans CJK SC"/>
              </a:rPr>
              <a:t>下一步：以同一 OpenUSD 场景建立 Isaac Sim → MJWarp / MjLab → 实机回归基线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81360" y="6473952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9AA4B5"/>
                </a:solidFill>
                <a:latin typeface="Noto Sans CJK SC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566928"/>
            <a:ext cx="566928" cy="566928"/>
          </a:xfrm>
          <a:prstGeom prst="rect">
            <a:avLst/>
          </a:prstGeom>
          <a:solidFill>
            <a:srgbClr val="026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Noto Sans CJK SC"/>
              </a:rPr>
              <a:t>A1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36192" y="548640"/>
            <a:ext cx="960120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26BFF"/>
                </a:solidFill>
                <a:latin typeface="Noto Sans CJK SC"/>
              </a:rPr>
              <a:t>APPENDIX  / NVIDIA 仿真平台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17904" y="832104"/>
            <a:ext cx="982980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262626"/>
                </a:solidFill>
                <a:latin typeface="Noto Sans CJK SC"/>
              </a:rPr>
              <a:t>从 OpenUSD 场景描述到零迁移训练，形成一体化闭环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737360"/>
            <a:ext cx="1847088" cy="2999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26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87552" y="1938528"/>
            <a:ext cx="502920" cy="283464"/>
          </a:xfrm>
          <a:prstGeom prst="roundRect">
            <a:avLst>
              <a:gd name="adj" fmla="val 8000"/>
            </a:avLst>
          </a:prstGeom>
          <a:solidFill>
            <a:srgbClr val="EA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87552" y="1938528"/>
            <a:ext cx="502920" cy="283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26BFF"/>
                </a:solidFill>
                <a:latin typeface="Noto Sans CJK SC"/>
              </a:rPr>
              <a:t>01</a:t>
            </a:r>
          </a:p>
        </p:txBody>
      </p:sp>
      <p:sp>
        <p:nvSpPr>
          <p:cNvPr id="9" name="Oval 8"/>
          <p:cNvSpPr/>
          <p:nvPr/>
        </p:nvSpPr>
        <p:spPr>
          <a:xfrm>
            <a:off x="1453895" y="2487168"/>
            <a:ext cx="585216" cy="585216"/>
          </a:xfrm>
          <a:prstGeom prst="ellipse">
            <a:avLst/>
          </a:prstGeom>
          <a:solidFill>
            <a:srgbClr val="026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53895" y="2487168"/>
            <a:ext cx="585216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Noto Sans CJK SC"/>
              </a:rPr>
              <a:t>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9264" y="3246120"/>
            <a:ext cx="15544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262626"/>
                </a:solidFill>
                <a:latin typeface="Noto Sans CJK SC"/>
              </a:rPr>
              <a:t>OpenUSD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9264" y="3794760"/>
            <a:ext cx="155448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>
                <a:solidFill>
                  <a:srgbClr val="727171"/>
                </a:solidFill>
                <a:latin typeface="Noto Sans CJK SC"/>
              </a:rPr>
              <a:t>统一场景描述
资产 · 材质 · 机器人</a:t>
            </a:r>
          </a:p>
        </p:txBody>
      </p:sp>
      <p:sp>
        <p:nvSpPr>
          <p:cNvPr id="13" name="Chevron 12"/>
          <p:cNvSpPr/>
          <p:nvPr/>
        </p:nvSpPr>
        <p:spPr>
          <a:xfrm>
            <a:off x="2715768" y="2944368"/>
            <a:ext cx="329184" cy="420624"/>
          </a:xfrm>
          <a:prstGeom prst="chevron">
            <a:avLst>
              <a:gd name="adj" fmla="val 22000"/>
            </a:avLst>
          </a:prstGeom>
          <a:solidFill>
            <a:srgbClr val="026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980944" y="1737360"/>
            <a:ext cx="1847088" cy="2999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19B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145536" y="1938528"/>
            <a:ext cx="502920" cy="283464"/>
          </a:xfrm>
          <a:prstGeom prst="roundRect">
            <a:avLst>
              <a:gd name="adj" fmla="val 8000"/>
            </a:avLst>
          </a:prstGeom>
          <a:solidFill>
            <a:srgbClr val="EA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145536" y="1938528"/>
            <a:ext cx="502920" cy="283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9B7FF"/>
                </a:solidFill>
                <a:latin typeface="Noto Sans CJK SC"/>
              </a:rPr>
              <a:t>02</a:t>
            </a:r>
          </a:p>
        </p:txBody>
      </p:sp>
      <p:sp>
        <p:nvSpPr>
          <p:cNvPr id="17" name="Oval 16"/>
          <p:cNvSpPr/>
          <p:nvPr/>
        </p:nvSpPr>
        <p:spPr>
          <a:xfrm>
            <a:off x="3611879" y="2487168"/>
            <a:ext cx="585216" cy="585216"/>
          </a:xfrm>
          <a:prstGeom prst="ellipse">
            <a:avLst/>
          </a:prstGeom>
          <a:solidFill>
            <a:srgbClr val="19B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11879" y="2487168"/>
            <a:ext cx="585216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Noto Sans CJK SC"/>
              </a:rPr>
              <a:t>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27248" y="3246120"/>
            <a:ext cx="15544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262626"/>
                </a:solidFill>
                <a:latin typeface="Noto Sans CJK SC"/>
              </a:rPr>
              <a:t>Isaac Sim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27248" y="3794760"/>
            <a:ext cx="155448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>
                <a:solidFill>
                  <a:srgbClr val="727171"/>
                </a:solidFill>
                <a:latin typeface="Noto Sans CJK SC"/>
              </a:rPr>
              <a:t>可视化与传感器
数字场景搭建</a:t>
            </a:r>
          </a:p>
        </p:txBody>
      </p:sp>
      <p:sp>
        <p:nvSpPr>
          <p:cNvPr id="21" name="Chevron 20"/>
          <p:cNvSpPr/>
          <p:nvPr/>
        </p:nvSpPr>
        <p:spPr>
          <a:xfrm>
            <a:off x="4873752" y="2944368"/>
            <a:ext cx="329184" cy="420624"/>
          </a:xfrm>
          <a:prstGeom prst="chevron">
            <a:avLst>
              <a:gd name="adj" fmla="val 22000"/>
            </a:avLst>
          </a:prstGeom>
          <a:solidFill>
            <a:srgbClr val="026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138928" y="1737360"/>
            <a:ext cx="1847088" cy="2999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F689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303520" y="1938528"/>
            <a:ext cx="502920" cy="283464"/>
          </a:xfrm>
          <a:prstGeom prst="roundRect">
            <a:avLst>
              <a:gd name="adj" fmla="val 8000"/>
            </a:avLst>
          </a:prstGeom>
          <a:solidFill>
            <a:srgbClr val="FDE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303520" y="1938528"/>
            <a:ext cx="502920" cy="283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68941"/>
                </a:solidFill>
                <a:latin typeface="Noto Sans CJK SC"/>
              </a:rPr>
              <a:t>03</a:t>
            </a:r>
          </a:p>
        </p:txBody>
      </p:sp>
      <p:sp>
        <p:nvSpPr>
          <p:cNvPr id="25" name="Oval 24"/>
          <p:cNvSpPr/>
          <p:nvPr/>
        </p:nvSpPr>
        <p:spPr>
          <a:xfrm>
            <a:off x="5769864" y="2487168"/>
            <a:ext cx="585216" cy="585216"/>
          </a:xfrm>
          <a:prstGeom prst="ellipse">
            <a:avLst/>
          </a:prstGeom>
          <a:solidFill>
            <a:srgbClr val="F68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769864" y="2487168"/>
            <a:ext cx="585216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Noto Sans CJK SC"/>
              </a:rPr>
              <a:t>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85232" y="3246120"/>
            <a:ext cx="15544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262626"/>
                </a:solidFill>
                <a:latin typeface="Noto Sans CJK SC"/>
              </a:rPr>
              <a:t>双物理后端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85232" y="3794760"/>
            <a:ext cx="155448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>
                <a:solidFill>
                  <a:srgbClr val="727171"/>
                </a:solidFill>
                <a:latin typeface="Noto Sans CJK SC"/>
              </a:rPr>
              <a:t>PhysX 通用仿真
→ MJWarp 高保真</a:t>
            </a:r>
          </a:p>
        </p:txBody>
      </p:sp>
      <p:sp>
        <p:nvSpPr>
          <p:cNvPr id="29" name="Chevron 28"/>
          <p:cNvSpPr/>
          <p:nvPr/>
        </p:nvSpPr>
        <p:spPr>
          <a:xfrm>
            <a:off x="7031736" y="2944368"/>
            <a:ext cx="329184" cy="420624"/>
          </a:xfrm>
          <a:prstGeom prst="chevron">
            <a:avLst>
              <a:gd name="adj" fmla="val 22000"/>
            </a:avLst>
          </a:prstGeom>
          <a:solidFill>
            <a:srgbClr val="026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296912" y="1737360"/>
            <a:ext cx="1847088" cy="2999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24C5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7461504" y="1938528"/>
            <a:ext cx="502920" cy="283464"/>
          </a:xfrm>
          <a:prstGeom prst="roundRect">
            <a:avLst>
              <a:gd name="adj" fmla="val 8000"/>
            </a:avLst>
          </a:prstGeom>
          <a:solidFill>
            <a:srgbClr val="E7F8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461504" y="1938528"/>
            <a:ext cx="502920" cy="283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24C58D"/>
                </a:solidFill>
                <a:latin typeface="Noto Sans CJK SC"/>
              </a:rPr>
              <a:t>04</a:t>
            </a:r>
          </a:p>
        </p:txBody>
      </p:sp>
      <p:sp>
        <p:nvSpPr>
          <p:cNvPr id="33" name="Oval 32"/>
          <p:cNvSpPr/>
          <p:nvPr/>
        </p:nvSpPr>
        <p:spPr>
          <a:xfrm>
            <a:off x="7927848" y="2487168"/>
            <a:ext cx="585216" cy="585216"/>
          </a:xfrm>
          <a:prstGeom prst="ellipse">
            <a:avLst/>
          </a:prstGeom>
          <a:solidFill>
            <a:srgbClr val="24C5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927848" y="2487168"/>
            <a:ext cx="585216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Noto Sans CJK SC"/>
              </a:rPr>
              <a:t>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43216" y="3246120"/>
            <a:ext cx="15544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0" b="1">
                <a:solidFill>
                  <a:srgbClr val="262626"/>
                </a:solidFill>
                <a:latin typeface="Noto Sans CJK SC"/>
              </a:rPr>
              <a:t>Isaac Lab / MjLab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43216" y="3794760"/>
            <a:ext cx="155448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>
                <a:solidFill>
                  <a:srgbClr val="727171"/>
                </a:solidFill>
                <a:latin typeface="Noto Sans CJK SC"/>
              </a:rPr>
              <a:t>GPU 高并发
强化学习训练</a:t>
            </a:r>
          </a:p>
        </p:txBody>
      </p:sp>
      <p:sp>
        <p:nvSpPr>
          <p:cNvPr id="37" name="Chevron 36"/>
          <p:cNvSpPr/>
          <p:nvPr/>
        </p:nvSpPr>
        <p:spPr>
          <a:xfrm>
            <a:off x="9189720" y="2944368"/>
            <a:ext cx="329184" cy="420624"/>
          </a:xfrm>
          <a:prstGeom prst="chevron">
            <a:avLst>
              <a:gd name="adj" fmla="val 22000"/>
            </a:avLst>
          </a:prstGeom>
          <a:solidFill>
            <a:srgbClr val="026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9454896" y="1737360"/>
            <a:ext cx="1847088" cy="2999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926D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9619488" y="1938528"/>
            <a:ext cx="502920" cy="283464"/>
          </a:xfrm>
          <a:prstGeom prst="roundRect">
            <a:avLst>
              <a:gd name="adj" fmla="val 8000"/>
            </a:avLst>
          </a:prstGeom>
          <a:solidFill>
            <a:srgbClr val="F2ED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619488" y="1938528"/>
            <a:ext cx="502920" cy="283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26DE5"/>
                </a:solidFill>
                <a:latin typeface="Noto Sans CJK SC"/>
              </a:rPr>
              <a:t>05</a:t>
            </a:r>
          </a:p>
        </p:txBody>
      </p:sp>
      <p:sp>
        <p:nvSpPr>
          <p:cNvPr id="41" name="Oval 40"/>
          <p:cNvSpPr/>
          <p:nvPr/>
        </p:nvSpPr>
        <p:spPr>
          <a:xfrm>
            <a:off x="10085832" y="2487168"/>
            <a:ext cx="585216" cy="585216"/>
          </a:xfrm>
          <a:prstGeom prst="ellipse">
            <a:avLst/>
          </a:prstGeom>
          <a:solidFill>
            <a:srgbClr val="926D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085832" y="2487168"/>
            <a:ext cx="585216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Noto Sans CJK SC"/>
              </a:rPr>
              <a:t>零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01200" y="3246120"/>
            <a:ext cx="15544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262626"/>
                </a:solidFill>
                <a:latin typeface="Noto Sans CJK SC"/>
              </a:rPr>
              <a:t>零迁移训练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01200" y="3794760"/>
            <a:ext cx="155448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>
                <a:solidFill>
                  <a:srgbClr val="727171"/>
                </a:solidFill>
                <a:latin typeface="Noto Sans CJK SC"/>
              </a:rPr>
              <a:t>复用场景与策略链路
面向真实机器人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22960" y="5047488"/>
            <a:ext cx="3346704" cy="1024128"/>
          </a:xfrm>
          <a:prstGeom prst="roundRect">
            <a:avLst>
              <a:gd name="adj" fmla="val 8000"/>
            </a:avLst>
          </a:prstGeom>
          <a:solidFill>
            <a:srgbClr val="EA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042416" y="5285232"/>
            <a:ext cx="502920" cy="502920"/>
          </a:xfrm>
          <a:prstGeom prst="ellipse">
            <a:avLst/>
          </a:prstGeom>
          <a:solidFill>
            <a:srgbClr val="026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42416" y="5285232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</a:rPr>
              <a:t>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719072" y="5120640"/>
            <a:ext cx="21945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62626"/>
                </a:solidFill>
                <a:latin typeface="Noto Sans CJK SC"/>
              </a:rPr>
              <a:t>统一场景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719072" y="5449824"/>
            <a:ext cx="2212848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727171"/>
                </a:solidFill>
                <a:latin typeface="Noto Sans CJK SC"/>
              </a:rPr>
              <a:t>OpenUSD 作为资产与数据骨架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407408" y="5047488"/>
            <a:ext cx="3346704" cy="1024128"/>
          </a:xfrm>
          <a:prstGeom prst="roundRect">
            <a:avLst>
              <a:gd name="adj" fmla="val 8000"/>
            </a:avLst>
          </a:prstGeom>
          <a:solidFill>
            <a:srgbClr val="E7F8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4626864" y="5285232"/>
            <a:ext cx="502920" cy="502920"/>
          </a:xfrm>
          <a:prstGeom prst="ellipse">
            <a:avLst/>
          </a:prstGeom>
          <a:solidFill>
            <a:srgbClr val="24C5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626864" y="5285232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</a:rPr>
              <a:t>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0" y="5120640"/>
            <a:ext cx="21945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62626"/>
                </a:solidFill>
                <a:latin typeface="Noto Sans CJK SC"/>
              </a:rPr>
              <a:t>物理升级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303520" y="5449824"/>
            <a:ext cx="2212848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727171"/>
                </a:solidFill>
                <a:latin typeface="Noto Sans CJK SC"/>
              </a:rPr>
              <a:t>保留 PhysX 工程能力，引入 MJWarp 接触保真度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7991856" y="5047488"/>
            <a:ext cx="3346704" cy="1024128"/>
          </a:xfrm>
          <a:prstGeom prst="roundRect">
            <a:avLst>
              <a:gd name="adj" fmla="val 8000"/>
            </a:avLst>
          </a:prstGeom>
          <a:solidFill>
            <a:srgbClr val="FDE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8211312" y="5285232"/>
            <a:ext cx="502920" cy="502920"/>
          </a:xfrm>
          <a:prstGeom prst="ellipse">
            <a:avLst/>
          </a:prstGeom>
          <a:solidFill>
            <a:srgbClr val="F68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211312" y="5285232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</a:rPr>
              <a:t>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887968" y="5120640"/>
            <a:ext cx="21945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62626"/>
                </a:solidFill>
                <a:latin typeface="Noto Sans CJK SC"/>
              </a:rPr>
              <a:t>训练闭环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887968" y="5449824"/>
            <a:ext cx="2212848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727171"/>
                </a:solidFill>
                <a:latin typeface="Noto Sans CJK SC"/>
              </a:rPr>
              <a:t>Isaac Lab / MjLab 承接批量训练与策略复用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22960" y="6510528"/>
            <a:ext cx="3657600" cy="164592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9AA4B5"/>
                </a:solidFill>
                <a:latin typeface="Noto Sans CJK SC"/>
              </a:rPr>
              <a:t>MJLAB / PHYSICS BACKEND REVIEW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881360" y="6473952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9AA4B5"/>
                </a:solidFill>
                <a:latin typeface="Noto Sans CJK SC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566928"/>
            <a:ext cx="566928" cy="566928"/>
          </a:xfrm>
          <a:prstGeom prst="rect">
            <a:avLst/>
          </a:prstGeom>
          <a:solidFill>
            <a:srgbClr val="026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Noto Sans CJK SC"/>
              </a:rPr>
              <a:t>A2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36192" y="548640"/>
            <a:ext cx="960120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26BFF"/>
                </a:solidFill>
                <a:latin typeface="Noto Sans CJK SC"/>
              </a:rPr>
              <a:t>APPENDIX  / 焊接与传动系统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17904" y="832104"/>
            <a:ext cx="982980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262626"/>
                </a:solidFill>
                <a:latin typeface="Noto Sans CJK SC"/>
              </a:rPr>
              <a:t>焊接机器人、减速机与伺服电机：三类 GPU 仿真能力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719072"/>
            <a:ext cx="3346704" cy="21214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6510">
            <a:solidFill>
              <a:srgbClr val="24C5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1560" y="1984248"/>
            <a:ext cx="585216" cy="585216"/>
          </a:xfrm>
          <a:prstGeom prst="ellipse">
            <a:avLst/>
          </a:prstGeom>
          <a:solidFill>
            <a:srgbClr val="24C5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1984248"/>
            <a:ext cx="585216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Noto Sans CJK SC"/>
              </a:rPr>
              <a:t>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83080" y="1874519"/>
            <a:ext cx="21214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62626"/>
                </a:solidFill>
                <a:latin typeface="Noto Sans CJK SC"/>
              </a:rPr>
              <a:t>NV Warp 多体动力学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670048"/>
            <a:ext cx="2798064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727171"/>
                </a:solidFill>
                <a:latin typeface="Noto Sans CJK SC"/>
              </a:rPr>
              <a:t>机器人—减速机—伺服电机
传动链的高并发仿真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15568" y="3355848"/>
            <a:ext cx="2761488" cy="301752"/>
          </a:xfrm>
          <a:prstGeom prst="roundRect">
            <a:avLst>
              <a:gd name="adj" fmla="val 8000"/>
            </a:avLst>
          </a:prstGeom>
          <a:solidFill>
            <a:srgbClr val="E7F8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70432" y="3355848"/>
            <a:ext cx="265176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>
                <a:solidFill>
                  <a:srgbClr val="24C58D"/>
                </a:solidFill>
                <a:latin typeface="Noto Sans CJK SC"/>
              </a:rPr>
              <a:t>动力学 / 接触 / 摩擦 / 载荷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07408" y="1719072"/>
            <a:ext cx="3346704" cy="21214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6510">
            <a:solidFill>
              <a:srgbClr val="19B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636008" y="1984248"/>
            <a:ext cx="585216" cy="585216"/>
          </a:xfrm>
          <a:prstGeom prst="ellipse">
            <a:avLst/>
          </a:prstGeom>
          <a:solidFill>
            <a:srgbClr val="19B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36008" y="1984248"/>
            <a:ext cx="585216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Noto Sans CJK SC"/>
              </a:rPr>
              <a:t>V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67528" y="1874519"/>
            <a:ext cx="21214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62626"/>
                </a:solidFill>
                <a:latin typeface="Noto Sans CJK SC"/>
              </a:rPr>
              <a:t>GPU 加速 3D 视觉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81728" y="2670048"/>
            <a:ext cx="2798064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727171"/>
                </a:solidFill>
                <a:latin typeface="Noto Sans CJK SC"/>
              </a:rPr>
              <a:t>在 Isaac Sim 中批量生成
相机、深度与点云观测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700016" y="3355848"/>
            <a:ext cx="2761488" cy="301752"/>
          </a:xfrm>
          <a:prstGeom prst="roundRect">
            <a:avLst>
              <a:gd name="adj" fmla="val 8000"/>
            </a:avLst>
          </a:prstGeom>
          <a:solidFill>
            <a:srgbClr val="EA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54880" y="3355848"/>
            <a:ext cx="265176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>
                <a:solidFill>
                  <a:srgbClr val="19B7FF"/>
                </a:solidFill>
                <a:latin typeface="Noto Sans CJK SC"/>
              </a:rPr>
              <a:t>工件定位 / 焊缝感知 / 视觉闭环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91856" y="1719072"/>
            <a:ext cx="3346704" cy="21214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6510">
            <a:solidFill>
              <a:srgbClr val="F689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220456" y="1984248"/>
            <a:ext cx="585216" cy="585216"/>
          </a:xfrm>
          <a:prstGeom prst="ellipse">
            <a:avLst/>
          </a:prstGeom>
          <a:solidFill>
            <a:srgbClr val="F68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0456" y="1984248"/>
            <a:ext cx="585216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Noto Sans CJK SC"/>
              </a:rPr>
              <a:t>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51976" y="1874519"/>
            <a:ext cx="21214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62626"/>
                </a:solidFill>
                <a:latin typeface="Noto Sans CJK SC"/>
              </a:rPr>
              <a:t>多体 + 热力学耦合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66176" y="2670048"/>
            <a:ext cx="2798064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727171"/>
                </a:solidFill>
                <a:latin typeface="Noto Sans CJK SC"/>
              </a:rPr>
              <a:t>将机器人运动与焊接热场
放入统一 GPU 仿真流程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84464" y="3355848"/>
            <a:ext cx="2761488" cy="301752"/>
          </a:xfrm>
          <a:prstGeom prst="roundRect">
            <a:avLst>
              <a:gd name="adj" fmla="val 8000"/>
            </a:avLst>
          </a:prstGeom>
          <a:solidFill>
            <a:srgbClr val="FDE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39328" y="3355848"/>
            <a:ext cx="265176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>
                <a:solidFill>
                  <a:srgbClr val="F68941"/>
                </a:solidFill>
                <a:latin typeface="Noto Sans CJK SC"/>
              </a:rPr>
              <a:t>轨迹 / 动力学 / 热输入 / 温度场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22960" y="4187952"/>
            <a:ext cx="10515600" cy="1572768"/>
          </a:xfrm>
          <a:prstGeom prst="roundRect">
            <a:avLst>
              <a:gd name="adj" fmla="val 8000"/>
            </a:avLst>
          </a:prstGeom>
          <a:solidFill>
            <a:srgbClr val="F4F7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60704" y="4352544"/>
            <a:ext cx="192024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26BFF"/>
                </a:solidFill>
                <a:latin typeface="Noto Sans CJK SC"/>
              </a:rPr>
              <a:t>统一数字样机闭环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60704" y="4818888"/>
            <a:ext cx="1627632" cy="7040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026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15568" y="4855464"/>
            <a:ext cx="15179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80" b="1">
                <a:solidFill>
                  <a:srgbClr val="026BFF"/>
                </a:solidFill>
                <a:latin typeface="Noto Sans CJK SC"/>
              </a:rPr>
              <a:t>OpenUSD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5568" y="5111496"/>
            <a:ext cx="15179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727171"/>
                </a:solidFill>
                <a:latin typeface="Noto Sans CJK SC"/>
              </a:rPr>
              <a:t>工件 / 机器人 / 场景</a:t>
            </a:r>
          </a:p>
        </p:txBody>
      </p:sp>
      <p:sp>
        <p:nvSpPr>
          <p:cNvPr id="32" name="Chevron 31"/>
          <p:cNvSpPr/>
          <p:nvPr/>
        </p:nvSpPr>
        <p:spPr>
          <a:xfrm>
            <a:off x="2770632" y="5001768"/>
            <a:ext cx="246888" cy="310896"/>
          </a:xfrm>
          <a:prstGeom prst="chevron">
            <a:avLst>
              <a:gd name="adj" fmla="val 22000"/>
            </a:avLst>
          </a:prstGeom>
          <a:solidFill>
            <a:srgbClr val="026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3063239" y="4818888"/>
            <a:ext cx="1627632" cy="7040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9B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118103" y="4855464"/>
            <a:ext cx="15179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80" b="1">
                <a:solidFill>
                  <a:srgbClr val="19B7FF"/>
                </a:solidFill>
                <a:latin typeface="Noto Sans CJK SC"/>
              </a:rPr>
              <a:t>Isaac Sim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118103" y="5111496"/>
            <a:ext cx="15179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727171"/>
                </a:solidFill>
                <a:latin typeface="Noto Sans CJK SC"/>
              </a:rPr>
              <a:t>可视化 / 3D 视觉</a:t>
            </a:r>
          </a:p>
        </p:txBody>
      </p:sp>
      <p:sp>
        <p:nvSpPr>
          <p:cNvPr id="36" name="Chevron 35"/>
          <p:cNvSpPr/>
          <p:nvPr/>
        </p:nvSpPr>
        <p:spPr>
          <a:xfrm>
            <a:off x="4773168" y="5001768"/>
            <a:ext cx="246888" cy="310896"/>
          </a:xfrm>
          <a:prstGeom prst="chevron">
            <a:avLst>
              <a:gd name="adj" fmla="val 22000"/>
            </a:avLst>
          </a:prstGeom>
          <a:solidFill>
            <a:srgbClr val="026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5065776" y="4818888"/>
            <a:ext cx="1627632" cy="7040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4C5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120640" y="4855464"/>
            <a:ext cx="15179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80" b="1">
                <a:solidFill>
                  <a:srgbClr val="24C58D"/>
                </a:solidFill>
                <a:latin typeface="Noto Sans CJK SC"/>
              </a:rPr>
              <a:t>NV Warp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120640" y="5111496"/>
            <a:ext cx="15179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727171"/>
                </a:solidFill>
                <a:latin typeface="Noto Sans CJK SC"/>
              </a:rPr>
              <a:t>机器人与传动链</a:t>
            </a:r>
          </a:p>
        </p:txBody>
      </p:sp>
      <p:sp>
        <p:nvSpPr>
          <p:cNvPr id="40" name="Chevron 39"/>
          <p:cNvSpPr/>
          <p:nvPr/>
        </p:nvSpPr>
        <p:spPr>
          <a:xfrm>
            <a:off x="6775704" y="5001768"/>
            <a:ext cx="246888" cy="310896"/>
          </a:xfrm>
          <a:prstGeom prst="chevron">
            <a:avLst>
              <a:gd name="adj" fmla="val 22000"/>
            </a:avLst>
          </a:prstGeom>
          <a:solidFill>
            <a:srgbClr val="026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7068312" y="4818888"/>
            <a:ext cx="1627632" cy="7040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689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123176" y="4855464"/>
            <a:ext cx="15179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80" b="1">
                <a:solidFill>
                  <a:srgbClr val="F68941"/>
                </a:solidFill>
                <a:latin typeface="Noto Sans CJK SC"/>
              </a:rPr>
              <a:t>GPU 热力学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123176" y="5111496"/>
            <a:ext cx="15179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727171"/>
                </a:solidFill>
                <a:latin typeface="Noto Sans CJK SC"/>
              </a:rPr>
              <a:t>焊接热场</a:t>
            </a:r>
          </a:p>
        </p:txBody>
      </p:sp>
      <p:sp>
        <p:nvSpPr>
          <p:cNvPr id="44" name="Chevron 43"/>
          <p:cNvSpPr/>
          <p:nvPr/>
        </p:nvSpPr>
        <p:spPr>
          <a:xfrm>
            <a:off x="8778240" y="5001768"/>
            <a:ext cx="246888" cy="310896"/>
          </a:xfrm>
          <a:prstGeom prst="chevron">
            <a:avLst>
              <a:gd name="adj" fmla="val 22000"/>
            </a:avLst>
          </a:prstGeom>
          <a:solidFill>
            <a:srgbClr val="026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9070848" y="4818888"/>
            <a:ext cx="1627632" cy="7040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926D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125712" y="4855464"/>
            <a:ext cx="15179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80" b="1">
                <a:solidFill>
                  <a:srgbClr val="926DE5"/>
                </a:solidFill>
                <a:latin typeface="Noto Sans CJK SC"/>
              </a:rPr>
              <a:t>MjLab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125712" y="5111496"/>
            <a:ext cx="15179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727171"/>
                </a:solidFill>
                <a:latin typeface="Noto Sans CJK SC"/>
              </a:rPr>
              <a:t>控制 / RL / 验证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22960" y="5943600"/>
            <a:ext cx="10515600" cy="173736"/>
          </a:xfrm>
          <a:prstGeom prst="rect">
            <a:avLst/>
          </a:prstGeom>
          <a:solidFill>
            <a:srgbClr val="026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22960" y="6510528"/>
            <a:ext cx="3657600" cy="164592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9AA4B5"/>
                </a:solidFill>
                <a:latin typeface="Noto Sans CJK SC"/>
              </a:rPr>
              <a:t>MJLAB / PHYSICS BACKEND REVIEW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881360" y="6473952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9AA4B5"/>
                </a:solidFill>
                <a:latin typeface="Noto Sans CJK SC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566928"/>
            <a:ext cx="566928" cy="566928"/>
          </a:xfrm>
          <a:prstGeom prst="rect">
            <a:avLst/>
          </a:prstGeom>
          <a:solidFill>
            <a:srgbClr val="026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Noto Sans CJK SC"/>
              </a:rPr>
              <a:t>A3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36192" y="548640"/>
            <a:ext cx="960120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26BFF"/>
                </a:solidFill>
                <a:latin typeface="Noto Sans CJK SC"/>
              </a:rPr>
              <a:t>APPENDIX  / THERMAL SIMULATION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17904" y="832104"/>
            <a:ext cx="982980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262626"/>
                </a:solidFill>
                <a:latin typeface="Noto Sans CJK SC"/>
              </a:rPr>
              <a:t>热仿真：从移动热源到温度场反演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682496"/>
            <a:ext cx="3154680" cy="4297680"/>
          </a:xfrm>
          <a:prstGeom prst="roundRect">
            <a:avLst>
              <a:gd name="adj" fmla="val 8000"/>
            </a:avLst>
          </a:prstGeom>
          <a:solidFill>
            <a:srgbClr val="0A2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0704" y="2029968"/>
            <a:ext cx="267004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500" b="1">
                <a:solidFill>
                  <a:srgbClr val="FFFFFF"/>
                </a:solidFill>
                <a:latin typeface="Noto Sans Mono CJK SC"/>
              </a:rPr>
              <a:t>∂T/∂t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688336"/>
            <a:ext cx="288036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19B7FF"/>
                </a:solidFill>
                <a:latin typeface="Noto Sans Mono CJK SC"/>
              </a:rPr>
              <a:t>= α∇²T + Q/(ρc)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261872" y="3429000"/>
            <a:ext cx="2276856" cy="0"/>
          </a:xfrm>
          <a:prstGeom prst="line">
            <a:avLst/>
          </a:prstGeom>
          <a:ln w="12700">
            <a:solidFill>
              <a:srgbClr val="2A41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115568" y="3621024"/>
            <a:ext cx="256032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Noto Sans CJK SC"/>
              </a:rPr>
              <a:t>Warp 的角色</a:t>
            </a:r>
          </a:p>
        </p:txBody>
      </p:sp>
      <p:sp>
        <p:nvSpPr>
          <p:cNvPr id="11" name="Oval 10"/>
          <p:cNvSpPr/>
          <p:nvPr/>
        </p:nvSpPr>
        <p:spPr>
          <a:xfrm>
            <a:off x="1280160" y="4187769"/>
            <a:ext cx="100584" cy="100584"/>
          </a:xfrm>
          <a:prstGeom prst="ellipse">
            <a:avLst/>
          </a:prstGeom>
          <a:solidFill>
            <a:srgbClr val="19B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508760" y="4069080"/>
            <a:ext cx="210312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0" b="0">
                <a:solidFill>
                  <a:srgbClr val="C4CFE6"/>
                </a:solidFill>
                <a:latin typeface="Noto Sans CJK SC"/>
              </a:rPr>
              <a:t>GPU 并行温度更新</a:t>
            </a:r>
          </a:p>
        </p:txBody>
      </p:sp>
      <p:sp>
        <p:nvSpPr>
          <p:cNvPr id="13" name="Oval 12"/>
          <p:cNvSpPr/>
          <p:nvPr/>
        </p:nvSpPr>
        <p:spPr>
          <a:xfrm>
            <a:off x="1280160" y="4590105"/>
            <a:ext cx="100584" cy="100584"/>
          </a:xfrm>
          <a:prstGeom prst="ellipse">
            <a:avLst/>
          </a:prstGeom>
          <a:solidFill>
            <a:srgbClr val="19B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508760" y="4471416"/>
            <a:ext cx="210312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0" b="0">
                <a:solidFill>
                  <a:srgbClr val="C4CFE6"/>
                </a:solidFill>
                <a:latin typeface="Noto Sans CJK SC"/>
              </a:rPr>
              <a:t>网格 / 网格单元积分</a:t>
            </a:r>
          </a:p>
        </p:txBody>
      </p:sp>
      <p:sp>
        <p:nvSpPr>
          <p:cNvPr id="15" name="Oval 14"/>
          <p:cNvSpPr/>
          <p:nvPr/>
        </p:nvSpPr>
        <p:spPr>
          <a:xfrm>
            <a:off x="1280160" y="4992441"/>
            <a:ext cx="100584" cy="100584"/>
          </a:xfrm>
          <a:prstGeom prst="ellipse">
            <a:avLst/>
          </a:prstGeom>
          <a:solidFill>
            <a:srgbClr val="19B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508760" y="4873752"/>
            <a:ext cx="210312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0" b="0">
                <a:solidFill>
                  <a:srgbClr val="C4CFE6"/>
                </a:solidFill>
                <a:latin typeface="Noto Sans CJK SC"/>
              </a:rPr>
              <a:t>批量参数扫描</a:t>
            </a:r>
          </a:p>
        </p:txBody>
      </p:sp>
      <p:sp>
        <p:nvSpPr>
          <p:cNvPr id="17" name="Oval 16"/>
          <p:cNvSpPr/>
          <p:nvPr/>
        </p:nvSpPr>
        <p:spPr>
          <a:xfrm>
            <a:off x="1280160" y="5394777"/>
            <a:ext cx="100584" cy="100584"/>
          </a:xfrm>
          <a:prstGeom prst="ellipse">
            <a:avLst/>
          </a:prstGeom>
          <a:solidFill>
            <a:srgbClr val="19B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508760" y="5276088"/>
            <a:ext cx="210312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0" b="0">
                <a:solidFill>
                  <a:srgbClr val="C4CFE6"/>
                </a:solidFill>
                <a:latin typeface="Noto Sans CJK SC"/>
              </a:rPr>
              <a:t>自动微分与反演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97680" y="1682496"/>
            <a:ext cx="3236976" cy="13533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480560" y="1901952"/>
            <a:ext cx="530352" cy="530352"/>
          </a:xfrm>
          <a:prstGeom prst="rect">
            <a:avLst/>
          </a:prstGeom>
          <a:solidFill>
            <a:srgbClr val="026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80560" y="1901952"/>
            <a:ext cx="530352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Noto Sans CJK SC"/>
              </a:rPr>
              <a:t>01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93792" y="1819656"/>
            <a:ext cx="20574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262626"/>
                </a:solidFill>
                <a:latin typeface="Noto Sans CJK SC"/>
              </a:rPr>
              <a:t>离散域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93792" y="2212848"/>
            <a:ext cx="2084831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60" b="0">
                <a:solidFill>
                  <a:srgbClr val="727171"/>
                </a:solidFill>
                <a:latin typeface="Noto Sans CJK SC"/>
              </a:rPr>
              <a:t>Grid / Mesh / NanoVDB
材料参数 k · ρ · c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193792" y="2770632"/>
            <a:ext cx="2057400" cy="109728"/>
          </a:xfrm>
          <a:prstGeom prst="rect">
            <a:avLst/>
          </a:prstGeom>
          <a:solidFill>
            <a:srgbClr val="EA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827264" y="1682496"/>
            <a:ext cx="3236976" cy="13533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10144" y="1901952"/>
            <a:ext cx="530352" cy="530352"/>
          </a:xfrm>
          <a:prstGeom prst="rect">
            <a:avLst/>
          </a:prstGeom>
          <a:solidFill>
            <a:srgbClr val="F68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10144" y="1901952"/>
            <a:ext cx="530352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Noto Sans CJK SC"/>
              </a:rPr>
              <a:t>02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23376" y="1819656"/>
            <a:ext cx="20574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262626"/>
                </a:solidFill>
                <a:latin typeface="Noto Sans CJK SC"/>
              </a:rPr>
              <a:t>热源与边界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23376" y="2212848"/>
            <a:ext cx="2084831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60" b="0">
                <a:solidFill>
                  <a:srgbClr val="727171"/>
                </a:solidFill>
                <a:latin typeface="Noto Sans CJK SC"/>
              </a:rPr>
              <a:t>移动热源 Q(x,t)
对流 · 辐射 · 定温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723376" y="2770632"/>
            <a:ext cx="2057400" cy="109728"/>
          </a:xfrm>
          <a:prstGeom prst="rect">
            <a:avLst/>
          </a:prstGeom>
          <a:solidFill>
            <a:srgbClr val="FDE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4297680" y="3255264"/>
            <a:ext cx="3236976" cy="13533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480560" y="3474720"/>
            <a:ext cx="530352" cy="530352"/>
          </a:xfrm>
          <a:prstGeom prst="rect">
            <a:avLst/>
          </a:prstGeom>
          <a:solidFill>
            <a:srgbClr val="24C5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480560" y="3474720"/>
            <a:ext cx="530352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Noto Sans CJK SC"/>
              </a:rPr>
              <a:t>03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193792" y="3392424"/>
            <a:ext cx="20574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262626"/>
                </a:solidFill>
                <a:latin typeface="Noto Sans CJK SC"/>
              </a:rPr>
              <a:t>GPU 求解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193792" y="3785615"/>
            <a:ext cx="2084831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60" b="0">
                <a:solidFill>
                  <a:srgbClr val="727171"/>
                </a:solidFill>
                <a:latin typeface="Noto Sans CJK SC"/>
              </a:rPr>
              <a:t>Warp kernel / warp.fem
显式步进或线性求解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193792" y="4343400"/>
            <a:ext cx="2057400" cy="109728"/>
          </a:xfrm>
          <a:prstGeom prst="rect">
            <a:avLst/>
          </a:prstGeom>
          <a:solidFill>
            <a:srgbClr val="E7F8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7827264" y="3255264"/>
            <a:ext cx="3236976" cy="13533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010144" y="3474720"/>
            <a:ext cx="530352" cy="530352"/>
          </a:xfrm>
          <a:prstGeom prst="rect">
            <a:avLst/>
          </a:prstGeom>
          <a:solidFill>
            <a:srgbClr val="926D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010144" y="3474720"/>
            <a:ext cx="530352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Noto Sans CJK SC"/>
              </a:rPr>
              <a:t>04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723376" y="3392424"/>
            <a:ext cx="20574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262626"/>
                </a:solidFill>
                <a:latin typeface="Noto Sans CJK SC"/>
              </a:rPr>
              <a:t>批量与反演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723376" y="3785615"/>
            <a:ext cx="2084831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60" b="0">
                <a:solidFill>
                  <a:srgbClr val="727171"/>
                </a:solidFill>
                <a:latin typeface="Noto Sans CJK SC"/>
              </a:rPr>
              <a:t>工艺参数扫描
梯度校准 / 优化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723376" y="4343400"/>
            <a:ext cx="2057400" cy="109728"/>
          </a:xfrm>
          <a:prstGeom prst="rect">
            <a:avLst/>
          </a:prstGeom>
          <a:solidFill>
            <a:srgbClr val="F2ED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4297680" y="4956048"/>
            <a:ext cx="6903720" cy="1024128"/>
          </a:xfrm>
          <a:prstGeom prst="roundRect">
            <a:avLst>
              <a:gd name="adj" fmla="val 8000"/>
            </a:avLst>
          </a:prstGeom>
          <a:solidFill>
            <a:srgbClr val="F4F7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4553712" y="5230368"/>
            <a:ext cx="429768" cy="429768"/>
          </a:xfrm>
          <a:prstGeom prst="ellipse">
            <a:avLst/>
          </a:prstGeom>
          <a:solidFill>
            <a:srgbClr val="F68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553712" y="5230368"/>
            <a:ext cx="429768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Noto Sans CJK SC"/>
              </a:rPr>
              <a:t>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120640" y="5047488"/>
            <a:ext cx="1417320" cy="283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80" b="1">
                <a:solidFill>
                  <a:srgbClr val="262626"/>
                </a:solidFill>
                <a:latin typeface="Noto Sans CJK SC"/>
              </a:rPr>
              <a:t>焊接热场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120640" y="5358384"/>
            <a:ext cx="1444752" cy="283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>
                <a:solidFill>
                  <a:srgbClr val="727171"/>
                </a:solidFill>
                <a:latin typeface="Noto Sans CJK SC"/>
              </a:rPr>
              <a:t>Goldak / 移动热源</a:t>
            </a:r>
          </a:p>
        </p:txBody>
      </p:sp>
      <p:sp>
        <p:nvSpPr>
          <p:cNvPr id="48" name="Oval 47"/>
          <p:cNvSpPr/>
          <p:nvPr/>
        </p:nvSpPr>
        <p:spPr>
          <a:xfrm>
            <a:off x="6748272" y="5230368"/>
            <a:ext cx="429768" cy="429768"/>
          </a:xfrm>
          <a:prstGeom prst="ellipse">
            <a:avLst/>
          </a:prstGeom>
          <a:solidFill>
            <a:srgbClr val="24C5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748272" y="5230368"/>
            <a:ext cx="429768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Noto Sans CJK SC"/>
              </a:rPr>
              <a:t>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315200" y="5047488"/>
            <a:ext cx="1417320" cy="283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80" b="1">
                <a:solidFill>
                  <a:srgbClr val="262626"/>
                </a:solidFill>
                <a:latin typeface="Noto Sans CJK SC"/>
              </a:rPr>
              <a:t>伺服与减速机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315200" y="5358384"/>
            <a:ext cx="1444752" cy="283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>
                <a:solidFill>
                  <a:srgbClr val="727171"/>
                </a:solidFill>
                <a:latin typeface="Noto Sans CJK SC"/>
              </a:rPr>
              <a:t>损耗—温升—热漂移</a:t>
            </a:r>
          </a:p>
        </p:txBody>
      </p:sp>
      <p:sp>
        <p:nvSpPr>
          <p:cNvPr id="52" name="Oval 51"/>
          <p:cNvSpPr/>
          <p:nvPr/>
        </p:nvSpPr>
        <p:spPr>
          <a:xfrm>
            <a:off x="8942832" y="5230368"/>
            <a:ext cx="429768" cy="429768"/>
          </a:xfrm>
          <a:prstGeom prst="ellipse">
            <a:avLst/>
          </a:prstGeom>
          <a:solidFill>
            <a:srgbClr val="926D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942832" y="5230368"/>
            <a:ext cx="429768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Noto Sans CJK SC"/>
              </a:rPr>
              <a:t>3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509760" y="5047488"/>
            <a:ext cx="1417320" cy="283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80" b="1">
                <a:solidFill>
                  <a:srgbClr val="262626"/>
                </a:solidFill>
                <a:latin typeface="Noto Sans CJK SC"/>
              </a:rPr>
              <a:t>逆问题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509760" y="5358384"/>
            <a:ext cx="1444752" cy="283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>
                <a:solidFill>
                  <a:srgbClr val="727171"/>
                </a:solidFill>
                <a:latin typeface="Noto Sans CJK SC"/>
              </a:rPr>
              <a:t>热参数辨识与工艺优化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22960" y="6199632"/>
            <a:ext cx="1051560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>
                <a:solidFill>
                  <a:srgbClr val="8B95A5"/>
                </a:solidFill>
                <a:latin typeface="Noto Sans CJK SC"/>
              </a:rPr>
              <a:t>能力边界：Warp 提供 GPU kernel、FEM 与自动微分；材料模型、热源模型和耦合策略仍需按场景实现。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22960" y="6510528"/>
            <a:ext cx="3657600" cy="164592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9AA4B5"/>
                </a:solidFill>
                <a:latin typeface="Noto Sans CJK SC"/>
              </a:rPr>
              <a:t>MJLAB / PHYSICS BACKEND REVIEW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881360" y="6473952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9AA4B5"/>
                </a:solidFill>
                <a:latin typeface="Noto Sans CJK SC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566928"/>
            <a:ext cx="566928" cy="566928"/>
          </a:xfrm>
          <a:prstGeom prst="rect">
            <a:avLst/>
          </a:prstGeom>
          <a:solidFill>
            <a:srgbClr val="026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Noto Sans CJK SC"/>
              </a:rPr>
              <a:t>A4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36192" y="548640"/>
            <a:ext cx="960120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26BFF"/>
                </a:solidFill>
                <a:latin typeface="Noto Sans CJK SC"/>
              </a:rPr>
              <a:t>APPENDIX  / ELECTROMAGNETICS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17904" y="832104"/>
            <a:ext cx="982980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262626"/>
                </a:solidFill>
                <a:latin typeface="Noto Sans CJK SC"/>
              </a:rPr>
              <a:t>电磁仿真：从 Maxwell 离散到磁场与力矩优化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682496"/>
            <a:ext cx="5047488" cy="3401568"/>
          </a:xfrm>
          <a:prstGeom prst="roundRect">
            <a:avLst>
              <a:gd name="adj" fmla="val 8000"/>
            </a:avLst>
          </a:prstGeom>
          <a:solidFill>
            <a:srgbClr val="EA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" y="1874519"/>
            <a:ext cx="4462272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026BFF"/>
                </a:solidFill>
                <a:latin typeface="Noto Sans CJK SC"/>
              </a:rPr>
              <a:t>路径 1 · FDTD / 自定义 Kernel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2414016"/>
            <a:ext cx="443484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026BFF"/>
                </a:solidFill>
                <a:latin typeface="Noto Sans Mono CJK SC"/>
              </a:rPr>
              <a:t>∂E/∂t</a:t>
            </a:r>
            <a:r>
              <a:rPr sz="1700" b="1">
                <a:solidFill>
                  <a:srgbClr val="727171"/>
                </a:solidFill>
                <a:latin typeface="Noto Sans CJK SC"/>
              </a:rPr>
              <a:t>  ↔  </a:t>
            </a:r>
            <a:r>
              <a:rPr sz="1900" b="1">
                <a:solidFill>
                  <a:srgbClr val="026BFF"/>
                </a:solidFill>
                <a:latin typeface="Noto Sans Mono CJK SC"/>
              </a:rPr>
              <a:t>∇×H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97280" y="3136392"/>
            <a:ext cx="1225296" cy="7863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026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3163824"/>
            <a:ext cx="1133856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26BFF"/>
                </a:solidFill>
                <a:latin typeface="Noto Sans CJK SC"/>
              </a:rPr>
              <a:t>交错网格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3493008"/>
            <a:ext cx="1133856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0">
                <a:solidFill>
                  <a:srgbClr val="727171"/>
                </a:solidFill>
                <a:latin typeface="Noto Sans CJK SC"/>
              </a:rPr>
              <a:t>E / H 场</a:t>
            </a:r>
          </a:p>
        </p:txBody>
      </p:sp>
      <p:sp>
        <p:nvSpPr>
          <p:cNvPr id="12" name="Chevron 11"/>
          <p:cNvSpPr/>
          <p:nvPr/>
        </p:nvSpPr>
        <p:spPr>
          <a:xfrm>
            <a:off x="2377439" y="3364992"/>
            <a:ext cx="182880" cy="274320"/>
          </a:xfrm>
          <a:prstGeom prst="chevron">
            <a:avLst>
              <a:gd name="adj" fmla="val 22000"/>
            </a:avLst>
          </a:prstGeom>
          <a:solidFill>
            <a:srgbClr val="026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578608" y="3136392"/>
            <a:ext cx="1225296" cy="7863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026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24328" y="3163824"/>
            <a:ext cx="1133856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26BFF"/>
                </a:solidFill>
                <a:latin typeface="Noto Sans CJK SC"/>
              </a:rPr>
              <a:t>时间步进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24328" y="3493008"/>
            <a:ext cx="1133856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0">
                <a:solidFill>
                  <a:srgbClr val="727171"/>
                </a:solidFill>
                <a:latin typeface="Noto Sans CJK SC"/>
              </a:rPr>
              <a:t>curl 更新</a:t>
            </a:r>
          </a:p>
        </p:txBody>
      </p:sp>
      <p:sp>
        <p:nvSpPr>
          <p:cNvPr id="16" name="Chevron 15"/>
          <p:cNvSpPr/>
          <p:nvPr/>
        </p:nvSpPr>
        <p:spPr>
          <a:xfrm>
            <a:off x="3858768" y="3364992"/>
            <a:ext cx="182880" cy="274320"/>
          </a:xfrm>
          <a:prstGeom prst="chevron">
            <a:avLst>
              <a:gd name="adj" fmla="val 22000"/>
            </a:avLst>
          </a:prstGeom>
          <a:solidFill>
            <a:srgbClr val="026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059936" y="3136392"/>
            <a:ext cx="1225296" cy="7863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026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05656" y="3163824"/>
            <a:ext cx="1133856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26BFF"/>
                </a:solidFill>
                <a:latin typeface="Noto Sans CJK SC"/>
              </a:rPr>
              <a:t>边界处理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05656" y="3493008"/>
            <a:ext cx="1133856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0">
                <a:solidFill>
                  <a:srgbClr val="727171"/>
                </a:solidFill>
                <a:latin typeface="Noto Sans CJK SC"/>
              </a:rPr>
              <a:t>PML / 激励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" y="4315968"/>
            <a:ext cx="44805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262626"/>
                </a:solidFill>
                <a:latin typeface="Noto Sans CJK SC"/>
              </a:rPr>
              <a:t>适合：瞬态电磁波、规则网格、大批量设计点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72784" y="1682496"/>
            <a:ext cx="5065776" cy="3401568"/>
          </a:xfrm>
          <a:prstGeom prst="roundRect">
            <a:avLst>
              <a:gd name="adj" fmla="val 8000"/>
            </a:avLst>
          </a:prstGeom>
          <a:solidFill>
            <a:srgbClr val="F2ED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65392" y="1874519"/>
            <a:ext cx="4462272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926DE5"/>
                </a:solidFill>
                <a:latin typeface="Noto Sans CJK SC"/>
              </a:rPr>
              <a:t>路径 2 · warp.fem / Curl-Curl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65392" y="2414016"/>
            <a:ext cx="4443984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926DE5"/>
                </a:solidFill>
                <a:latin typeface="Noto Sans Mono CJK SC"/>
              </a:rPr>
              <a:t>∇×(μ⁻¹∇×A)</a:t>
            </a:r>
            <a:r>
              <a:rPr sz="1800" b="1">
                <a:solidFill>
                  <a:srgbClr val="727171"/>
                </a:solidFill>
                <a:latin typeface="Noto Sans Mono CJK SC"/>
              </a:rPr>
              <a:t> = J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47104" y="3136392"/>
            <a:ext cx="1225296" cy="7863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926D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92824" y="3163824"/>
            <a:ext cx="1133856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0" b="1">
                <a:solidFill>
                  <a:srgbClr val="926DE5"/>
                </a:solidFill>
                <a:latin typeface="Noto Sans CJK SC"/>
              </a:rPr>
              <a:t>非结构网格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92824" y="3493008"/>
            <a:ext cx="1133856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0">
                <a:solidFill>
                  <a:srgbClr val="727171"/>
                </a:solidFill>
                <a:latin typeface="Noto Sans CJK SC"/>
              </a:rPr>
              <a:t>复杂几何</a:t>
            </a:r>
          </a:p>
        </p:txBody>
      </p:sp>
      <p:sp>
        <p:nvSpPr>
          <p:cNvPr id="27" name="Chevron 26"/>
          <p:cNvSpPr/>
          <p:nvPr/>
        </p:nvSpPr>
        <p:spPr>
          <a:xfrm>
            <a:off x="7827264" y="3364992"/>
            <a:ext cx="182880" cy="274320"/>
          </a:xfrm>
          <a:prstGeom prst="chevron">
            <a:avLst>
              <a:gd name="adj" fmla="val 22000"/>
            </a:avLst>
          </a:prstGeom>
          <a:solidFill>
            <a:srgbClr val="926D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028432" y="3136392"/>
            <a:ext cx="1225296" cy="7863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926D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074152" y="3163824"/>
            <a:ext cx="1133856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0" b="1">
                <a:solidFill>
                  <a:srgbClr val="926DE5"/>
                </a:solidFill>
                <a:latin typeface="Noto Sans CJK SC"/>
              </a:rPr>
              <a:t>Nédélec 空间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74152" y="3493008"/>
            <a:ext cx="1133856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0">
                <a:solidFill>
                  <a:srgbClr val="727171"/>
                </a:solidFill>
                <a:latin typeface="Noto Sans CJK SC"/>
              </a:rPr>
              <a:t>curl 相容</a:t>
            </a:r>
          </a:p>
        </p:txBody>
      </p:sp>
      <p:sp>
        <p:nvSpPr>
          <p:cNvPr id="31" name="Chevron 30"/>
          <p:cNvSpPr/>
          <p:nvPr/>
        </p:nvSpPr>
        <p:spPr>
          <a:xfrm>
            <a:off x="9308592" y="3364992"/>
            <a:ext cx="182880" cy="274320"/>
          </a:xfrm>
          <a:prstGeom prst="chevron">
            <a:avLst>
              <a:gd name="adj" fmla="val 22000"/>
            </a:avLst>
          </a:prstGeom>
          <a:solidFill>
            <a:srgbClr val="926D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509760" y="3136392"/>
            <a:ext cx="1225296" cy="7863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926D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555480" y="3163824"/>
            <a:ext cx="1133856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0" b="1">
                <a:solidFill>
                  <a:srgbClr val="926DE5"/>
                </a:solidFill>
                <a:latin typeface="Noto Sans CJK SC"/>
              </a:rPr>
              <a:t>稀疏求解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555480" y="3493008"/>
            <a:ext cx="1133856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0">
                <a:solidFill>
                  <a:srgbClr val="727171"/>
                </a:solidFill>
                <a:latin typeface="Noto Sans CJK SC"/>
              </a:rPr>
              <a:t>磁场 / 力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65392" y="4315968"/>
            <a:ext cx="4443984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9" b="1">
                <a:solidFill>
                  <a:srgbClr val="262626"/>
                </a:solidFill>
                <a:latin typeface="Noto Sans CJK SC"/>
              </a:rPr>
              <a:t>官方示例：2D magnetostatics · curl-curl formulation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22960" y="5321808"/>
            <a:ext cx="3346704" cy="69494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005840" y="5468112"/>
            <a:ext cx="402336" cy="402336"/>
          </a:xfrm>
          <a:prstGeom prst="ellipse">
            <a:avLst/>
          </a:prstGeom>
          <a:solidFill>
            <a:srgbClr val="24C5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05840" y="5468112"/>
            <a:ext cx="40233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Noto Sans CJK SC"/>
              </a:rPr>
              <a:t>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536192" y="5321808"/>
            <a:ext cx="12344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70" b="1">
                <a:solidFill>
                  <a:srgbClr val="262626"/>
                </a:solidFill>
                <a:latin typeface="Noto Sans CJK SC"/>
              </a:rPr>
              <a:t>伺服电机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679191" y="5321808"/>
            <a:ext cx="12801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>
                <a:solidFill>
                  <a:srgbClr val="727171"/>
                </a:solidFill>
                <a:latin typeface="Noto Sans CJK SC"/>
              </a:rPr>
              <a:t>磁场 / 力矩 / 参数优化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407408" y="5321808"/>
            <a:ext cx="3346704" cy="69494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4590288" y="5468112"/>
            <a:ext cx="402336" cy="402336"/>
          </a:xfrm>
          <a:prstGeom prst="ellipse">
            <a:avLst/>
          </a:prstGeom>
          <a:solidFill>
            <a:srgbClr val="F68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90288" y="5468112"/>
            <a:ext cx="40233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Noto Sans CJK SC"/>
              </a:rPr>
              <a:t>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120640" y="5321808"/>
            <a:ext cx="12344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70" b="1">
                <a:solidFill>
                  <a:srgbClr val="262626"/>
                </a:solidFill>
                <a:latin typeface="Noto Sans CJK SC"/>
              </a:rPr>
              <a:t>感应加热与焊接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263640" y="5321808"/>
            <a:ext cx="12801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>
                <a:solidFill>
                  <a:srgbClr val="727171"/>
                </a:solidFill>
                <a:latin typeface="Noto Sans CJK SC"/>
              </a:rPr>
              <a:t>电磁—热源耦合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991856" y="5321808"/>
            <a:ext cx="3346704" cy="69494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8174736" y="5468112"/>
            <a:ext cx="402336" cy="402336"/>
          </a:xfrm>
          <a:prstGeom prst="ellipse">
            <a:avLst/>
          </a:prstGeom>
          <a:solidFill>
            <a:srgbClr val="19B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174736" y="5468112"/>
            <a:ext cx="40233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Noto Sans CJK SC"/>
              </a:rPr>
              <a:t>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705088" y="5321808"/>
            <a:ext cx="12344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70" b="1">
                <a:solidFill>
                  <a:srgbClr val="262626"/>
                </a:solidFill>
                <a:latin typeface="Noto Sans CJK SC"/>
              </a:rPr>
              <a:t>传感器与执行器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848088" y="5321808"/>
            <a:ext cx="12801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>
                <a:solidFill>
                  <a:srgbClr val="727171"/>
                </a:solidFill>
                <a:latin typeface="Noto Sans CJK SC"/>
              </a:rPr>
              <a:t>场分布 / 灵敏度设计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22960" y="6199632"/>
            <a:ext cx="1051560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>
                <a:solidFill>
                  <a:srgbClr val="8B95A5"/>
                </a:solidFill>
                <a:latin typeface="Noto Sans CJK SC"/>
              </a:rPr>
              <a:t>能力边界：Warp 官方提供磁静力 FEM 示例；全波、频域、多材料与 PML 等能力需自行构建和验证。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2960" y="6510528"/>
            <a:ext cx="3657600" cy="164592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9AA4B5"/>
                </a:solidFill>
                <a:latin typeface="Noto Sans CJK SC"/>
              </a:rPr>
              <a:t>MJLAB / PHYSICS BACKEND REVIEW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881360" y="6473952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9AA4B5"/>
                </a:solidFill>
                <a:latin typeface="Noto Sans CJK SC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566928"/>
            <a:ext cx="566928" cy="566928"/>
          </a:xfrm>
          <a:prstGeom prst="rect">
            <a:avLst/>
          </a:prstGeom>
          <a:solidFill>
            <a:srgbClr val="026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Noto Sans CJK SC"/>
              </a:rPr>
              <a:t>A5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36192" y="548640"/>
            <a:ext cx="960120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26BFF"/>
                </a:solidFill>
                <a:latin typeface="Noto Sans CJK SC"/>
              </a:rPr>
              <a:t>APPENDIX  / FINITE ELEMENT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17904" y="832104"/>
            <a:ext cx="982980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262626"/>
                </a:solidFill>
                <a:latin typeface="Noto Sans CJK SC"/>
              </a:rPr>
              <a:t>有限元分析：GPU 加速装配、求解与可微设计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700784"/>
            <a:ext cx="1847088" cy="21579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026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87552" y="1911095"/>
            <a:ext cx="502920" cy="283464"/>
          </a:xfrm>
          <a:prstGeom prst="roundRect">
            <a:avLst>
              <a:gd name="adj" fmla="val 8000"/>
            </a:avLst>
          </a:prstGeom>
          <a:solidFill>
            <a:srgbClr val="F4F7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87552" y="1911095"/>
            <a:ext cx="502920" cy="283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0" b="1">
                <a:solidFill>
                  <a:srgbClr val="026BFF"/>
                </a:solidFill>
                <a:latin typeface="Noto Sans CJK SC"/>
              </a:rPr>
              <a:t>01</a:t>
            </a:r>
          </a:p>
        </p:txBody>
      </p:sp>
      <p:sp>
        <p:nvSpPr>
          <p:cNvPr id="9" name="Oval 8"/>
          <p:cNvSpPr/>
          <p:nvPr/>
        </p:nvSpPr>
        <p:spPr>
          <a:xfrm>
            <a:off x="1463040" y="2359152"/>
            <a:ext cx="566928" cy="566928"/>
          </a:xfrm>
          <a:prstGeom prst="ellipse">
            <a:avLst/>
          </a:prstGeom>
          <a:solidFill>
            <a:srgbClr val="026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63040" y="2359152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Noto Sans CJK SC"/>
              </a:rPr>
              <a:t>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090672"/>
            <a:ext cx="157276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262626"/>
                </a:solidFill>
                <a:latin typeface="Noto Sans CJK SC"/>
              </a:rPr>
              <a:t>Geometry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9264" y="3456432"/>
            <a:ext cx="155448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0">
                <a:solidFill>
                  <a:srgbClr val="727171"/>
                </a:solidFill>
                <a:latin typeface="Noto Sans CJK SC"/>
              </a:rPr>
              <a:t>Grid / Mesh
NanoVDB</a:t>
            </a:r>
          </a:p>
        </p:txBody>
      </p:sp>
      <p:sp>
        <p:nvSpPr>
          <p:cNvPr id="13" name="Chevron 12"/>
          <p:cNvSpPr/>
          <p:nvPr/>
        </p:nvSpPr>
        <p:spPr>
          <a:xfrm>
            <a:off x="2715768" y="2615184"/>
            <a:ext cx="329184" cy="402336"/>
          </a:xfrm>
          <a:prstGeom prst="chevron">
            <a:avLst>
              <a:gd name="adj" fmla="val 22000"/>
            </a:avLst>
          </a:prstGeom>
          <a:solidFill>
            <a:srgbClr val="026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980944" y="1700784"/>
            <a:ext cx="1847088" cy="21579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19B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145536" y="1911095"/>
            <a:ext cx="502920" cy="283464"/>
          </a:xfrm>
          <a:prstGeom prst="roundRect">
            <a:avLst>
              <a:gd name="adj" fmla="val 8000"/>
            </a:avLst>
          </a:prstGeom>
          <a:solidFill>
            <a:srgbClr val="F4F7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145536" y="1911095"/>
            <a:ext cx="502920" cy="283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0" b="1">
                <a:solidFill>
                  <a:srgbClr val="19B7FF"/>
                </a:solidFill>
                <a:latin typeface="Noto Sans CJK SC"/>
              </a:rPr>
              <a:t>02</a:t>
            </a:r>
          </a:p>
        </p:txBody>
      </p:sp>
      <p:sp>
        <p:nvSpPr>
          <p:cNvPr id="17" name="Oval 16"/>
          <p:cNvSpPr/>
          <p:nvPr/>
        </p:nvSpPr>
        <p:spPr>
          <a:xfrm>
            <a:off x="3621024" y="2359152"/>
            <a:ext cx="566928" cy="566928"/>
          </a:xfrm>
          <a:prstGeom prst="ellipse">
            <a:avLst/>
          </a:prstGeom>
          <a:solidFill>
            <a:srgbClr val="19B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21024" y="2359152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Noto Sans CJK SC"/>
              </a:rPr>
              <a:t>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18103" y="3090672"/>
            <a:ext cx="157276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80" b="1">
                <a:solidFill>
                  <a:srgbClr val="262626"/>
                </a:solidFill>
                <a:latin typeface="Noto Sans CJK SC"/>
              </a:rPr>
              <a:t>Function Space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27248" y="3456432"/>
            <a:ext cx="155448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0">
                <a:solidFill>
                  <a:srgbClr val="727171"/>
                </a:solidFill>
                <a:latin typeface="Noto Sans CJK SC"/>
              </a:rPr>
              <a:t>P / Q / S
标量与向量场</a:t>
            </a:r>
          </a:p>
        </p:txBody>
      </p:sp>
      <p:sp>
        <p:nvSpPr>
          <p:cNvPr id="21" name="Chevron 20"/>
          <p:cNvSpPr/>
          <p:nvPr/>
        </p:nvSpPr>
        <p:spPr>
          <a:xfrm>
            <a:off x="4873752" y="2615184"/>
            <a:ext cx="329184" cy="402336"/>
          </a:xfrm>
          <a:prstGeom prst="chevron">
            <a:avLst>
              <a:gd name="adj" fmla="val 22000"/>
            </a:avLst>
          </a:prstGeom>
          <a:solidFill>
            <a:srgbClr val="026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138928" y="1700784"/>
            <a:ext cx="1847088" cy="21579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F689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303520" y="1911095"/>
            <a:ext cx="502920" cy="283464"/>
          </a:xfrm>
          <a:prstGeom prst="roundRect">
            <a:avLst>
              <a:gd name="adj" fmla="val 8000"/>
            </a:avLst>
          </a:prstGeom>
          <a:solidFill>
            <a:srgbClr val="F4F7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303520" y="1911095"/>
            <a:ext cx="502920" cy="283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0" b="1">
                <a:solidFill>
                  <a:srgbClr val="F68941"/>
                </a:solidFill>
                <a:latin typeface="Noto Sans CJK SC"/>
              </a:rPr>
              <a:t>03</a:t>
            </a:r>
          </a:p>
        </p:txBody>
      </p:sp>
      <p:sp>
        <p:nvSpPr>
          <p:cNvPr id="25" name="Oval 24"/>
          <p:cNvSpPr/>
          <p:nvPr/>
        </p:nvSpPr>
        <p:spPr>
          <a:xfrm>
            <a:off x="5779008" y="2359152"/>
            <a:ext cx="566928" cy="566928"/>
          </a:xfrm>
          <a:prstGeom prst="ellipse">
            <a:avLst/>
          </a:prstGeom>
          <a:solidFill>
            <a:srgbClr val="F68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779008" y="2359152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Noto Sans CJK SC"/>
              </a:rPr>
              <a:t>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76088" y="3090672"/>
            <a:ext cx="157276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262626"/>
                </a:solidFill>
                <a:latin typeface="Noto Sans CJK SC"/>
              </a:rPr>
              <a:t>Integrate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85232" y="3456432"/>
            <a:ext cx="155448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0">
                <a:solidFill>
                  <a:srgbClr val="727171"/>
                </a:solidFill>
                <a:latin typeface="Noto Sans CJK SC"/>
              </a:rPr>
              <a:t>线性 / 双线性形式
数值积分</a:t>
            </a:r>
          </a:p>
        </p:txBody>
      </p:sp>
      <p:sp>
        <p:nvSpPr>
          <p:cNvPr id="29" name="Chevron 28"/>
          <p:cNvSpPr/>
          <p:nvPr/>
        </p:nvSpPr>
        <p:spPr>
          <a:xfrm>
            <a:off x="7031736" y="2615184"/>
            <a:ext cx="329184" cy="402336"/>
          </a:xfrm>
          <a:prstGeom prst="chevron">
            <a:avLst>
              <a:gd name="adj" fmla="val 22000"/>
            </a:avLst>
          </a:prstGeom>
          <a:solidFill>
            <a:srgbClr val="026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296912" y="1700784"/>
            <a:ext cx="1847088" cy="21579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24C5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7461504" y="1911095"/>
            <a:ext cx="502920" cy="283464"/>
          </a:xfrm>
          <a:prstGeom prst="roundRect">
            <a:avLst>
              <a:gd name="adj" fmla="val 8000"/>
            </a:avLst>
          </a:prstGeom>
          <a:solidFill>
            <a:srgbClr val="F4F7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461504" y="1911095"/>
            <a:ext cx="502920" cy="283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0" b="1">
                <a:solidFill>
                  <a:srgbClr val="24C58D"/>
                </a:solidFill>
                <a:latin typeface="Noto Sans CJK SC"/>
              </a:rPr>
              <a:t>04</a:t>
            </a:r>
          </a:p>
        </p:txBody>
      </p:sp>
      <p:sp>
        <p:nvSpPr>
          <p:cNvPr id="33" name="Oval 32"/>
          <p:cNvSpPr/>
          <p:nvPr/>
        </p:nvSpPr>
        <p:spPr>
          <a:xfrm>
            <a:off x="7936992" y="2359152"/>
            <a:ext cx="566928" cy="566928"/>
          </a:xfrm>
          <a:prstGeom prst="ellipse">
            <a:avLst/>
          </a:prstGeom>
          <a:solidFill>
            <a:srgbClr val="24C5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936992" y="2359152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Noto Sans CJK SC"/>
              </a:rPr>
              <a:t>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34072" y="3090672"/>
            <a:ext cx="157276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262626"/>
                </a:solidFill>
                <a:latin typeface="Noto Sans CJK SC"/>
              </a:rPr>
              <a:t>Sparse System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43216" y="3456432"/>
            <a:ext cx="155448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0">
                <a:solidFill>
                  <a:srgbClr val="727171"/>
                </a:solidFill>
                <a:latin typeface="Noto Sans CJK SC"/>
              </a:rPr>
              <a:t>BSR 矩阵
边界条件</a:t>
            </a:r>
          </a:p>
        </p:txBody>
      </p:sp>
      <p:sp>
        <p:nvSpPr>
          <p:cNvPr id="37" name="Chevron 36"/>
          <p:cNvSpPr/>
          <p:nvPr/>
        </p:nvSpPr>
        <p:spPr>
          <a:xfrm>
            <a:off x="9189720" y="2615184"/>
            <a:ext cx="329184" cy="402336"/>
          </a:xfrm>
          <a:prstGeom prst="chevron">
            <a:avLst>
              <a:gd name="adj" fmla="val 22000"/>
            </a:avLst>
          </a:prstGeom>
          <a:solidFill>
            <a:srgbClr val="026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9454896" y="1700784"/>
            <a:ext cx="1847088" cy="21579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926D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9619488" y="1911095"/>
            <a:ext cx="502920" cy="283464"/>
          </a:xfrm>
          <a:prstGeom prst="roundRect">
            <a:avLst>
              <a:gd name="adj" fmla="val 8000"/>
            </a:avLst>
          </a:prstGeom>
          <a:solidFill>
            <a:srgbClr val="F4F7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619488" y="1911095"/>
            <a:ext cx="502920" cy="283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0" b="1">
                <a:solidFill>
                  <a:srgbClr val="926DE5"/>
                </a:solidFill>
                <a:latin typeface="Noto Sans CJK SC"/>
              </a:rPr>
              <a:t>05</a:t>
            </a:r>
          </a:p>
        </p:txBody>
      </p:sp>
      <p:sp>
        <p:nvSpPr>
          <p:cNvPr id="41" name="Oval 40"/>
          <p:cNvSpPr/>
          <p:nvPr/>
        </p:nvSpPr>
        <p:spPr>
          <a:xfrm>
            <a:off x="10094976" y="2359152"/>
            <a:ext cx="566928" cy="566928"/>
          </a:xfrm>
          <a:prstGeom prst="ellipse">
            <a:avLst/>
          </a:prstGeom>
          <a:solidFill>
            <a:srgbClr val="926D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094976" y="2359152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Noto Sans CJK SC"/>
              </a:rPr>
              <a:t>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592056" y="3090672"/>
            <a:ext cx="157276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262626"/>
                </a:solidFill>
                <a:latin typeface="Noto Sans CJK SC"/>
              </a:rPr>
              <a:t>Solve + Grad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01200" y="3456432"/>
            <a:ext cx="155448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0">
                <a:solidFill>
                  <a:srgbClr val="727171"/>
                </a:solidFill>
                <a:latin typeface="Noto Sans CJK SC"/>
              </a:rPr>
              <a:t>CG / 迭代求解
自动微分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22960" y="4187952"/>
            <a:ext cx="6876288" cy="1792224"/>
          </a:xfrm>
          <a:prstGeom prst="roundRect">
            <a:avLst>
              <a:gd name="adj" fmla="val 8000"/>
            </a:avLst>
          </a:prstGeom>
          <a:solidFill>
            <a:srgbClr val="F4F7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78992" y="4361688"/>
            <a:ext cx="630936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26BFF"/>
                </a:solidFill>
                <a:latin typeface="Noto Sans CJK SC"/>
              </a:rPr>
              <a:t>warp.fem 可直接覆盖的典型问题</a:t>
            </a:r>
          </a:p>
        </p:txBody>
      </p:sp>
      <p:sp>
        <p:nvSpPr>
          <p:cNvPr id="47" name="Oval 46"/>
          <p:cNvSpPr/>
          <p:nvPr/>
        </p:nvSpPr>
        <p:spPr>
          <a:xfrm>
            <a:off x="1078992" y="4937759"/>
            <a:ext cx="164592" cy="164592"/>
          </a:xfrm>
          <a:prstGeom prst="ellipse">
            <a:avLst/>
          </a:prstGeom>
          <a:solidFill>
            <a:srgbClr val="026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371600" y="4846320"/>
            <a:ext cx="105156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30" b="1">
                <a:solidFill>
                  <a:srgbClr val="262626"/>
                </a:solidFill>
                <a:latin typeface="Noto Sans CJK SC"/>
              </a:rPr>
              <a:t>扩散 / 对流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468880" y="4846320"/>
            <a:ext cx="141732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27171"/>
                </a:solidFill>
                <a:latin typeface="Noto Sans CJK SC"/>
              </a:rPr>
              <a:t>热传导与输运</a:t>
            </a:r>
          </a:p>
        </p:txBody>
      </p:sp>
      <p:sp>
        <p:nvSpPr>
          <p:cNvPr id="50" name="Oval 49"/>
          <p:cNvSpPr/>
          <p:nvPr/>
        </p:nvSpPr>
        <p:spPr>
          <a:xfrm>
            <a:off x="4206240" y="4937759"/>
            <a:ext cx="164592" cy="164592"/>
          </a:xfrm>
          <a:prstGeom prst="ellipse">
            <a:avLst/>
          </a:prstGeom>
          <a:solidFill>
            <a:srgbClr val="24C5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498848" y="4846320"/>
            <a:ext cx="105156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30" b="1">
                <a:solidFill>
                  <a:srgbClr val="262626"/>
                </a:solidFill>
                <a:latin typeface="Noto Sans CJK SC"/>
              </a:rPr>
              <a:t>弹性力学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596127" y="4846320"/>
            <a:ext cx="141732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27171"/>
                </a:solidFill>
                <a:latin typeface="Noto Sans CJK SC"/>
              </a:rPr>
              <a:t>应力、应变、变形</a:t>
            </a:r>
          </a:p>
        </p:txBody>
      </p:sp>
      <p:sp>
        <p:nvSpPr>
          <p:cNvPr id="53" name="Oval 52"/>
          <p:cNvSpPr/>
          <p:nvPr/>
        </p:nvSpPr>
        <p:spPr>
          <a:xfrm>
            <a:off x="1078992" y="5413248"/>
            <a:ext cx="164592" cy="164592"/>
          </a:xfrm>
          <a:prstGeom prst="ellipse">
            <a:avLst/>
          </a:prstGeom>
          <a:solidFill>
            <a:srgbClr val="F68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371600" y="5321808"/>
            <a:ext cx="105156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30" b="1">
                <a:solidFill>
                  <a:srgbClr val="262626"/>
                </a:solidFill>
                <a:latin typeface="Noto Sans CJK SC"/>
              </a:rPr>
              <a:t>接触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468880" y="5321808"/>
            <a:ext cx="141732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27171"/>
                </a:solidFill>
                <a:latin typeface="Noto Sans CJK SC"/>
              </a:rPr>
              <a:t>非匹配网格接触</a:t>
            </a:r>
          </a:p>
        </p:txBody>
      </p:sp>
      <p:sp>
        <p:nvSpPr>
          <p:cNvPr id="56" name="Oval 55"/>
          <p:cNvSpPr/>
          <p:nvPr/>
        </p:nvSpPr>
        <p:spPr>
          <a:xfrm>
            <a:off x="4206240" y="5413248"/>
            <a:ext cx="164592" cy="164592"/>
          </a:xfrm>
          <a:prstGeom prst="ellipse">
            <a:avLst/>
          </a:prstGeom>
          <a:solidFill>
            <a:srgbClr val="926D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498848" y="5321808"/>
            <a:ext cx="105156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30" b="1">
                <a:solidFill>
                  <a:srgbClr val="262626"/>
                </a:solidFill>
                <a:latin typeface="Noto Sans CJK SC"/>
              </a:rPr>
              <a:t>优化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596127" y="5321808"/>
            <a:ext cx="141732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27171"/>
                </a:solidFill>
                <a:latin typeface="Noto Sans CJK SC"/>
              </a:rPr>
              <a:t>弹性体形状优化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7973568" y="4187952"/>
            <a:ext cx="3364992" cy="1792224"/>
          </a:xfrm>
          <a:prstGeom prst="roundRect">
            <a:avLst>
              <a:gd name="adj" fmla="val 8000"/>
            </a:avLst>
          </a:prstGeom>
          <a:solidFill>
            <a:srgbClr val="0A2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229600" y="4379976"/>
            <a:ext cx="28346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9B7FF"/>
                </a:solidFill>
                <a:latin typeface="Noto Sans CJK SC"/>
              </a:rPr>
              <a:t>机器人结构应用</a:t>
            </a:r>
          </a:p>
        </p:txBody>
      </p:sp>
      <p:sp>
        <p:nvSpPr>
          <p:cNvPr id="61" name="Oval 60"/>
          <p:cNvSpPr/>
          <p:nvPr/>
        </p:nvSpPr>
        <p:spPr>
          <a:xfrm>
            <a:off x="8302752" y="4834249"/>
            <a:ext cx="100584" cy="100584"/>
          </a:xfrm>
          <a:prstGeom prst="ellipse">
            <a:avLst/>
          </a:prstGeom>
          <a:solidFill>
            <a:srgbClr val="19B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531352" y="4773168"/>
            <a:ext cx="2350008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FFFFFF"/>
                </a:solidFill>
                <a:latin typeface="Noto Sans CJK SC"/>
              </a:rPr>
              <a:t>连杆与末端刚度</a:t>
            </a:r>
          </a:p>
        </p:txBody>
      </p:sp>
      <p:sp>
        <p:nvSpPr>
          <p:cNvPr id="63" name="Oval 62"/>
          <p:cNvSpPr/>
          <p:nvPr/>
        </p:nvSpPr>
        <p:spPr>
          <a:xfrm>
            <a:off x="8302752" y="5099425"/>
            <a:ext cx="100584" cy="100584"/>
          </a:xfrm>
          <a:prstGeom prst="ellipse">
            <a:avLst/>
          </a:prstGeom>
          <a:solidFill>
            <a:srgbClr val="19B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531352" y="5038344"/>
            <a:ext cx="2350008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FFFFFF"/>
                </a:solidFill>
                <a:latin typeface="Noto Sans CJK SC"/>
              </a:rPr>
              <a:t>减速机壳体应力</a:t>
            </a:r>
          </a:p>
        </p:txBody>
      </p:sp>
      <p:sp>
        <p:nvSpPr>
          <p:cNvPr id="65" name="Oval 64"/>
          <p:cNvSpPr/>
          <p:nvPr/>
        </p:nvSpPr>
        <p:spPr>
          <a:xfrm>
            <a:off x="8302752" y="5364601"/>
            <a:ext cx="100584" cy="100584"/>
          </a:xfrm>
          <a:prstGeom prst="ellipse">
            <a:avLst/>
          </a:prstGeom>
          <a:solidFill>
            <a:srgbClr val="19B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531352" y="5303520"/>
            <a:ext cx="2350008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FFFFFF"/>
                </a:solidFill>
                <a:latin typeface="Noto Sans CJK SC"/>
              </a:rPr>
              <a:t>热—结构耦合变形</a:t>
            </a:r>
          </a:p>
        </p:txBody>
      </p:sp>
      <p:sp>
        <p:nvSpPr>
          <p:cNvPr id="67" name="Oval 66"/>
          <p:cNvSpPr/>
          <p:nvPr/>
        </p:nvSpPr>
        <p:spPr>
          <a:xfrm>
            <a:off x="8302752" y="5629777"/>
            <a:ext cx="100584" cy="100584"/>
          </a:xfrm>
          <a:prstGeom prst="ellipse">
            <a:avLst/>
          </a:prstGeom>
          <a:solidFill>
            <a:srgbClr val="19B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531352" y="5568696"/>
            <a:ext cx="2350008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FFFFFF"/>
                </a:solidFill>
                <a:latin typeface="Noto Sans CJK SC"/>
              </a:rPr>
              <a:t>轻量化 / 逆向设计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22960" y="6199632"/>
            <a:ext cx="1051560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>
                <a:solidFill>
                  <a:srgbClr val="8B95A5"/>
                </a:solidFill>
                <a:latin typeface="Noto Sans CJK SC"/>
              </a:rPr>
              <a:t>依据 NVIDIA Warp 文档：warp.fem 支持 PDE 的 Galerkin 离散、网格/函数空间、形式积分、稀疏系统与迭代求解。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22960" y="6510528"/>
            <a:ext cx="3657600" cy="164592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9AA4B5"/>
                </a:solidFill>
                <a:latin typeface="Noto Sans CJK SC"/>
              </a:rPr>
              <a:t>MJLAB / PHYSICS BACKEND REVIEW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881360" y="6473952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9AA4B5"/>
                </a:solidFill>
                <a:latin typeface="Noto Sans CJK SC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566928"/>
            <a:ext cx="566928" cy="566928"/>
          </a:xfrm>
          <a:prstGeom prst="rect">
            <a:avLst/>
          </a:prstGeom>
          <a:solidFill>
            <a:srgbClr val="026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Noto Sans CJK SC"/>
              </a:rPr>
              <a:t>A6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36192" y="548640"/>
            <a:ext cx="960120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26BFF"/>
                </a:solidFill>
                <a:latin typeface="Noto Sans CJK SC"/>
              </a:rPr>
              <a:t>APPENDIX  / FLUID DYNAMICS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17904" y="832104"/>
            <a:ext cx="982980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262626"/>
                </a:solidFill>
                <a:latin typeface="Noto Sans CJK SC"/>
              </a:rPr>
              <a:t>流体动力学：从 Navier–Stokes 到粒子—网格耦合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682496"/>
            <a:ext cx="3154680" cy="4315968"/>
          </a:xfrm>
          <a:prstGeom prst="roundRect">
            <a:avLst>
              <a:gd name="adj" fmla="val 8000"/>
            </a:avLst>
          </a:prstGeom>
          <a:solidFill>
            <a:srgbClr val="0A2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984248"/>
            <a:ext cx="288036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Noto Sans Mono CJK SC"/>
              </a:rPr>
              <a:t>ρ(∂u/∂t + u·∇u)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514600"/>
            <a:ext cx="288036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9B7FF"/>
                </a:solidFill>
                <a:latin typeface="Noto Sans Mono CJK SC"/>
              </a:rPr>
              <a:t>= −∇p + μ∇²u + f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261872" y="3209544"/>
            <a:ext cx="2276856" cy="0"/>
          </a:xfrm>
          <a:prstGeom prst="line">
            <a:avLst/>
          </a:prstGeom>
          <a:ln w="12700">
            <a:solidFill>
              <a:srgbClr val="2A41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005840" y="3383280"/>
            <a:ext cx="27889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Noto Sans Mono CJK SC"/>
              </a:rPr>
              <a:t>∇·u = 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" y="3950208"/>
            <a:ext cx="25603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9B7FF"/>
                </a:solidFill>
                <a:latin typeface="Noto Sans CJK SC"/>
              </a:rPr>
              <a:t>Warp 加速环节</a:t>
            </a:r>
          </a:p>
        </p:txBody>
      </p:sp>
      <p:sp>
        <p:nvSpPr>
          <p:cNvPr id="12" name="Oval 11"/>
          <p:cNvSpPr/>
          <p:nvPr/>
        </p:nvSpPr>
        <p:spPr>
          <a:xfrm>
            <a:off x="1280160" y="4465015"/>
            <a:ext cx="100584" cy="100584"/>
          </a:xfrm>
          <a:prstGeom prst="ellipse">
            <a:avLst/>
          </a:prstGeom>
          <a:solidFill>
            <a:srgbClr val="19B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508760" y="4361688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4CFE6"/>
                </a:solidFill>
                <a:latin typeface="Noto Sans CJK SC"/>
              </a:rPr>
              <a:t>对流与扩散更新</a:t>
            </a:r>
          </a:p>
        </p:txBody>
      </p:sp>
      <p:sp>
        <p:nvSpPr>
          <p:cNvPr id="14" name="Oval 13"/>
          <p:cNvSpPr/>
          <p:nvPr/>
        </p:nvSpPr>
        <p:spPr>
          <a:xfrm>
            <a:off x="1280160" y="4830775"/>
            <a:ext cx="100584" cy="100584"/>
          </a:xfrm>
          <a:prstGeom prst="ellipse">
            <a:avLst/>
          </a:prstGeom>
          <a:solidFill>
            <a:srgbClr val="19B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508760" y="4727448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4CFE6"/>
                </a:solidFill>
                <a:latin typeface="Noto Sans CJK SC"/>
              </a:rPr>
              <a:t>压力投影 / 稀疏求解</a:t>
            </a:r>
          </a:p>
        </p:txBody>
      </p:sp>
      <p:sp>
        <p:nvSpPr>
          <p:cNvPr id="16" name="Oval 15"/>
          <p:cNvSpPr/>
          <p:nvPr/>
        </p:nvSpPr>
        <p:spPr>
          <a:xfrm>
            <a:off x="1280160" y="5196535"/>
            <a:ext cx="100584" cy="100584"/>
          </a:xfrm>
          <a:prstGeom prst="ellipse">
            <a:avLst/>
          </a:prstGeom>
          <a:solidFill>
            <a:srgbClr val="19B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508760" y="5093207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4CFE6"/>
                </a:solidFill>
                <a:latin typeface="Noto Sans CJK SC"/>
              </a:rPr>
              <a:t>粒子—网格传输</a:t>
            </a:r>
          </a:p>
        </p:txBody>
      </p:sp>
      <p:sp>
        <p:nvSpPr>
          <p:cNvPr id="18" name="Oval 17"/>
          <p:cNvSpPr/>
          <p:nvPr/>
        </p:nvSpPr>
        <p:spPr>
          <a:xfrm>
            <a:off x="1280160" y="5562295"/>
            <a:ext cx="100584" cy="100584"/>
          </a:xfrm>
          <a:prstGeom prst="ellipse">
            <a:avLst/>
          </a:prstGeom>
          <a:solidFill>
            <a:srgbClr val="19B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508760" y="5458968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4CFE6"/>
                </a:solidFill>
                <a:latin typeface="Noto Sans CJK SC"/>
              </a:rPr>
              <a:t>批量场景与梯度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97680" y="1682496"/>
            <a:ext cx="704088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26280" y="1911095"/>
            <a:ext cx="566928" cy="566928"/>
          </a:xfrm>
          <a:prstGeom prst="rect">
            <a:avLst/>
          </a:prstGeom>
          <a:solidFill>
            <a:srgbClr val="026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26280" y="1911095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Noto Sans CJK SC"/>
              </a:rPr>
              <a:t>01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30952" y="1801368"/>
            <a:ext cx="20574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262626"/>
                </a:solidFill>
                <a:latin typeface="Noto Sans CJK SC"/>
              </a:rPr>
              <a:t>warp.fem 路径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30952" y="2148840"/>
            <a:ext cx="2240280" cy="4480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727171"/>
                </a:solidFill>
                <a:latin typeface="Noto Sans CJK SC"/>
              </a:rPr>
              <a:t>Stokes / Navier–Stokes
速度—压力混合空间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882127" y="1883664"/>
            <a:ext cx="3136392" cy="658368"/>
          </a:xfrm>
          <a:prstGeom prst="roundRect">
            <a:avLst>
              <a:gd name="adj" fmla="val 8000"/>
            </a:avLst>
          </a:prstGeom>
          <a:solidFill>
            <a:srgbClr val="EA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10144" y="1883664"/>
            <a:ext cx="28803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40" b="1">
                <a:solidFill>
                  <a:srgbClr val="026BFF"/>
                </a:solidFill>
                <a:latin typeface="Noto Sans CJK SC"/>
              </a:rPr>
              <a:t>规则或非结构网格 · 稀疏线性系统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297680" y="2907792"/>
            <a:ext cx="704088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526280" y="3136392"/>
            <a:ext cx="566928" cy="566928"/>
          </a:xfrm>
          <a:prstGeom prst="rect">
            <a:avLst/>
          </a:prstGeom>
          <a:solidFill>
            <a:srgbClr val="24C5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26280" y="3136392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Noto Sans CJK SC"/>
              </a:rPr>
              <a:t>02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30952" y="3026664"/>
            <a:ext cx="20574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262626"/>
                </a:solidFill>
                <a:latin typeface="Noto Sans CJK SC"/>
              </a:rPr>
              <a:t>APIC / 粒子—网格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30952" y="3374136"/>
            <a:ext cx="2240280" cy="4480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727171"/>
                </a:solidFill>
                <a:latin typeface="Noto Sans CJK SC"/>
              </a:rPr>
              <a:t>粒子携带状态
网格完成力与压力更新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882127" y="3108960"/>
            <a:ext cx="3136392" cy="658368"/>
          </a:xfrm>
          <a:prstGeom prst="roundRect">
            <a:avLst>
              <a:gd name="adj" fmla="val 8000"/>
            </a:avLst>
          </a:prstGeom>
          <a:solidFill>
            <a:srgbClr val="E7F8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010144" y="3108960"/>
            <a:ext cx="28803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40" b="1">
                <a:solidFill>
                  <a:srgbClr val="24C58D"/>
                </a:solidFill>
                <a:latin typeface="Noto Sans CJK SC"/>
              </a:rPr>
              <a:t>适合大变形、自由表面和运动界面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297680" y="4133088"/>
            <a:ext cx="704088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526280" y="4361688"/>
            <a:ext cx="566928" cy="566928"/>
          </a:xfrm>
          <a:prstGeom prst="rect">
            <a:avLst/>
          </a:prstGeom>
          <a:solidFill>
            <a:srgbClr val="926D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26280" y="4361688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Noto Sans CJK SC"/>
              </a:rPr>
              <a:t>03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330952" y="4251960"/>
            <a:ext cx="20574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262626"/>
                </a:solidFill>
                <a:latin typeface="Noto Sans CJK SC"/>
              </a:rPr>
              <a:t>自定义 GPU Kernel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330952" y="4599432"/>
            <a:ext cx="2240280" cy="4480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727171"/>
                </a:solidFill>
                <a:latin typeface="Noto Sans CJK SC"/>
              </a:rPr>
              <a:t>SPH / 邻域查询
通量、源项与边界更新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882127" y="4334256"/>
            <a:ext cx="3136392" cy="658368"/>
          </a:xfrm>
          <a:prstGeom prst="roundRect">
            <a:avLst>
              <a:gd name="adj" fmla="val 8000"/>
            </a:avLst>
          </a:prstGeom>
          <a:solidFill>
            <a:srgbClr val="F2ED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010144" y="4334256"/>
            <a:ext cx="28803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40" b="1">
                <a:solidFill>
                  <a:srgbClr val="926DE5"/>
                </a:solidFill>
                <a:latin typeface="Noto Sans CJK SC"/>
              </a:rPr>
              <a:t>适合高度并行的专用流体模型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297680" y="5440680"/>
            <a:ext cx="7040880" cy="557784"/>
          </a:xfrm>
          <a:prstGeom prst="roundRect">
            <a:avLst>
              <a:gd name="adj" fmla="val 8000"/>
            </a:avLst>
          </a:prstGeom>
          <a:solidFill>
            <a:srgbClr val="FDE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4535424" y="5568696"/>
            <a:ext cx="292608" cy="292608"/>
          </a:xfrm>
          <a:prstGeom prst="ellipse">
            <a:avLst/>
          </a:prstGeom>
          <a:solidFill>
            <a:srgbClr val="F68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35424" y="5568696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>
                <a:solidFill>
                  <a:srgbClr val="FFFFFF"/>
                </a:solidFill>
                <a:latin typeface="Noto Sans CJK SC"/>
              </a:rPr>
              <a:t>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937760" y="544068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80" b="1">
                <a:solidFill>
                  <a:srgbClr val="262626"/>
                </a:solidFill>
                <a:latin typeface="Noto Sans CJK SC"/>
              </a:rPr>
              <a:t>熔池流动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705856" y="5440680"/>
            <a:ext cx="85039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30" b="0">
                <a:solidFill>
                  <a:srgbClr val="727171"/>
                </a:solidFill>
                <a:latin typeface="Noto Sans CJK SC"/>
              </a:rPr>
              <a:t>表面张力 / 浮力</a:t>
            </a:r>
          </a:p>
        </p:txBody>
      </p:sp>
      <p:sp>
        <p:nvSpPr>
          <p:cNvPr id="46" name="Oval 45"/>
          <p:cNvSpPr/>
          <p:nvPr/>
        </p:nvSpPr>
        <p:spPr>
          <a:xfrm>
            <a:off x="6748272" y="5568696"/>
            <a:ext cx="292608" cy="292608"/>
          </a:xfrm>
          <a:prstGeom prst="ellipse">
            <a:avLst/>
          </a:prstGeom>
          <a:solidFill>
            <a:srgbClr val="F68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748272" y="5568696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>
                <a:solidFill>
                  <a:srgbClr val="FFFFFF"/>
                </a:solidFill>
                <a:latin typeface="Noto Sans CJK SC"/>
              </a:rPr>
              <a:t>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150608" y="544068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80" b="1">
                <a:solidFill>
                  <a:srgbClr val="262626"/>
                </a:solidFill>
                <a:latin typeface="Noto Sans CJK SC"/>
              </a:rPr>
              <a:t>保护气体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918704" y="5440680"/>
            <a:ext cx="85039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30" b="0">
                <a:solidFill>
                  <a:srgbClr val="727171"/>
                </a:solidFill>
                <a:latin typeface="Noto Sans CJK SC"/>
              </a:rPr>
              <a:t>喷流 / 卷吸</a:t>
            </a:r>
          </a:p>
        </p:txBody>
      </p:sp>
      <p:sp>
        <p:nvSpPr>
          <p:cNvPr id="50" name="Oval 49"/>
          <p:cNvSpPr/>
          <p:nvPr/>
        </p:nvSpPr>
        <p:spPr>
          <a:xfrm>
            <a:off x="8961120" y="5568696"/>
            <a:ext cx="292608" cy="292608"/>
          </a:xfrm>
          <a:prstGeom prst="ellipse">
            <a:avLst/>
          </a:prstGeom>
          <a:solidFill>
            <a:srgbClr val="F689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961120" y="5568696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>
                <a:solidFill>
                  <a:srgbClr val="FFFFFF"/>
                </a:solidFill>
                <a:latin typeface="Noto Sans CJK SC"/>
              </a:rPr>
              <a:t>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363456" y="544068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80" b="1">
                <a:solidFill>
                  <a:srgbClr val="262626"/>
                </a:solidFill>
                <a:latin typeface="Noto Sans CJK SC"/>
              </a:rPr>
              <a:t>热—流耦合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131552" y="5440680"/>
            <a:ext cx="85039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30" b="0">
                <a:solidFill>
                  <a:srgbClr val="727171"/>
                </a:solidFill>
                <a:latin typeface="Noto Sans CJK SC"/>
              </a:rPr>
              <a:t>温度—黏度—流速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22960" y="6199632"/>
            <a:ext cx="1051560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>
                <a:solidFill>
                  <a:srgbClr val="8B95A5"/>
                </a:solidFill>
                <a:latin typeface="Noto Sans CJK SC"/>
              </a:rPr>
              <a:t>依据 NVIDIA Warp 文档：warp.fem 提供 Stokes、Navier–Stokes 与 APIC 示例；湍流、多相与熔池自由表面模型需专项验证。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22960" y="6510528"/>
            <a:ext cx="3657600" cy="164592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9AA4B5"/>
                </a:solidFill>
                <a:latin typeface="Noto Sans CJK SC"/>
              </a:rPr>
              <a:t>MJLAB / PHYSICS BACKEND REVIEW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881360" y="6473952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9AA4B5"/>
                </a:solidFill>
                <a:latin typeface="Noto Sans CJK SC"/>
              </a:rPr>
              <a:t>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MJWarp · MJX · PhysX：机器人仿真后端对比、平台应用与 MjLab 选型建议</dc:title>
  <dc:subject>基于 MJ Warp, MJX, Physx.md，使用指定 NVIDIA 模板制作</dc:subject>
  <dc:creator>OpenAI Codex</dc:creator>
  <cp:lastModifiedBy>PptxGenJS</cp:lastModifiedBy>
  <cp:revision>1</cp:revision>
  <dcterms:created xsi:type="dcterms:W3CDTF">2026-07-09T05:57:41Z</dcterms:created>
  <dcterms:modified xsi:type="dcterms:W3CDTF">2026-07-09T05:57:41Z</dcterms:modified>
  <cp:keywords>MJWarp, MJX, PhysX, MuJoCo, robotics, simulation, MjLab</cp:keywords>
  <dc:description>All claims and recommendations are synthesized from the supplied Markdown source.</dc:description>
</cp:coreProperties>
</file>